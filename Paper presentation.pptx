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1" r:id="rId1"/>
  </p:sldMasterIdLst>
  <p:notesMasterIdLst>
    <p:notesMasterId r:id="rId22"/>
  </p:notesMasterIdLst>
  <p:sldIdLst>
    <p:sldId id="256" r:id="rId2"/>
    <p:sldId id="257" r:id="rId3"/>
    <p:sldId id="349" r:id="rId4"/>
    <p:sldId id="340" r:id="rId5"/>
    <p:sldId id="350" r:id="rId6"/>
    <p:sldId id="336" r:id="rId7"/>
    <p:sldId id="341" r:id="rId8"/>
    <p:sldId id="343" r:id="rId9"/>
    <p:sldId id="337" r:id="rId10"/>
    <p:sldId id="344" r:id="rId11"/>
    <p:sldId id="346" r:id="rId12"/>
    <p:sldId id="345" r:id="rId13"/>
    <p:sldId id="347" r:id="rId14"/>
    <p:sldId id="348" r:id="rId15"/>
    <p:sldId id="342" r:id="rId16"/>
    <p:sldId id="338" r:id="rId17"/>
    <p:sldId id="333" r:id="rId18"/>
    <p:sldId id="323" r:id="rId19"/>
    <p:sldId id="351" r:id="rId20"/>
    <p:sldId id="260" r:id="rId21"/>
  </p:sldIdLst>
  <p:sldSz cx="9144000" cy="5143500" type="screen16x9"/>
  <p:notesSz cx="6858000" cy="9144000"/>
  <p:embeddedFontLst>
    <p:embeddedFont>
      <p:font typeface="IBM Plex Sans" panose="020B0503050203000203" pitchFamily="34" charset="0"/>
      <p:regular r:id="rId23"/>
      <p:bold r:id="rId24"/>
      <p:italic r:id="rId25"/>
      <p:boldItalic r:id="rId26"/>
    </p:embeddedFont>
    <p:embeddedFont>
      <p:font typeface="IBM Plex Sans Light" panose="020B0403050203000203" pitchFamily="34" charset="0"/>
      <p:regular r:id="rId27"/>
      <p:bold r:id="rId28"/>
      <p:italic r:id="rId29"/>
      <p:boldItalic r:id="rId30"/>
    </p:embeddedFont>
    <p:embeddedFont>
      <p:font typeface="Merriweather" panose="00000500000000000000" pitchFamily="2" charset="0"/>
      <p:regular r:id="rId31"/>
      <p:bold r:id="rId32"/>
      <p:italic r:id="rId33"/>
      <p:boldItalic r:id="rId34"/>
    </p:embeddedFont>
    <p:embeddedFont>
      <p:font typeface="Times" panose="02020603050405020304"/>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E7E2"/>
    <a:srgbClr val="7C5E6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D84D997-8D4E-4861-8B80-C6579219E408}">
  <a:tblStyle styleId="{AD84D997-8D4E-4861-8B80-C6579219E408}"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3898" autoAdjust="0"/>
  </p:normalViewPr>
  <p:slideViewPr>
    <p:cSldViewPr>
      <p:cViewPr varScale="1">
        <p:scale>
          <a:sx n="115" d="100"/>
          <a:sy n="115" d="100"/>
        </p:scale>
        <p:origin x="293" y="82"/>
      </p:cViewPr>
      <p:guideLst>
        <p:guide orient="horz" pos="1620"/>
        <p:guide pos="2880"/>
      </p:guideLst>
    </p:cSldViewPr>
  </p:slideViewPr>
  <p:notesTextViewPr>
    <p:cViewPr>
      <p:scale>
        <a:sx n="66" d="100"/>
        <a:sy n="66"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12.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font" Target="fonts/font15.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font" Target="fonts/font1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400958204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875397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35f391192_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35f391192_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p:nvPr/>
        </p:nvSpPr>
        <p:spPr>
          <a:xfrm>
            <a:off x="0" y="-12200"/>
            <a:ext cx="6041075" cy="5166925"/>
          </a:xfrm>
          <a:custGeom>
            <a:avLst/>
            <a:gdLst/>
            <a:ahLst/>
            <a:cxnLst/>
            <a:rect l="l" t="t" r="r" b="b"/>
            <a:pathLst>
              <a:path w="241643" h="206677" extrusionOk="0">
                <a:moveTo>
                  <a:pt x="126321" y="206677"/>
                </a:moveTo>
                <a:lnTo>
                  <a:pt x="241643" y="0"/>
                </a:lnTo>
                <a:lnTo>
                  <a:pt x="0" y="0"/>
                </a:lnTo>
                <a:lnTo>
                  <a:pt x="0" y="206677"/>
                </a:lnTo>
                <a:close/>
              </a:path>
            </a:pathLst>
          </a:custGeom>
          <a:solidFill>
            <a:schemeClr val="lt1"/>
          </a:solidFill>
          <a:ln>
            <a:noFill/>
          </a:ln>
        </p:spPr>
      </p:sp>
      <p:sp>
        <p:nvSpPr>
          <p:cNvPr id="11" name="Google Shape;11;p2"/>
          <p:cNvSpPr/>
          <p:nvPr/>
        </p:nvSpPr>
        <p:spPr>
          <a:xfrm>
            <a:off x="2518391" y="1589650"/>
            <a:ext cx="3331800" cy="3553800"/>
          </a:xfrm>
          <a:prstGeom prst="parallelogram">
            <a:avLst>
              <a:gd name="adj" fmla="val 59001"/>
            </a:avLst>
          </a:prstGeom>
          <a:gradFill>
            <a:gsLst>
              <a:gs pos="0">
                <a:schemeClr val="accen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2701476" y="0"/>
            <a:ext cx="3331800" cy="3553800"/>
          </a:xfrm>
          <a:prstGeom prst="parallelogram">
            <a:avLst>
              <a:gd name="adj" fmla="val 59001"/>
            </a:avLst>
          </a:prstGeom>
          <a:gradFill>
            <a:gsLst>
              <a:gs pos="0">
                <a:schemeClr val="accent1"/>
              </a:gs>
              <a:gs pos="100000">
                <a:srgbClr val="02C1D3">
                  <a:alpha val="33725"/>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txBox="1">
            <a:spLocks noGrp="1"/>
          </p:cNvSpPr>
          <p:nvPr>
            <p:ph type="ctrTitle"/>
          </p:nvPr>
        </p:nvSpPr>
        <p:spPr>
          <a:xfrm>
            <a:off x="685800" y="696425"/>
            <a:ext cx="4466100" cy="2857500"/>
          </a:xfrm>
          <a:prstGeom prst="rect">
            <a:avLst/>
          </a:prstGeom>
        </p:spPr>
        <p:txBody>
          <a:bodyPr spcFirstLastPara="1" wrap="square" lIns="0" tIns="0" rIns="0" bIns="0" anchor="t" anchorCtr="0">
            <a:noAutofit/>
          </a:bodyPr>
          <a:lstStyle>
            <a:lvl1pPr lvl="0" rtl="0">
              <a:lnSpc>
                <a:spcPct val="100000"/>
              </a:lnSpc>
              <a:spcBef>
                <a:spcPts val="0"/>
              </a:spcBef>
              <a:spcAft>
                <a:spcPts val="0"/>
              </a:spcAft>
              <a:buSzPts val="4800"/>
              <a:buNone/>
              <a:defRPr sz="4800"/>
            </a:lvl1pPr>
            <a:lvl2pPr lvl="1" rtl="0">
              <a:lnSpc>
                <a:spcPct val="100000"/>
              </a:lnSpc>
              <a:spcBef>
                <a:spcPts val="0"/>
              </a:spcBef>
              <a:spcAft>
                <a:spcPts val="0"/>
              </a:spcAft>
              <a:buSzPts val="4800"/>
              <a:buNone/>
              <a:defRPr sz="4800"/>
            </a:lvl2pPr>
            <a:lvl3pPr lvl="2" rtl="0">
              <a:lnSpc>
                <a:spcPct val="100000"/>
              </a:lnSpc>
              <a:spcBef>
                <a:spcPts val="0"/>
              </a:spcBef>
              <a:spcAft>
                <a:spcPts val="0"/>
              </a:spcAft>
              <a:buSzPts val="4800"/>
              <a:buNone/>
              <a:defRPr sz="4800"/>
            </a:lvl3pPr>
            <a:lvl4pPr lvl="3" rtl="0">
              <a:lnSpc>
                <a:spcPct val="100000"/>
              </a:lnSpc>
              <a:spcBef>
                <a:spcPts val="0"/>
              </a:spcBef>
              <a:spcAft>
                <a:spcPts val="0"/>
              </a:spcAft>
              <a:buSzPts val="4800"/>
              <a:buNone/>
              <a:defRPr sz="4800"/>
            </a:lvl4pPr>
            <a:lvl5pPr lvl="4" rtl="0">
              <a:lnSpc>
                <a:spcPct val="100000"/>
              </a:lnSpc>
              <a:spcBef>
                <a:spcPts val="0"/>
              </a:spcBef>
              <a:spcAft>
                <a:spcPts val="0"/>
              </a:spcAft>
              <a:buSzPts val="4800"/>
              <a:buNone/>
              <a:defRPr sz="4800"/>
            </a:lvl5pPr>
            <a:lvl6pPr lvl="5" rtl="0">
              <a:lnSpc>
                <a:spcPct val="100000"/>
              </a:lnSpc>
              <a:spcBef>
                <a:spcPts val="0"/>
              </a:spcBef>
              <a:spcAft>
                <a:spcPts val="0"/>
              </a:spcAft>
              <a:buSzPts val="4800"/>
              <a:buNone/>
              <a:defRPr sz="4800"/>
            </a:lvl6pPr>
            <a:lvl7pPr lvl="6" rtl="0">
              <a:lnSpc>
                <a:spcPct val="100000"/>
              </a:lnSpc>
              <a:spcBef>
                <a:spcPts val="0"/>
              </a:spcBef>
              <a:spcAft>
                <a:spcPts val="0"/>
              </a:spcAft>
              <a:buSzPts val="4800"/>
              <a:buNone/>
              <a:defRPr sz="4800"/>
            </a:lvl7pPr>
            <a:lvl8pPr lvl="7" rtl="0">
              <a:lnSpc>
                <a:spcPct val="100000"/>
              </a:lnSpc>
              <a:spcBef>
                <a:spcPts val="0"/>
              </a:spcBef>
              <a:spcAft>
                <a:spcPts val="0"/>
              </a:spcAft>
              <a:buSzPts val="4800"/>
              <a:buNone/>
              <a:defRPr sz="4800"/>
            </a:lvl8pPr>
            <a:lvl9pPr lvl="8" rtl="0">
              <a:lnSpc>
                <a:spcPct val="100000"/>
              </a:lnSpc>
              <a:spcBef>
                <a:spcPts val="0"/>
              </a:spcBef>
              <a:spcAft>
                <a:spcPts val="0"/>
              </a:spcAft>
              <a:buSzPts val="4800"/>
              <a:buNone/>
              <a:defRPr sz="4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Quote">
  <p:cSld name="TITLE_1_1">
    <p:spTree>
      <p:nvGrpSpPr>
        <p:cNvPr id="1" name="Shape 25"/>
        <p:cNvGrpSpPr/>
        <p:nvPr/>
      </p:nvGrpSpPr>
      <p:grpSpPr>
        <a:xfrm>
          <a:off x="0" y="0"/>
          <a:ext cx="0" cy="0"/>
          <a:chOff x="0" y="0"/>
          <a:chExt cx="0" cy="0"/>
        </a:xfrm>
      </p:grpSpPr>
      <p:sp>
        <p:nvSpPr>
          <p:cNvPr id="26" name="Google Shape;26;p4"/>
          <p:cNvSpPr/>
          <p:nvPr/>
        </p:nvSpPr>
        <p:spPr>
          <a:xfrm>
            <a:off x="0" y="-50"/>
            <a:ext cx="9144000" cy="5143500"/>
          </a:xfrm>
          <a:prstGeom prst="parallelogram">
            <a:avLst>
              <a:gd name="adj" fmla="val 55588"/>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txBox="1">
            <a:spLocks noGrp="1"/>
          </p:cNvSpPr>
          <p:nvPr>
            <p:ph type="body" idx="1"/>
          </p:nvPr>
        </p:nvSpPr>
        <p:spPr>
          <a:xfrm>
            <a:off x="2746950" y="1037200"/>
            <a:ext cx="3650100" cy="3069000"/>
          </a:xfrm>
          <a:prstGeom prst="rect">
            <a:avLst/>
          </a:prstGeom>
        </p:spPr>
        <p:txBody>
          <a:bodyPr spcFirstLastPara="1" wrap="square" lIns="0" tIns="0" rIns="0" bIns="0" anchor="ctr" anchorCtr="0">
            <a:noAutofit/>
          </a:bodyPr>
          <a:lstStyle>
            <a:lvl1pPr marL="457200" lvl="0" indent="-381000" algn="ctr" rtl="0">
              <a:spcBef>
                <a:spcPts val="600"/>
              </a:spcBef>
              <a:spcAft>
                <a:spcPts val="0"/>
              </a:spcAft>
              <a:buClr>
                <a:schemeClr val="dk1"/>
              </a:buClr>
              <a:buSzPts val="2400"/>
              <a:buFont typeface="IBM Plex Sans"/>
              <a:buChar char="▰"/>
              <a:defRPr i="1">
                <a:latin typeface="IBM Plex Sans"/>
                <a:ea typeface="IBM Plex Sans"/>
                <a:cs typeface="IBM Plex Sans"/>
                <a:sym typeface="IBM Plex Sans"/>
              </a:defRPr>
            </a:lvl1pPr>
            <a:lvl2pPr marL="914400" lvl="1" indent="-381000" algn="ctr" rtl="0">
              <a:spcBef>
                <a:spcPts val="0"/>
              </a:spcBef>
              <a:spcAft>
                <a:spcPts val="0"/>
              </a:spcAft>
              <a:buClr>
                <a:schemeClr val="dk1"/>
              </a:buClr>
              <a:buSzPts val="2400"/>
              <a:buFont typeface="IBM Plex Sans"/>
              <a:buChar char="╺"/>
              <a:defRPr i="1">
                <a:latin typeface="IBM Plex Sans"/>
                <a:ea typeface="IBM Plex Sans"/>
                <a:cs typeface="IBM Plex Sans"/>
                <a:sym typeface="IBM Plex Sans"/>
              </a:defRPr>
            </a:lvl2pPr>
            <a:lvl3pPr marL="1371600" lvl="2" indent="-381000" algn="ctr" rtl="0">
              <a:spcBef>
                <a:spcPts val="0"/>
              </a:spcBef>
              <a:spcAft>
                <a:spcPts val="0"/>
              </a:spcAft>
              <a:buClr>
                <a:schemeClr val="dk1"/>
              </a:buClr>
              <a:buSzPts val="2400"/>
              <a:buFont typeface="IBM Plex Sans"/>
              <a:buChar char="╺"/>
              <a:defRPr i="1">
                <a:latin typeface="IBM Plex Sans"/>
                <a:ea typeface="IBM Plex Sans"/>
                <a:cs typeface="IBM Plex Sans"/>
                <a:sym typeface="IBM Plex Sans"/>
              </a:defRPr>
            </a:lvl3pPr>
            <a:lvl4pPr marL="1828800" lvl="3" indent="-381000" algn="ctr" rtl="0">
              <a:spcBef>
                <a:spcPts val="0"/>
              </a:spcBef>
              <a:spcAft>
                <a:spcPts val="0"/>
              </a:spcAft>
              <a:buClr>
                <a:schemeClr val="dk1"/>
              </a:buClr>
              <a:buSzPts val="2400"/>
              <a:buFont typeface="IBM Plex Sans"/>
              <a:buChar char="╺"/>
              <a:defRPr i="1">
                <a:latin typeface="IBM Plex Sans"/>
                <a:ea typeface="IBM Plex Sans"/>
                <a:cs typeface="IBM Plex Sans"/>
                <a:sym typeface="IBM Plex Sans"/>
              </a:defRPr>
            </a:lvl4pPr>
            <a:lvl5pPr marL="2286000" lvl="4" indent="-381000" algn="ctr" rtl="0">
              <a:spcBef>
                <a:spcPts val="0"/>
              </a:spcBef>
              <a:spcAft>
                <a:spcPts val="0"/>
              </a:spcAft>
              <a:buClr>
                <a:schemeClr val="dk1"/>
              </a:buClr>
              <a:buSzPts val="2400"/>
              <a:buFont typeface="IBM Plex Sans"/>
              <a:buChar char="○"/>
              <a:defRPr i="1">
                <a:latin typeface="IBM Plex Sans"/>
                <a:ea typeface="IBM Plex Sans"/>
                <a:cs typeface="IBM Plex Sans"/>
                <a:sym typeface="IBM Plex Sans"/>
              </a:defRPr>
            </a:lvl5pPr>
            <a:lvl6pPr marL="2743200" lvl="5" indent="-381000" algn="ctr" rtl="0">
              <a:spcBef>
                <a:spcPts val="0"/>
              </a:spcBef>
              <a:spcAft>
                <a:spcPts val="0"/>
              </a:spcAft>
              <a:buClr>
                <a:schemeClr val="dk1"/>
              </a:buClr>
              <a:buSzPts val="2400"/>
              <a:buFont typeface="IBM Plex Sans"/>
              <a:buChar char="■"/>
              <a:defRPr i="1">
                <a:latin typeface="IBM Plex Sans"/>
                <a:ea typeface="IBM Plex Sans"/>
                <a:cs typeface="IBM Plex Sans"/>
                <a:sym typeface="IBM Plex Sans"/>
              </a:defRPr>
            </a:lvl6pPr>
            <a:lvl7pPr marL="3200400" lvl="6" indent="-381000" algn="ctr" rtl="0">
              <a:spcBef>
                <a:spcPts val="0"/>
              </a:spcBef>
              <a:spcAft>
                <a:spcPts val="0"/>
              </a:spcAft>
              <a:buClr>
                <a:schemeClr val="dk1"/>
              </a:buClr>
              <a:buSzPts val="2400"/>
              <a:buFont typeface="IBM Plex Sans"/>
              <a:buChar char="●"/>
              <a:defRPr i="1">
                <a:latin typeface="IBM Plex Sans"/>
                <a:ea typeface="IBM Plex Sans"/>
                <a:cs typeface="IBM Plex Sans"/>
                <a:sym typeface="IBM Plex Sans"/>
              </a:defRPr>
            </a:lvl7pPr>
            <a:lvl8pPr marL="3657600" lvl="7" indent="-381000" algn="ctr" rtl="0">
              <a:spcBef>
                <a:spcPts val="0"/>
              </a:spcBef>
              <a:spcAft>
                <a:spcPts val="0"/>
              </a:spcAft>
              <a:buClr>
                <a:schemeClr val="dk1"/>
              </a:buClr>
              <a:buSzPts val="2400"/>
              <a:buFont typeface="IBM Plex Sans"/>
              <a:buChar char="○"/>
              <a:defRPr i="1">
                <a:latin typeface="IBM Plex Sans"/>
                <a:ea typeface="IBM Plex Sans"/>
                <a:cs typeface="IBM Plex Sans"/>
                <a:sym typeface="IBM Plex Sans"/>
              </a:defRPr>
            </a:lvl8pPr>
            <a:lvl9pPr marL="4114800" lvl="8" indent="-381000" algn="ctr" rtl="0">
              <a:spcBef>
                <a:spcPts val="0"/>
              </a:spcBef>
              <a:spcAft>
                <a:spcPts val="0"/>
              </a:spcAft>
              <a:buClr>
                <a:schemeClr val="dk1"/>
              </a:buClr>
              <a:buSzPts val="2400"/>
              <a:buFont typeface="IBM Plex Sans"/>
              <a:buChar char="■"/>
              <a:defRPr i="1">
                <a:latin typeface="IBM Plex Sans"/>
                <a:ea typeface="IBM Plex Sans"/>
                <a:cs typeface="IBM Plex Sans"/>
                <a:sym typeface="IBM Plex Sans"/>
              </a:defRPr>
            </a:lvl9pPr>
          </a:lstStyle>
          <a:p>
            <a:endParaRPr/>
          </a:p>
        </p:txBody>
      </p:sp>
      <p:sp>
        <p:nvSpPr>
          <p:cNvPr id="28" name="Google Shape;28;p4"/>
          <p:cNvSpPr txBox="1"/>
          <p:nvPr/>
        </p:nvSpPr>
        <p:spPr>
          <a:xfrm>
            <a:off x="3593400" y="380949"/>
            <a:ext cx="1957200" cy="5037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6000" b="1">
                <a:solidFill>
                  <a:schemeClr val="accent1"/>
                </a:solidFill>
                <a:latin typeface="Merriweather"/>
                <a:ea typeface="Merriweather"/>
                <a:cs typeface="Merriweather"/>
                <a:sym typeface="Merriweather"/>
              </a:rPr>
              <a:t>“</a:t>
            </a:r>
            <a:endParaRPr sz="6000" b="1">
              <a:solidFill>
                <a:schemeClr val="accent1"/>
              </a:solidFill>
              <a:latin typeface="Merriweather"/>
              <a:ea typeface="Merriweather"/>
              <a:cs typeface="Merriweather"/>
              <a:sym typeface="Merriweather"/>
            </a:endParaRPr>
          </a:p>
        </p:txBody>
      </p:sp>
      <p:sp>
        <p:nvSpPr>
          <p:cNvPr id="29" name="Google Shape;29;p4"/>
          <p:cNvSpPr txBox="1">
            <a:spLocks noGrp="1"/>
          </p:cNvSpPr>
          <p:nvPr>
            <p:ph type="sldNum" idx="12"/>
          </p:nvPr>
        </p:nvSpPr>
        <p:spPr>
          <a:xfrm>
            <a:off x="4354950" y="0"/>
            <a:ext cx="434100" cy="393600"/>
          </a:xfrm>
          <a:prstGeom prst="rect">
            <a:avLst/>
          </a:prstGeom>
        </p:spPr>
        <p:txBody>
          <a:bodyPr spcFirstLastPara="1" wrap="square" lIns="0" tIns="0" rIns="0" bIns="0" anchor="ctr" anchorCtr="0">
            <a:noAutofit/>
          </a:bodyPr>
          <a:lstStyle>
            <a:lvl1pPr lvl="0" algn="ctr" rtl="0">
              <a:buNone/>
              <a:defRPr/>
            </a:lvl1pPr>
            <a:lvl2pPr lvl="1" algn="ctr" rtl="0">
              <a:buNone/>
              <a:defRPr/>
            </a:lvl2pPr>
            <a:lvl3pPr lvl="2" algn="ctr" rtl="0">
              <a:buNone/>
              <a:defRPr/>
            </a:lvl3pPr>
            <a:lvl4pPr lvl="3" algn="ctr" rtl="0">
              <a:buNone/>
              <a:defRPr/>
            </a:lvl4pPr>
            <a:lvl5pPr lvl="4" algn="ctr" rtl="0">
              <a:buNone/>
              <a:defRPr/>
            </a:lvl5pPr>
            <a:lvl6pPr lvl="5" algn="ctr" rtl="0">
              <a:buNone/>
              <a:defRPr/>
            </a:lvl6pPr>
            <a:lvl7pPr lvl="6" algn="ctr" rtl="0">
              <a:buNone/>
              <a:defRPr/>
            </a:lvl7pPr>
            <a:lvl8pPr lvl="7" algn="ctr" rtl="0">
              <a:buNone/>
              <a:defRPr/>
            </a:lvl8pPr>
            <a:lvl9pPr lvl="8" algn="ctr" rtl="0">
              <a:buNone/>
              <a:defRPr/>
            </a:lvl9p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a:t>
            </a:fld>
            <a:endParaRPr/>
          </a:p>
        </p:txBody>
      </p:sp>
      <p:sp>
        <p:nvSpPr>
          <p:cNvPr id="30" name="Google Shape;30;p4"/>
          <p:cNvSpPr/>
          <p:nvPr/>
        </p:nvSpPr>
        <p:spPr>
          <a:xfrm>
            <a:off x="-161316" y="2170222"/>
            <a:ext cx="1691400" cy="1803900"/>
          </a:xfrm>
          <a:prstGeom prst="parallelogram">
            <a:avLst>
              <a:gd name="adj" fmla="val 59001"/>
            </a:avLst>
          </a:prstGeom>
          <a:gradFill>
            <a:gsLst>
              <a:gs pos="0">
                <a:schemeClr val="accen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4"/>
          <p:cNvSpPr/>
          <p:nvPr/>
        </p:nvSpPr>
        <p:spPr>
          <a:xfrm>
            <a:off x="510053" y="1108443"/>
            <a:ext cx="2241300" cy="2390700"/>
          </a:xfrm>
          <a:prstGeom prst="parallelogram">
            <a:avLst>
              <a:gd name="adj" fmla="val 59001"/>
            </a:avLst>
          </a:prstGeom>
          <a:gradFill>
            <a:gsLst>
              <a:gs pos="0">
                <a:schemeClr val="accent1"/>
              </a:gs>
              <a:gs pos="100000">
                <a:srgbClr val="02C1D3">
                  <a:alpha val="33725"/>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4"/>
          <p:cNvSpPr/>
          <p:nvPr/>
        </p:nvSpPr>
        <p:spPr>
          <a:xfrm>
            <a:off x="1070768" y="534075"/>
            <a:ext cx="943200" cy="1006500"/>
          </a:xfrm>
          <a:prstGeom prst="parallelogram">
            <a:avLst>
              <a:gd name="adj" fmla="val 59001"/>
            </a:avLst>
          </a:prstGeom>
          <a:gradFill>
            <a:gsLst>
              <a:gs pos="0">
                <a:schemeClr val="accent1"/>
              </a:gs>
              <a:gs pos="100000">
                <a:srgbClr val="02C1D3">
                  <a:alpha val="33725"/>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4"/>
          <p:cNvSpPr/>
          <p:nvPr/>
        </p:nvSpPr>
        <p:spPr>
          <a:xfrm>
            <a:off x="7308537" y="814737"/>
            <a:ext cx="1744500" cy="1859700"/>
          </a:xfrm>
          <a:prstGeom prst="parallelogram">
            <a:avLst>
              <a:gd name="adj" fmla="val 59001"/>
            </a:avLst>
          </a:prstGeom>
          <a:gradFill>
            <a:gsLst>
              <a:gs pos="0">
                <a:schemeClr val="accen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4"/>
          <p:cNvSpPr/>
          <p:nvPr/>
        </p:nvSpPr>
        <p:spPr>
          <a:xfrm>
            <a:off x="6769741" y="3169650"/>
            <a:ext cx="1234800" cy="1316700"/>
          </a:xfrm>
          <a:prstGeom prst="parallelogram">
            <a:avLst>
              <a:gd name="adj" fmla="val 59001"/>
            </a:avLst>
          </a:prstGeom>
          <a:gradFill>
            <a:gsLst>
              <a:gs pos="0">
                <a:schemeClr val="accent4"/>
              </a:gs>
              <a:gs pos="100000">
                <a:schemeClr val="accent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4"/>
          <p:cNvSpPr txBox="1"/>
          <p:nvPr/>
        </p:nvSpPr>
        <p:spPr>
          <a:xfrm>
            <a:off x="3593400" y="4258799"/>
            <a:ext cx="1957200" cy="5037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6000" b="1">
                <a:solidFill>
                  <a:schemeClr val="accent1"/>
                </a:solidFill>
                <a:latin typeface="Merriweather"/>
                <a:ea typeface="Merriweather"/>
                <a:cs typeface="Merriweather"/>
                <a:sym typeface="Merriweather"/>
              </a:rPr>
              <a:t>”</a:t>
            </a:r>
            <a:endParaRPr sz="6000" b="1">
              <a:solidFill>
                <a:schemeClr val="accent1"/>
              </a:solidFill>
              <a:latin typeface="Merriweather"/>
              <a:ea typeface="Merriweather"/>
              <a:cs typeface="Merriweather"/>
              <a:sym typeface="Merriweather"/>
            </a:endParaRPr>
          </a:p>
        </p:txBody>
      </p:sp>
      <p:sp>
        <p:nvSpPr>
          <p:cNvPr id="36" name="Google Shape;36;p4"/>
          <p:cNvSpPr/>
          <p:nvPr/>
        </p:nvSpPr>
        <p:spPr>
          <a:xfrm>
            <a:off x="7174525" y="2019350"/>
            <a:ext cx="1782000" cy="1900500"/>
          </a:xfrm>
          <a:prstGeom prst="parallelogram">
            <a:avLst>
              <a:gd name="adj" fmla="val 59001"/>
            </a:avLst>
          </a:prstGeom>
          <a:gradFill>
            <a:gsLst>
              <a:gs pos="0">
                <a:schemeClr val="accent1"/>
              </a:gs>
              <a:gs pos="100000">
                <a:srgbClr val="02C1D3">
                  <a:alpha val="33725"/>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1 column" type="tx">
  <p:cSld name="TITLE_AND_BODY">
    <p:bg>
      <p:bgPr>
        <a:solidFill>
          <a:schemeClr val="lt1"/>
        </a:solidFill>
        <a:effectLst/>
      </p:bgPr>
    </p:bg>
    <p:spTree>
      <p:nvGrpSpPr>
        <p:cNvPr id="1" name="Shape 37"/>
        <p:cNvGrpSpPr/>
        <p:nvPr/>
      </p:nvGrpSpPr>
      <p:grpSpPr>
        <a:xfrm>
          <a:off x="0" y="0"/>
          <a:ext cx="0" cy="0"/>
          <a:chOff x="0" y="0"/>
          <a:chExt cx="0" cy="0"/>
        </a:xfrm>
      </p:grpSpPr>
      <p:grpSp>
        <p:nvGrpSpPr>
          <p:cNvPr id="38" name="Google Shape;38;p5"/>
          <p:cNvGrpSpPr/>
          <p:nvPr/>
        </p:nvGrpSpPr>
        <p:grpSpPr>
          <a:xfrm>
            <a:off x="-313691" y="-18375"/>
            <a:ext cx="7510983" cy="1637005"/>
            <a:chOff x="-313691" y="-18375"/>
            <a:chExt cx="7510983" cy="1637005"/>
          </a:xfrm>
        </p:grpSpPr>
        <p:sp>
          <p:nvSpPr>
            <p:cNvPr id="39" name="Google Shape;39;p5"/>
            <p:cNvSpPr/>
            <p:nvPr/>
          </p:nvSpPr>
          <p:spPr>
            <a:xfrm>
              <a:off x="256376" y="499825"/>
              <a:ext cx="6692400" cy="804900"/>
            </a:xfrm>
            <a:prstGeom prst="parallelogram">
              <a:avLst>
                <a:gd name="adj" fmla="val 54997"/>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5"/>
            <p:cNvSpPr/>
            <p:nvPr/>
          </p:nvSpPr>
          <p:spPr>
            <a:xfrm>
              <a:off x="-313691" y="813730"/>
              <a:ext cx="754800" cy="804900"/>
            </a:xfrm>
            <a:prstGeom prst="parallelogram">
              <a:avLst>
                <a:gd name="adj" fmla="val 59001"/>
              </a:avLst>
            </a:prstGeom>
            <a:gradFill>
              <a:gsLst>
                <a:gs pos="0">
                  <a:schemeClr val="accen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5"/>
            <p:cNvSpPr/>
            <p:nvPr/>
          </p:nvSpPr>
          <p:spPr>
            <a:xfrm>
              <a:off x="6442492" y="309450"/>
              <a:ext cx="754800" cy="804900"/>
            </a:xfrm>
            <a:prstGeom prst="parallelogram">
              <a:avLst>
                <a:gd name="adj" fmla="val 59001"/>
              </a:avLst>
            </a:prstGeom>
            <a:gradFill>
              <a:gsLst>
                <a:gs pos="0">
                  <a:schemeClr val="accent1"/>
                </a:gs>
                <a:gs pos="100000">
                  <a:srgbClr val="02C1D3">
                    <a:alpha val="33725"/>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5"/>
            <p:cNvSpPr/>
            <p:nvPr/>
          </p:nvSpPr>
          <p:spPr>
            <a:xfrm>
              <a:off x="53899" y="237925"/>
              <a:ext cx="1000200" cy="1066800"/>
            </a:xfrm>
            <a:prstGeom prst="parallelogram">
              <a:avLst>
                <a:gd name="adj" fmla="val 59001"/>
              </a:avLst>
            </a:prstGeom>
            <a:gradFill>
              <a:gsLst>
                <a:gs pos="0">
                  <a:schemeClr val="accent1"/>
                </a:gs>
                <a:gs pos="100000">
                  <a:srgbClr val="02C1D3">
                    <a:alpha val="33725"/>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5"/>
            <p:cNvSpPr/>
            <p:nvPr/>
          </p:nvSpPr>
          <p:spPr>
            <a:xfrm>
              <a:off x="304107" y="-18375"/>
              <a:ext cx="420900" cy="449100"/>
            </a:xfrm>
            <a:prstGeom prst="parallelogram">
              <a:avLst>
                <a:gd name="adj" fmla="val 59001"/>
              </a:avLst>
            </a:prstGeom>
            <a:gradFill>
              <a:gsLst>
                <a:gs pos="0">
                  <a:schemeClr val="accent1"/>
                </a:gs>
                <a:gs pos="100000">
                  <a:srgbClr val="02C1D3">
                    <a:alpha val="33725"/>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5"/>
            <p:cNvSpPr/>
            <p:nvPr/>
          </p:nvSpPr>
          <p:spPr>
            <a:xfrm>
              <a:off x="6589606" y="1038628"/>
              <a:ext cx="249600" cy="266100"/>
            </a:xfrm>
            <a:prstGeom prst="parallelogram">
              <a:avLst>
                <a:gd name="adj" fmla="val 59001"/>
              </a:avLst>
            </a:prstGeom>
            <a:gradFill>
              <a:gsLst>
                <a:gs pos="0">
                  <a:schemeClr val="accen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 name="Google Shape;45;p5"/>
          <p:cNvGrpSpPr/>
          <p:nvPr/>
        </p:nvGrpSpPr>
        <p:grpSpPr>
          <a:xfrm>
            <a:off x="7485392" y="1755351"/>
            <a:ext cx="2830800" cy="3388272"/>
            <a:chOff x="7485392" y="1755351"/>
            <a:chExt cx="2830800" cy="3388272"/>
          </a:xfrm>
        </p:grpSpPr>
        <p:sp>
          <p:nvSpPr>
            <p:cNvPr id="46" name="Google Shape;46;p5"/>
            <p:cNvSpPr/>
            <p:nvPr/>
          </p:nvSpPr>
          <p:spPr>
            <a:xfrm>
              <a:off x="8005394" y="2926923"/>
              <a:ext cx="2078100" cy="2216700"/>
            </a:xfrm>
            <a:prstGeom prst="parallelogram">
              <a:avLst>
                <a:gd name="adj" fmla="val 59001"/>
              </a:avLst>
            </a:prstGeom>
            <a:gradFill>
              <a:gsLst>
                <a:gs pos="0">
                  <a:schemeClr val="accen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5"/>
            <p:cNvSpPr/>
            <p:nvPr/>
          </p:nvSpPr>
          <p:spPr>
            <a:xfrm>
              <a:off x="7485392" y="1755351"/>
              <a:ext cx="2830800" cy="3019200"/>
            </a:xfrm>
            <a:prstGeom prst="parallelogram">
              <a:avLst>
                <a:gd name="adj" fmla="val 59001"/>
              </a:avLst>
            </a:prstGeom>
            <a:gradFill>
              <a:gsLst>
                <a:gs pos="0">
                  <a:schemeClr val="accent1"/>
                </a:gs>
                <a:gs pos="100000">
                  <a:srgbClr val="02C1D3">
                    <a:alpha val="33725"/>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8" name="Google Shape;48;p5"/>
          <p:cNvSpPr txBox="1">
            <a:spLocks noGrp="1"/>
          </p:cNvSpPr>
          <p:nvPr>
            <p:ph type="body" idx="1"/>
          </p:nvPr>
        </p:nvSpPr>
        <p:spPr>
          <a:xfrm>
            <a:off x="914575" y="1584425"/>
            <a:ext cx="6999600" cy="2999700"/>
          </a:xfrm>
          <a:prstGeom prst="rect">
            <a:avLst/>
          </a:prstGeom>
        </p:spPr>
        <p:txBody>
          <a:bodyPr spcFirstLastPara="1" wrap="square" lIns="0" tIns="0" rIns="0" bIns="0" anchor="t" anchorCtr="0">
            <a:noAutofit/>
          </a:bodyPr>
          <a:lstStyle>
            <a:lvl1pPr marL="457200" lvl="0" indent="-381000" rtl="0">
              <a:spcBef>
                <a:spcPts val="600"/>
              </a:spcBef>
              <a:spcAft>
                <a:spcPts val="0"/>
              </a:spcAft>
              <a:buSzPts val="2400"/>
              <a:buChar char="▰"/>
              <a:defRPr/>
            </a:lvl1pPr>
            <a:lvl2pPr marL="914400" lvl="1" indent="-381000" rtl="0">
              <a:spcBef>
                <a:spcPts val="0"/>
              </a:spcBef>
              <a:spcAft>
                <a:spcPts val="0"/>
              </a:spcAft>
              <a:buSzPts val="2400"/>
              <a:buChar char="╺"/>
              <a:defRPr/>
            </a:lvl2pPr>
            <a:lvl3pPr marL="1371600" lvl="2" indent="-381000" rtl="0">
              <a:spcBef>
                <a:spcPts val="0"/>
              </a:spcBef>
              <a:spcAft>
                <a:spcPts val="0"/>
              </a:spcAft>
              <a:buSzPts val="2400"/>
              <a:buChar char="╺"/>
              <a:defRPr/>
            </a:lvl3pPr>
            <a:lvl4pPr marL="1828800" lvl="3" indent="-381000" rtl="0">
              <a:spcBef>
                <a:spcPts val="0"/>
              </a:spcBef>
              <a:spcAft>
                <a:spcPts val="0"/>
              </a:spcAft>
              <a:buSzPts val="2400"/>
              <a:buChar char="╺"/>
              <a:defRPr/>
            </a:lvl4pPr>
            <a:lvl5pPr marL="2286000" lvl="4" indent="-381000" rtl="0">
              <a:spcBef>
                <a:spcPts val="0"/>
              </a:spcBef>
              <a:spcAft>
                <a:spcPts val="0"/>
              </a:spcAft>
              <a:buSzPts val="2400"/>
              <a:buChar char="○"/>
              <a:defRPr/>
            </a:lvl5pPr>
            <a:lvl6pPr marL="2743200" lvl="5" indent="-381000" rtl="0">
              <a:spcBef>
                <a:spcPts val="0"/>
              </a:spcBef>
              <a:spcAft>
                <a:spcPts val="0"/>
              </a:spcAft>
              <a:buSzPts val="2400"/>
              <a:buChar char="■"/>
              <a:defRPr/>
            </a:lvl6pPr>
            <a:lvl7pPr marL="3200400" lvl="6" indent="-381000" rtl="0">
              <a:spcBef>
                <a:spcPts val="0"/>
              </a:spcBef>
              <a:spcAft>
                <a:spcPts val="0"/>
              </a:spcAft>
              <a:buSzPts val="2400"/>
              <a:buChar char="●"/>
              <a:defRPr/>
            </a:lvl7pPr>
            <a:lvl8pPr marL="3657600" lvl="7" indent="-381000" rtl="0">
              <a:spcBef>
                <a:spcPts val="0"/>
              </a:spcBef>
              <a:spcAft>
                <a:spcPts val="0"/>
              </a:spcAft>
              <a:buSzPts val="2400"/>
              <a:buChar char="○"/>
              <a:defRPr/>
            </a:lvl8pPr>
            <a:lvl9pPr marL="4114800" lvl="8" indent="-381000" rtl="0">
              <a:spcBef>
                <a:spcPts val="0"/>
              </a:spcBef>
              <a:spcAft>
                <a:spcPts val="0"/>
              </a:spcAft>
              <a:buSzPts val="2400"/>
              <a:buChar char="■"/>
              <a:defRPr/>
            </a:lvl9pPr>
          </a:lstStyle>
          <a:p>
            <a:endParaRPr/>
          </a:p>
        </p:txBody>
      </p:sp>
      <p:sp>
        <p:nvSpPr>
          <p:cNvPr id="49" name="Google Shape;49;p5"/>
          <p:cNvSpPr txBox="1">
            <a:spLocks noGrp="1"/>
          </p:cNvSpPr>
          <p:nvPr>
            <p:ph type="sldNum" idx="12"/>
          </p:nvPr>
        </p:nvSpPr>
        <p:spPr>
          <a:xfrm>
            <a:off x="8557525" y="0"/>
            <a:ext cx="434100" cy="3936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
        <p:nvSpPr>
          <p:cNvPr id="50" name="Google Shape;50;p5"/>
          <p:cNvSpPr txBox="1">
            <a:spLocks noGrp="1"/>
          </p:cNvSpPr>
          <p:nvPr>
            <p:ph type="title"/>
          </p:nvPr>
        </p:nvSpPr>
        <p:spPr>
          <a:xfrm>
            <a:off x="914575" y="495875"/>
            <a:ext cx="6026700" cy="813000"/>
          </a:xfrm>
          <a:prstGeom prst="rect">
            <a:avLst/>
          </a:prstGeom>
        </p:spPr>
        <p:txBody>
          <a:bodyPr spcFirstLastPara="1" wrap="square" lIns="0" tIns="0" rIns="0" bIns="0" anchor="ctr" anchorCtr="0">
            <a:noAutofit/>
          </a:bodyPr>
          <a:lstStyle>
            <a:lvl1pPr lvl="0" rtl="0">
              <a:spcBef>
                <a:spcPts val="0"/>
              </a:spcBef>
              <a:spcAft>
                <a:spcPts val="0"/>
              </a:spcAft>
              <a:buSzPts val="2000"/>
              <a:buNone/>
              <a:defRPr/>
            </a:lvl1pPr>
            <a:lvl2pPr lvl="1" rtl="0">
              <a:spcBef>
                <a:spcPts val="0"/>
              </a:spcBef>
              <a:spcAft>
                <a:spcPts val="0"/>
              </a:spcAft>
              <a:buSzPts val="2000"/>
              <a:buNone/>
              <a:defRPr/>
            </a:lvl2pPr>
            <a:lvl3pPr lvl="2" rtl="0">
              <a:spcBef>
                <a:spcPts val="0"/>
              </a:spcBef>
              <a:spcAft>
                <a:spcPts val="0"/>
              </a:spcAft>
              <a:buSzPts val="2000"/>
              <a:buNone/>
              <a:defRPr/>
            </a:lvl3pPr>
            <a:lvl4pPr lvl="3" rtl="0">
              <a:spcBef>
                <a:spcPts val="0"/>
              </a:spcBef>
              <a:spcAft>
                <a:spcPts val="0"/>
              </a:spcAft>
              <a:buSzPts val="2000"/>
              <a:buNone/>
              <a:defRPr/>
            </a:lvl4pPr>
            <a:lvl5pPr lvl="4" rtl="0">
              <a:spcBef>
                <a:spcPts val="0"/>
              </a:spcBef>
              <a:spcAft>
                <a:spcPts val="0"/>
              </a:spcAft>
              <a:buSzPts val="2000"/>
              <a:buNone/>
              <a:defRPr/>
            </a:lvl5pPr>
            <a:lvl6pPr lvl="5" rtl="0">
              <a:spcBef>
                <a:spcPts val="0"/>
              </a:spcBef>
              <a:spcAft>
                <a:spcPts val="0"/>
              </a:spcAft>
              <a:buSzPts val="2000"/>
              <a:buNone/>
              <a:defRPr/>
            </a:lvl6pPr>
            <a:lvl7pPr lvl="6" rtl="0">
              <a:spcBef>
                <a:spcPts val="0"/>
              </a:spcBef>
              <a:spcAft>
                <a:spcPts val="0"/>
              </a:spcAft>
              <a:buSzPts val="2000"/>
              <a:buNone/>
              <a:defRPr/>
            </a:lvl7pPr>
            <a:lvl8pPr lvl="7" rtl="0">
              <a:spcBef>
                <a:spcPts val="0"/>
              </a:spcBef>
              <a:spcAft>
                <a:spcPts val="0"/>
              </a:spcAft>
              <a:buSzPts val="2000"/>
              <a:buNone/>
              <a:defRPr/>
            </a:lvl8pPr>
            <a:lvl9pPr lvl="8" rtl="0">
              <a:spcBef>
                <a:spcPts val="0"/>
              </a:spcBef>
              <a:spcAft>
                <a:spcPts val="0"/>
              </a:spcAft>
              <a:buSzPts val="20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bg>
      <p:bgPr>
        <a:solidFill>
          <a:schemeClr val="lt1"/>
        </a:solidFill>
        <a:effectLst/>
      </p:bgPr>
    </p:bg>
    <p:spTree>
      <p:nvGrpSpPr>
        <p:cNvPr id="1" name="Shape 66"/>
        <p:cNvGrpSpPr/>
        <p:nvPr/>
      </p:nvGrpSpPr>
      <p:grpSpPr>
        <a:xfrm>
          <a:off x="0" y="0"/>
          <a:ext cx="0" cy="0"/>
          <a:chOff x="0" y="0"/>
          <a:chExt cx="0" cy="0"/>
        </a:xfrm>
      </p:grpSpPr>
      <p:grpSp>
        <p:nvGrpSpPr>
          <p:cNvPr id="67" name="Google Shape;67;p7"/>
          <p:cNvGrpSpPr/>
          <p:nvPr/>
        </p:nvGrpSpPr>
        <p:grpSpPr>
          <a:xfrm>
            <a:off x="-313691" y="-18375"/>
            <a:ext cx="7510983" cy="1637005"/>
            <a:chOff x="-313691" y="-18375"/>
            <a:chExt cx="7510983" cy="1637005"/>
          </a:xfrm>
        </p:grpSpPr>
        <p:sp>
          <p:nvSpPr>
            <p:cNvPr id="68" name="Google Shape;68;p7"/>
            <p:cNvSpPr/>
            <p:nvPr/>
          </p:nvSpPr>
          <p:spPr>
            <a:xfrm>
              <a:off x="256376" y="499825"/>
              <a:ext cx="6692400" cy="804900"/>
            </a:xfrm>
            <a:prstGeom prst="parallelogram">
              <a:avLst>
                <a:gd name="adj" fmla="val 54997"/>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7"/>
            <p:cNvSpPr/>
            <p:nvPr/>
          </p:nvSpPr>
          <p:spPr>
            <a:xfrm>
              <a:off x="-313691" y="813730"/>
              <a:ext cx="754800" cy="804900"/>
            </a:xfrm>
            <a:prstGeom prst="parallelogram">
              <a:avLst>
                <a:gd name="adj" fmla="val 59001"/>
              </a:avLst>
            </a:prstGeom>
            <a:gradFill>
              <a:gsLst>
                <a:gs pos="0">
                  <a:schemeClr val="accen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7"/>
            <p:cNvSpPr/>
            <p:nvPr/>
          </p:nvSpPr>
          <p:spPr>
            <a:xfrm>
              <a:off x="6442492" y="309450"/>
              <a:ext cx="754800" cy="804900"/>
            </a:xfrm>
            <a:prstGeom prst="parallelogram">
              <a:avLst>
                <a:gd name="adj" fmla="val 59001"/>
              </a:avLst>
            </a:prstGeom>
            <a:gradFill>
              <a:gsLst>
                <a:gs pos="0">
                  <a:schemeClr val="accent1"/>
                </a:gs>
                <a:gs pos="100000">
                  <a:srgbClr val="02C1D3">
                    <a:alpha val="33725"/>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7"/>
            <p:cNvSpPr/>
            <p:nvPr/>
          </p:nvSpPr>
          <p:spPr>
            <a:xfrm>
              <a:off x="53899" y="237925"/>
              <a:ext cx="1000200" cy="1066800"/>
            </a:xfrm>
            <a:prstGeom prst="parallelogram">
              <a:avLst>
                <a:gd name="adj" fmla="val 59001"/>
              </a:avLst>
            </a:prstGeom>
            <a:gradFill>
              <a:gsLst>
                <a:gs pos="0">
                  <a:schemeClr val="accent1"/>
                </a:gs>
                <a:gs pos="100000">
                  <a:srgbClr val="02C1D3">
                    <a:alpha val="33725"/>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7"/>
            <p:cNvSpPr/>
            <p:nvPr/>
          </p:nvSpPr>
          <p:spPr>
            <a:xfrm>
              <a:off x="304107" y="-18375"/>
              <a:ext cx="420900" cy="449100"/>
            </a:xfrm>
            <a:prstGeom prst="parallelogram">
              <a:avLst>
                <a:gd name="adj" fmla="val 59001"/>
              </a:avLst>
            </a:prstGeom>
            <a:gradFill>
              <a:gsLst>
                <a:gs pos="0">
                  <a:schemeClr val="accent1"/>
                </a:gs>
                <a:gs pos="100000">
                  <a:srgbClr val="02C1D3">
                    <a:alpha val="33725"/>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7"/>
            <p:cNvSpPr/>
            <p:nvPr/>
          </p:nvSpPr>
          <p:spPr>
            <a:xfrm>
              <a:off x="6589606" y="1038628"/>
              <a:ext cx="249600" cy="266100"/>
            </a:xfrm>
            <a:prstGeom prst="parallelogram">
              <a:avLst>
                <a:gd name="adj" fmla="val 59001"/>
              </a:avLst>
            </a:prstGeom>
            <a:gradFill>
              <a:gsLst>
                <a:gs pos="0">
                  <a:schemeClr val="accen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 name="Google Shape;74;p7"/>
          <p:cNvGrpSpPr/>
          <p:nvPr/>
        </p:nvGrpSpPr>
        <p:grpSpPr>
          <a:xfrm>
            <a:off x="7485392" y="1755351"/>
            <a:ext cx="2830800" cy="3388272"/>
            <a:chOff x="7485392" y="1755351"/>
            <a:chExt cx="2830800" cy="3388272"/>
          </a:xfrm>
        </p:grpSpPr>
        <p:sp>
          <p:nvSpPr>
            <p:cNvPr id="75" name="Google Shape;75;p7"/>
            <p:cNvSpPr/>
            <p:nvPr/>
          </p:nvSpPr>
          <p:spPr>
            <a:xfrm>
              <a:off x="8005394" y="2926923"/>
              <a:ext cx="2078100" cy="2216700"/>
            </a:xfrm>
            <a:prstGeom prst="parallelogram">
              <a:avLst>
                <a:gd name="adj" fmla="val 59001"/>
              </a:avLst>
            </a:prstGeom>
            <a:gradFill>
              <a:gsLst>
                <a:gs pos="0">
                  <a:schemeClr val="accen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7"/>
            <p:cNvSpPr/>
            <p:nvPr/>
          </p:nvSpPr>
          <p:spPr>
            <a:xfrm>
              <a:off x="7485392" y="1755351"/>
              <a:ext cx="2830800" cy="3019200"/>
            </a:xfrm>
            <a:prstGeom prst="parallelogram">
              <a:avLst>
                <a:gd name="adj" fmla="val 59001"/>
              </a:avLst>
            </a:prstGeom>
            <a:gradFill>
              <a:gsLst>
                <a:gs pos="0">
                  <a:schemeClr val="accent1"/>
                </a:gs>
                <a:gs pos="100000">
                  <a:srgbClr val="02C1D3">
                    <a:alpha val="33725"/>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 name="Google Shape;77;p7"/>
          <p:cNvSpPr txBox="1">
            <a:spLocks noGrp="1"/>
          </p:cNvSpPr>
          <p:nvPr>
            <p:ph type="title"/>
          </p:nvPr>
        </p:nvSpPr>
        <p:spPr>
          <a:xfrm>
            <a:off x="914575" y="495875"/>
            <a:ext cx="6026700" cy="813000"/>
          </a:xfrm>
          <a:prstGeom prst="rect">
            <a:avLst/>
          </a:prstGeom>
        </p:spPr>
        <p:txBody>
          <a:bodyPr spcFirstLastPara="1" wrap="square" lIns="0" tIns="0" rIns="0" bIns="0" anchor="ctr" anchorCtr="0">
            <a:noAutofit/>
          </a:bodyPr>
          <a:lstStyle>
            <a:lvl1pPr lvl="0" rtl="0">
              <a:spcBef>
                <a:spcPts val="0"/>
              </a:spcBef>
              <a:spcAft>
                <a:spcPts val="0"/>
              </a:spcAft>
              <a:buSzPts val="2000"/>
              <a:buNone/>
              <a:defRPr/>
            </a:lvl1pPr>
            <a:lvl2pPr lvl="1" rtl="0">
              <a:spcBef>
                <a:spcPts val="0"/>
              </a:spcBef>
              <a:spcAft>
                <a:spcPts val="0"/>
              </a:spcAft>
              <a:buSzPts val="2000"/>
              <a:buNone/>
              <a:defRPr/>
            </a:lvl2pPr>
            <a:lvl3pPr lvl="2" rtl="0">
              <a:spcBef>
                <a:spcPts val="0"/>
              </a:spcBef>
              <a:spcAft>
                <a:spcPts val="0"/>
              </a:spcAft>
              <a:buSzPts val="2000"/>
              <a:buNone/>
              <a:defRPr/>
            </a:lvl3pPr>
            <a:lvl4pPr lvl="3" rtl="0">
              <a:spcBef>
                <a:spcPts val="0"/>
              </a:spcBef>
              <a:spcAft>
                <a:spcPts val="0"/>
              </a:spcAft>
              <a:buSzPts val="2000"/>
              <a:buNone/>
              <a:defRPr/>
            </a:lvl4pPr>
            <a:lvl5pPr lvl="4" rtl="0">
              <a:spcBef>
                <a:spcPts val="0"/>
              </a:spcBef>
              <a:spcAft>
                <a:spcPts val="0"/>
              </a:spcAft>
              <a:buSzPts val="2000"/>
              <a:buNone/>
              <a:defRPr/>
            </a:lvl5pPr>
            <a:lvl6pPr lvl="5" rtl="0">
              <a:spcBef>
                <a:spcPts val="0"/>
              </a:spcBef>
              <a:spcAft>
                <a:spcPts val="0"/>
              </a:spcAft>
              <a:buSzPts val="2000"/>
              <a:buNone/>
              <a:defRPr/>
            </a:lvl6pPr>
            <a:lvl7pPr lvl="6" rtl="0">
              <a:spcBef>
                <a:spcPts val="0"/>
              </a:spcBef>
              <a:spcAft>
                <a:spcPts val="0"/>
              </a:spcAft>
              <a:buSzPts val="2000"/>
              <a:buNone/>
              <a:defRPr/>
            </a:lvl7pPr>
            <a:lvl8pPr lvl="7" rtl="0">
              <a:spcBef>
                <a:spcPts val="0"/>
              </a:spcBef>
              <a:spcAft>
                <a:spcPts val="0"/>
              </a:spcAft>
              <a:buSzPts val="2000"/>
              <a:buNone/>
              <a:defRPr/>
            </a:lvl8pPr>
            <a:lvl9pPr lvl="8" rtl="0">
              <a:spcBef>
                <a:spcPts val="0"/>
              </a:spcBef>
              <a:spcAft>
                <a:spcPts val="0"/>
              </a:spcAft>
              <a:buSzPts val="2000"/>
              <a:buNone/>
              <a:defRPr/>
            </a:lvl9pPr>
          </a:lstStyle>
          <a:p>
            <a:endParaRPr/>
          </a:p>
        </p:txBody>
      </p:sp>
      <p:sp>
        <p:nvSpPr>
          <p:cNvPr id="78" name="Google Shape;78;p7"/>
          <p:cNvSpPr txBox="1">
            <a:spLocks noGrp="1"/>
          </p:cNvSpPr>
          <p:nvPr>
            <p:ph type="body" idx="1"/>
          </p:nvPr>
        </p:nvSpPr>
        <p:spPr>
          <a:xfrm>
            <a:off x="914575" y="1584425"/>
            <a:ext cx="3264000" cy="2957100"/>
          </a:xfrm>
          <a:prstGeom prst="rect">
            <a:avLst/>
          </a:prstGeom>
        </p:spPr>
        <p:txBody>
          <a:bodyPr spcFirstLastPara="1" wrap="square" lIns="0" tIns="0" rIns="0" bIns="0" anchor="t" anchorCtr="0">
            <a:noAutofit/>
          </a:bodyPr>
          <a:lstStyle>
            <a:lvl1pPr marL="457200" lvl="0" indent="-368300" rtl="0">
              <a:spcBef>
                <a:spcPts val="600"/>
              </a:spcBef>
              <a:spcAft>
                <a:spcPts val="0"/>
              </a:spcAft>
              <a:buSzPts val="2200"/>
              <a:buChar char="▰"/>
              <a:defRPr sz="2200"/>
            </a:lvl1pPr>
            <a:lvl2pPr marL="914400" lvl="1" indent="-368300" rtl="0">
              <a:spcBef>
                <a:spcPts val="0"/>
              </a:spcBef>
              <a:spcAft>
                <a:spcPts val="0"/>
              </a:spcAft>
              <a:buSzPts val="2200"/>
              <a:buChar char="╺"/>
              <a:defRPr sz="2200"/>
            </a:lvl2pPr>
            <a:lvl3pPr marL="1371600" lvl="2" indent="-368300" rtl="0">
              <a:spcBef>
                <a:spcPts val="0"/>
              </a:spcBef>
              <a:spcAft>
                <a:spcPts val="0"/>
              </a:spcAft>
              <a:buSzPts val="2200"/>
              <a:buChar char="╺"/>
              <a:defRPr sz="2200"/>
            </a:lvl3pPr>
            <a:lvl4pPr marL="1828800" lvl="3" indent="-368300" rtl="0">
              <a:spcBef>
                <a:spcPts val="0"/>
              </a:spcBef>
              <a:spcAft>
                <a:spcPts val="0"/>
              </a:spcAft>
              <a:buSzPts val="2200"/>
              <a:buChar char="╺"/>
              <a:defRPr sz="2200"/>
            </a:lvl4pPr>
            <a:lvl5pPr marL="2286000" lvl="4" indent="-368300" rtl="0">
              <a:spcBef>
                <a:spcPts val="0"/>
              </a:spcBef>
              <a:spcAft>
                <a:spcPts val="0"/>
              </a:spcAft>
              <a:buSzPts val="2200"/>
              <a:buChar char="○"/>
              <a:defRPr sz="2200"/>
            </a:lvl5pPr>
            <a:lvl6pPr marL="2743200" lvl="5" indent="-368300" rtl="0">
              <a:spcBef>
                <a:spcPts val="0"/>
              </a:spcBef>
              <a:spcAft>
                <a:spcPts val="0"/>
              </a:spcAft>
              <a:buSzPts val="2200"/>
              <a:buChar char="■"/>
              <a:defRPr sz="2200"/>
            </a:lvl6pPr>
            <a:lvl7pPr marL="3200400" lvl="6" indent="-368300" rtl="0">
              <a:spcBef>
                <a:spcPts val="0"/>
              </a:spcBef>
              <a:spcAft>
                <a:spcPts val="0"/>
              </a:spcAft>
              <a:buSzPts val="2200"/>
              <a:buChar char="●"/>
              <a:defRPr sz="2200"/>
            </a:lvl7pPr>
            <a:lvl8pPr marL="3657600" lvl="7" indent="-368300" rtl="0">
              <a:spcBef>
                <a:spcPts val="0"/>
              </a:spcBef>
              <a:spcAft>
                <a:spcPts val="0"/>
              </a:spcAft>
              <a:buSzPts val="2200"/>
              <a:buChar char="○"/>
              <a:defRPr sz="2200"/>
            </a:lvl8pPr>
            <a:lvl9pPr marL="4114800" lvl="8" indent="-368300" rtl="0">
              <a:spcBef>
                <a:spcPts val="0"/>
              </a:spcBef>
              <a:spcAft>
                <a:spcPts val="0"/>
              </a:spcAft>
              <a:buSzPts val="2200"/>
              <a:buChar char="■"/>
              <a:defRPr sz="2200"/>
            </a:lvl9pPr>
          </a:lstStyle>
          <a:p>
            <a:endParaRPr/>
          </a:p>
        </p:txBody>
      </p:sp>
      <p:sp>
        <p:nvSpPr>
          <p:cNvPr id="79" name="Google Shape;79;p7"/>
          <p:cNvSpPr txBox="1">
            <a:spLocks noGrp="1"/>
          </p:cNvSpPr>
          <p:nvPr>
            <p:ph type="body" idx="2"/>
          </p:nvPr>
        </p:nvSpPr>
        <p:spPr>
          <a:xfrm>
            <a:off x="4650178" y="1584425"/>
            <a:ext cx="3264000" cy="2957100"/>
          </a:xfrm>
          <a:prstGeom prst="rect">
            <a:avLst/>
          </a:prstGeom>
        </p:spPr>
        <p:txBody>
          <a:bodyPr spcFirstLastPara="1" wrap="square" lIns="0" tIns="0" rIns="0" bIns="0" anchor="t" anchorCtr="0">
            <a:noAutofit/>
          </a:bodyPr>
          <a:lstStyle>
            <a:lvl1pPr marL="457200" lvl="0" indent="-368300" rtl="0">
              <a:spcBef>
                <a:spcPts val="600"/>
              </a:spcBef>
              <a:spcAft>
                <a:spcPts val="0"/>
              </a:spcAft>
              <a:buSzPts val="2200"/>
              <a:buChar char="▰"/>
              <a:defRPr sz="2200"/>
            </a:lvl1pPr>
            <a:lvl2pPr marL="914400" lvl="1" indent="-368300" rtl="0">
              <a:spcBef>
                <a:spcPts val="0"/>
              </a:spcBef>
              <a:spcAft>
                <a:spcPts val="0"/>
              </a:spcAft>
              <a:buSzPts val="2200"/>
              <a:buChar char="╺"/>
              <a:defRPr sz="2200"/>
            </a:lvl2pPr>
            <a:lvl3pPr marL="1371600" lvl="2" indent="-368300" rtl="0">
              <a:spcBef>
                <a:spcPts val="0"/>
              </a:spcBef>
              <a:spcAft>
                <a:spcPts val="0"/>
              </a:spcAft>
              <a:buSzPts val="2200"/>
              <a:buChar char="╺"/>
              <a:defRPr sz="2200"/>
            </a:lvl3pPr>
            <a:lvl4pPr marL="1828800" lvl="3" indent="-368300" rtl="0">
              <a:spcBef>
                <a:spcPts val="0"/>
              </a:spcBef>
              <a:spcAft>
                <a:spcPts val="0"/>
              </a:spcAft>
              <a:buSzPts val="2200"/>
              <a:buChar char="╺"/>
              <a:defRPr sz="2200"/>
            </a:lvl4pPr>
            <a:lvl5pPr marL="2286000" lvl="4" indent="-368300" rtl="0">
              <a:spcBef>
                <a:spcPts val="0"/>
              </a:spcBef>
              <a:spcAft>
                <a:spcPts val="0"/>
              </a:spcAft>
              <a:buSzPts val="2200"/>
              <a:buChar char="○"/>
              <a:defRPr sz="2200"/>
            </a:lvl5pPr>
            <a:lvl6pPr marL="2743200" lvl="5" indent="-368300" rtl="0">
              <a:spcBef>
                <a:spcPts val="0"/>
              </a:spcBef>
              <a:spcAft>
                <a:spcPts val="0"/>
              </a:spcAft>
              <a:buSzPts val="2200"/>
              <a:buChar char="■"/>
              <a:defRPr sz="2200"/>
            </a:lvl6pPr>
            <a:lvl7pPr marL="3200400" lvl="6" indent="-368300" rtl="0">
              <a:spcBef>
                <a:spcPts val="0"/>
              </a:spcBef>
              <a:spcAft>
                <a:spcPts val="0"/>
              </a:spcAft>
              <a:buSzPts val="2200"/>
              <a:buChar char="●"/>
              <a:defRPr sz="2200"/>
            </a:lvl7pPr>
            <a:lvl8pPr marL="3657600" lvl="7" indent="-368300" rtl="0">
              <a:spcBef>
                <a:spcPts val="0"/>
              </a:spcBef>
              <a:spcAft>
                <a:spcPts val="0"/>
              </a:spcAft>
              <a:buSzPts val="2200"/>
              <a:buChar char="○"/>
              <a:defRPr sz="2200"/>
            </a:lvl8pPr>
            <a:lvl9pPr marL="4114800" lvl="8" indent="-368300" rtl="0">
              <a:spcBef>
                <a:spcPts val="0"/>
              </a:spcBef>
              <a:spcAft>
                <a:spcPts val="0"/>
              </a:spcAft>
              <a:buSzPts val="2200"/>
              <a:buChar char="■"/>
              <a:defRPr sz="2200"/>
            </a:lvl9pPr>
          </a:lstStyle>
          <a:p>
            <a:endParaRPr/>
          </a:p>
        </p:txBody>
      </p:sp>
      <p:sp>
        <p:nvSpPr>
          <p:cNvPr id="80" name="Google Shape;80;p7"/>
          <p:cNvSpPr txBox="1">
            <a:spLocks noGrp="1"/>
          </p:cNvSpPr>
          <p:nvPr>
            <p:ph type="sldNum" idx="12"/>
          </p:nvPr>
        </p:nvSpPr>
        <p:spPr>
          <a:xfrm>
            <a:off x="8557525" y="0"/>
            <a:ext cx="434100" cy="3936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 Dark">
  <p:cSld name="TITLE_ONLY_1">
    <p:bg>
      <p:bgPr>
        <a:gradFill>
          <a:gsLst>
            <a:gs pos="0">
              <a:schemeClr val="accent6"/>
            </a:gs>
            <a:gs pos="100000">
              <a:schemeClr val="accent5"/>
            </a:gs>
          </a:gsLst>
          <a:lin ang="5400012" scaled="0"/>
        </a:gradFill>
        <a:effectLst/>
      </p:bgPr>
    </p:bg>
    <p:spTree>
      <p:nvGrpSpPr>
        <p:cNvPr id="1" name="Shape 110"/>
        <p:cNvGrpSpPr/>
        <p:nvPr/>
      </p:nvGrpSpPr>
      <p:grpSpPr>
        <a:xfrm>
          <a:off x="0" y="0"/>
          <a:ext cx="0" cy="0"/>
          <a:chOff x="0" y="0"/>
          <a:chExt cx="0" cy="0"/>
        </a:xfrm>
      </p:grpSpPr>
      <p:grpSp>
        <p:nvGrpSpPr>
          <p:cNvPr id="111" name="Google Shape;111;p10"/>
          <p:cNvGrpSpPr/>
          <p:nvPr/>
        </p:nvGrpSpPr>
        <p:grpSpPr>
          <a:xfrm>
            <a:off x="-313691" y="-18375"/>
            <a:ext cx="7510983" cy="1637005"/>
            <a:chOff x="-313691" y="-18375"/>
            <a:chExt cx="7510983" cy="1637005"/>
          </a:xfrm>
        </p:grpSpPr>
        <p:sp>
          <p:nvSpPr>
            <p:cNvPr id="112" name="Google Shape;112;p10"/>
            <p:cNvSpPr/>
            <p:nvPr/>
          </p:nvSpPr>
          <p:spPr>
            <a:xfrm>
              <a:off x="256376" y="499825"/>
              <a:ext cx="6692400" cy="804900"/>
            </a:xfrm>
            <a:prstGeom prst="parallelogram">
              <a:avLst>
                <a:gd name="adj" fmla="val 54997"/>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0"/>
            <p:cNvSpPr/>
            <p:nvPr/>
          </p:nvSpPr>
          <p:spPr>
            <a:xfrm>
              <a:off x="-313691" y="813730"/>
              <a:ext cx="754800" cy="804900"/>
            </a:xfrm>
            <a:prstGeom prst="parallelogram">
              <a:avLst>
                <a:gd name="adj" fmla="val 59001"/>
              </a:avLst>
            </a:prstGeom>
            <a:gradFill>
              <a:gsLst>
                <a:gs pos="0">
                  <a:schemeClr val="accen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0"/>
            <p:cNvSpPr/>
            <p:nvPr/>
          </p:nvSpPr>
          <p:spPr>
            <a:xfrm>
              <a:off x="6442492" y="309450"/>
              <a:ext cx="754800" cy="804900"/>
            </a:xfrm>
            <a:prstGeom prst="parallelogram">
              <a:avLst>
                <a:gd name="adj" fmla="val 59001"/>
              </a:avLst>
            </a:prstGeom>
            <a:gradFill>
              <a:gsLst>
                <a:gs pos="0">
                  <a:schemeClr val="accent1"/>
                </a:gs>
                <a:gs pos="100000">
                  <a:srgbClr val="02C1D3">
                    <a:alpha val="33725"/>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0"/>
            <p:cNvSpPr/>
            <p:nvPr/>
          </p:nvSpPr>
          <p:spPr>
            <a:xfrm>
              <a:off x="53899" y="237925"/>
              <a:ext cx="1000200" cy="1066800"/>
            </a:xfrm>
            <a:prstGeom prst="parallelogram">
              <a:avLst>
                <a:gd name="adj" fmla="val 59001"/>
              </a:avLst>
            </a:prstGeom>
            <a:gradFill>
              <a:gsLst>
                <a:gs pos="0">
                  <a:schemeClr val="accent1"/>
                </a:gs>
                <a:gs pos="100000">
                  <a:srgbClr val="02C1D3">
                    <a:alpha val="33725"/>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0"/>
            <p:cNvSpPr/>
            <p:nvPr/>
          </p:nvSpPr>
          <p:spPr>
            <a:xfrm>
              <a:off x="304107" y="-18375"/>
              <a:ext cx="420900" cy="449100"/>
            </a:xfrm>
            <a:prstGeom prst="parallelogram">
              <a:avLst>
                <a:gd name="adj" fmla="val 59001"/>
              </a:avLst>
            </a:prstGeom>
            <a:gradFill>
              <a:gsLst>
                <a:gs pos="0">
                  <a:schemeClr val="accent1"/>
                </a:gs>
                <a:gs pos="100000">
                  <a:srgbClr val="02C1D3">
                    <a:alpha val="33725"/>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0"/>
            <p:cNvSpPr/>
            <p:nvPr/>
          </p:nvSpPr>
          <p:spPr>
            <a:xfrm>
              <a:off x="6589606" y="1038628"/>
              <a:ext cx="249600" cy="266100"/>
            </a:xfrm>
            <a:prstGeom prst="parallelogram">
              <a:avLst>
                <a:gd name="adj" fmla="val 59001"/>
              </a:avLst>
            </a:prstGeom>
            <a:gradFill>
              <a:gsLst>
                <a:gs pos="0">
                  <a:schemeClr val="accen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 name="Google Shape;118;p10"/>
          <p:cNvGrpSpPr/>
          <p:nvPr/>
        </p:nvGrpSpPr>
        <p:grpSpPr>
          <a:xfrm>
            <a:off x="7485392" y="1755351"/>
            <a:ext cx="2830800" cy="3388272"/>
            <a:chOff x="7485392" y="1755351"/>
            <a:chExt cx="2830800" cy="3388272"/>
          </a:xfrm>
        </p:grpSpPr>
        <p:sp>
          <p:nvSpPr>
            <p:cNvPr id="119" name="Google Shape;119;p10"/>
            <p:cNvSpPr/>
            <p:nvPr/>
          </p:nvSpPr>
          <p:spPr>
            <a:xfrm>
              <a:off x="8005394" y="2926923"/>
              <a:ext cx="2078100" cy="2216700"/>
            </a:xfrm>
            <a:prstGeom prst="parallelogram">
              <a:avLst>
                <a:gd name="adj" fmla="val 59001"/>
              </a:avLst>
            </a:prstGeom>
            <a:gradFill>
              <a:gsLst>
                <a:gs pos="0">
                  <a:schemeClr val="accen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0"/>
            <p:cNvSpPr/>
            <p:nvPr/>
          </p:nvSpPr>
          <p:spPr>
            <a:xfrm>
              <a:off x="7485392" y="1755351"/>
              <a:ext cx="2830800" cy="3019200"/>
            </a:xfrm>
            <a:prstGeom prst="parallelogram">
              <a:avLst>
                <a:gd name="adj" fmla="val 59001"/>
              </a:avLst>
            </a:prstGeom>
            <a:gradFill>
              <a:gsLst>
                <a:gs pos="0">
                  <a:schemeClr val="accent1"/>
                </a:gs>
                <a:gs pos="100000">
                  <a:srgbClr val="02C1D3">
                    <a:alpha val="33725"/>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1" name="Google Shape;121;p10"/>
          <p:cNvSpPr txBox="1">
            <a:spLocks noGrp="1"/>
          </p:cNvSpPr>
          <p:nvPr>
            <p:ph type="title"/>
          </p:nvPr>
        </p:nvSpPr>
        <p:spPr>
          <a:xfrm>
            <a:off x="914575" y="495875"/>
            <a:ext cx="6026700" cy="813000"/>
          </a:xfrm>
          <a:prstGeom prst="rect">
            <a:avLst/>
          </a:prstGeom>
        </p:spPr>
        <p:txBody>
          <a:bodyPr spcFirstLastPara="1" wrap="square" lIns="0" tIns="0" rIns="0" bIns="0" anchor="ctr" anchorCtr="0">
            <a:noAutofit/>
          </a:bodyPr>
          <a:lstStyle>
            <a:lvl1pPr lvl="0" rtl="0">
              <a:spcBef>
                <a:spcPts val="0"/>
              </a:spcBef>
              <a:spcAft>
                <a:spcPts val="0"/>
              </a:spcAft>
              <a:buClr>
                <a:schemeClr val="lt1"/>
              </a:buClr>
              <a:buSzPts val="2000"/>
              <a:buNone/>
              <a:defRPr>
                <a:solidFill>
                  <a:schemeClr val="lt1"/>
                </a:solidFill>
              </a:defRPr>
            </a:lvl1pPr>
            <a:lvl2pPr lvl="1" rtl="0">
              <a:spcBef>
                <a:spcPts val="0"/>
              </a:spcBef>
              <a:spcAft>
                <a:spcPts val="0"/>
              </a:spcAft>
              <a:buClr>
                <a:schemeClr val="lt1"/>
              </a:buClr>
              <a:buSzPts val="2000"/>
              <a:buNone/>
              <a:defRPr>
                <a:solidFill>
                  <a:schemeClr val="lt1"/>
                </a:solidFill>
              </a:defRPr>
            </a:lvl2pPr>
            <a:lvl3pPr lvl="2" rtl="0">
              <a:spcBef>
                <a:spcPts val="0"/>
              </a:spcBef>
              <a:spcAft>
                <a:spcPts val="0"/>
              </a:spcAft>
              <a:buClr>
                <a:schemeClr val="lt1"/>
              </a:buClr>
              <a:buSzPts val="2000"/>
              <a:buNone/>
              <a:defRPr>
                <a:solidFill>
                  <a:schemeClr val="lt1"/>
                </a:solidFill>
              </a:defRPr>
            </a:lvl3pPr>
            <a:lvl4pPr lvl="3" rtl="0">
              <a:spcBef>
                <a:spcPts val="0"/>
              </a:spcBef>
              <a:spcAft>
                <a:spcPts val="0"/>
              </a:spcAft>
              <a:buClr>
                <a:schemeClr val="lt1"/>
              </a:buClr>
              <a:buSzPts val="2000"/>
              <a:buNone/>
              <a:defRPr>
                <a:solidFill>
                  <a:schemeClr val="lt1"/>
                </a:solidFill>
              </a:defRPr>
            </a:lvl4pPr>
            <a:lvl5pPr lvl="4" rtl="0">
              <a:spcBef>
                <a:spcPts val="0"/>
              </a:spcBef>
              <a:spcAft>
                <a:spcPts val="0"/>
              </a:spcAft>
              <a:buClr>
                <a:schemeClr val="lt1"/>
              </a:buClr>
              <a:buSzPts val="2000"/>
              <a:buNone/>
              <a:defRPr>
                <a:solidFill>
                  <a:schemeClr val="lt1"/>
                </a:solidFill>
              </a:defRPr>
            </a:lvl5pPr>
            <a:lvl6pPr lvl="5" rtl="0">
              <a:spcBef>
                <a:spcPts val="0"/>
              </a:spcBef>
              <a:spcAft>
                <a:spcPts val="0"/>
              </a:spcAft>
              <a:buClr>
                <a:schemeClr val="lt1"/>
              </a:buClr>
              <a:buSzPts val="2000"/>
              <a:buNone/>
              <a:defRPr>
                <a:solidFill>
                  <a:schemeClr val="lt1"/>
                </a:solidFill>
              </a:defRPr>
            </a:lvl6pPr>
            <a:lvl7pPr lvl="6" rtl="0">
              <a:spcBef>
                <a:spcPts val="0"/>
              </a:spcBef>
              <a:spcAft>
                <a:spcPts val="0"/>
              </a:spcAft>
              <a:buClr>
                <a:schemeClr val="lt1"/>
              </a:buClr>
              <a:buSzPts val="2000"/>
              <a:buNone/>
              <a:defRPr>
                <a:solidFill>
                  <a:schemeClr val="lt1"/>
                </a:solidFill>
              </a:defRPr>
            </a:lvl7pPr>
            <a:lvl8pPr lvl="7" rtl="0">
              <a:spcBef>
                <a:spcPts val="0"/>
              </a:spcBef>
              <a:spcAft>
                <a:spcPts val="0"/>
              </a:spcAft>
              <a:buClr>
                <a:schemeClr val="lt1"/>
              </a:buClr>
              <a:buSzPts val="2000"/>
              <a:buNone/>
              <a:defRPr>
                <a:solidFill>
                  <a:schemeClr val="lt1"/>
                </a:solidFill>
              </a:defRPr>
            </a:lvl8pPr>
            <a:lvl9pPr lvl="8" rtl="0">
              <a:spcBef>
                <a:spcPts val="0"/>
              </a:spcBef>
              <a:spcAft>
                <a:spcPts val="0"/>
              </a:spcAft>
              <a:buClr>
                <a:schemeClr val="lt1"/>
              </a:buClr>
              <a:buSzPts val="2000"/>
              <a:buNone/>
              <a:defRPr>
                <a:solidFill>
                  <a:schemeClr val="lt1"/>
                </a:solidFill>
              </a:defRPr>
            </a:lvl9pPr>
          </a:lstStyle>
          <a:p>
            <a:endParaRPr/>
          </a:p>
        </p:txBody>
      </p:sp>
      <p:sp>
        <p:nvSpPr>
          <p:cNvPr id="122" name="Google Shape;122;p10"/>
          <p:cNvSpPr txBox="1">
            <a:spLocks noGrp="1"/>
          </p:cNvSpPr>
          <p:nvPr>
            <p:ph type="sldNum" idx="12"/>
          </p:nvPr>
        </p:nvSpPr>
        <p:spPr>
          <a:xfrm>
            <a:off x="8557525" y="0"/>
            <a:ext cx="434100" cy="393600"/>
          </a:xfrm>
          <a:prstGeom prst="rect">
            <a:avLst/>
          </a:prstGeom>
        </p:spPr>
        <p:txBody>
          <a:bodyPr spcFirstLastPara="1" wrap="square" lIns="0" tIns="0" rIns="0" bIns="0" anchor="ctr" anchorCtr="0">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gradFill>
          <a:gsLst>
            <a:gs pos="0">
              <a:schemeClr val="accent6"/>
            </a:gs>
            <a:gs pos="100000">
              <a:schemeClr val="accent5"/>
            </a:gs>
          </a:gsLst>
          <a:lin ang="5400012"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14575" y="495875"/>
            <a:ext cx="6026700" cy="813000"/>
          </a:xfrm>
          <a:prstGeom prst="rect">
            <a:avLst/>
          </a:prstGeom>
          <a:noFill/>
          <a:ln>
            <a:noFill/>
          </a:ln>
        </p:spPr>
        <p:txBody>
          <a:bodyPr spcFirstLastPara="1" wrap="square" lIns="0" tIns="0" rIns="0" bIns="0" anchor="ctr" anchorCtr="0">
            <a:noAutofit/>
          </a:bodyPr>
          <a:lstStyle>
            <a:lvl1pPr lvl="0" rtl="0">
              <a:lnSpc>
                <a:spcPct val="90000"/>
              </a:lnSpc>
              <a:spcBef>
                <a:spcPts val="0"/>
              </a:spcBef>
              <a:spcAft>
                <a:spcPts val="0"/>
              </a:spcAft>
              <a:buClr>
                <a:schemeClr val="accent5"/>
              </a:buClr>
              <a:buSzPts val="2000"/>
              <a:buFont typeface="Merriweather"/>
              <a:buNone/>
              <a:defRPr sz="2000" b="1">
                <a:solidFill>
                  <a:schemeClr val="accent5"/>
                </a:solidFill>
                <a:latin typeface="Merriweather"/>
                <a:ea typeface="Merriweather"/>
                <a:cs typeface="Merriweather"/>
                <a:sym typeface="Merriweather"/>
              </a:defRPr>
            </a:lvl1pPr>
            <a:lvl2pPr lvl="1" rtl="0">
              <a:lnSpc>
                <a:spcPct val="90000"/>
              </a:lnSpc>
              <a:spcBef>
                <a:spcPts val="0"/>
              </a:spcBef>
              <a:spcAft>
                <a:spcPts val="0"/>
              </a:spcAft>
              <a:buClr>
                <a:schemeClr val="accent5"/>
              </a:buClr>
              <a:buSzPts val="2000"/>
              <a:buFont typeface="Merriweather"/>
              <a:buNone/>
              <a:defRPr sz="2000" b="1">
                <a:solidFill>
                  <a:schemeClr val="accent5"/>
                </a:solidFill>
                <a:latin typeface="Merriweather"/>
                <a:ea typeface="Merriweather"/>
                <a:cs typeface="Merriweather"/>
                <a:sym typeface="Merriweather"/>
              </a:defRPr>
            </a:lvl2pPr>
            <a:lvl3pPr lvl="2" rtl="0">
              <a:lnSpc>
                <a:spcPct val="90000"/>
              </a:lnSpc>
              <a:spcBef>
                <a:spcPts val="0"/>
              </a:spcBef>
              <a:spcAft>
                <a:spcPts val="0"/>
              </a:spcAft>
              <a:buClr>
                <a:schemeClr val="accent5"/>
              </a:buClr>
              <a:buSzPts val="2000"/>
              <a:buFont typeface="Merriweather"/>
              <a:buNone/>
              <a:defRPr sz="2000" b="1">
                <a:solidFill>
                  <a:schemeClr val="accent5"/>
                </a:solidFill>
                <a:latin typeface="Merriweather"/>
                <a:ea typeface="Merriweather"/>
                <a:cs typeface="Merriweather"/>
                <a:sym typeface="Merriweather"/>
              </a:defRPr>
            </a:lvl3pPr>
            <a:lvl4pPr lvl="3" rtl="0">
              <a:lnSpc>
                <a:spcPct val="90000"/>
              </a:lnSpc>
              <a:spcBef>
                <a:spcPts val="0"/>
              </a:spcBef>
              <a:spcAft>
                <a:spcPts val="0"/>
              </a:spcAft>
              <a:buClr>
                <a:schemeClr val="accent5"/>
              </a:buClr>
              <a:buSzPts val="2000"/>
              <a:buFont typeface="Merriweather"/>
              <a:buNone/>
              <a:defRPr sz="2000" b="1">
                <a:solidFill>
                  <a:schemeClr val="accent5"/>
                </a:solidFill>
                <a:latin typeface="Merriweather"/>
                <a:ea typeface="Merriweather"/>
                <a:cs typeface="Merriweather"/>
                <a:sym typeface="Merriweather"/>
              </a:defRPr>
            </a:lvl4pPr>
            <a:lvl5pPr lvl="4" rtl="0">
              <a:lnSpc>
                <a:spcPct val="90000"/>
              </a:lnSpc>
              <a:spcBef>
                <a:spcPts val="0"/>
              </a:spcBef>
              <a:spcAft>
                <a:spcPts val="0"/>
              </a:spcAft>
              <a:buClr>
                <a:schemeClr val="accent5"/>
              </a:buClr>
              <a:buSzPts val="2000"/>
              <a:buFont typeface="Merriweather"/>
              <a:buNone/>
              <a:defRPr sz="2000" b="1">
                <a:solidFill>
                  <a:schemeClr val="accent5"/>
                </a:solidFill>
                <a:latin typeface="Merriweather"/>
                <a:ea typeface="Merriweather"/>
                <a:cs typeface="Merriweather"/>
                <a:sym typeface="Merriweather"/>
              </a:defRPr>
            </a:lvl5pPr>
            <a:lvl6pPr lvl="5" rtl="0">
              <a:lnSpc>
                <a:spcPct val="90000"/>
              </a:lnSpc>
              <a:spcBef>
                <a:spcPts val="0"/>
              </a:spcBef>
              <a:spcAft>
                <a:spcPts val="0"/>
              </a:spcAft>
              <a:buClr>
                <a:schemeClr val="accent5"/>
              </a:buClr>
              <a:buSzPts val="2000"/>
              <a:buFont typeface="Merriweather"/>
              <a:buNone/>
              <a:defRPr sz="2000" b="1">
                <a:solidFill>
                  <a:schemeClr val="accent5"/>
                </a:solidFill>
                <a:latin typeface="Merriweather"/>
                <a:ea typeface="Merriweather"/>
                <a:cs typeface="Merriweather"/>
                <a:sym typeface="Merriweather"/>
              </a:defRPr>
            </a:lvl6pPr>
            <a:lvl7pPr lvl="6" rtl="0">
              <a:lnSpc>
                <a:spcPct val="90000"/>
              </a:lnSpc>
              <a:spcBef>
                <a:spcPts val="0"/>
              </a:spcBef>
              <a:spcAft>
                <a:spcPts val="0"/>
              </a:spcAft>
              <a:buClr>
                <a:schemeClr val="accent5"/>
              </a:buClr>
              <a:buSzPts val="2000"/>
              <a:buFont typeface="Merriweather"/>
              <a:buNone/>
              <a:defRPr sz="2000" b="1">
                <a:solidFill>
                  <a:schemeClr val="accent5"/>
                </a:solidFill>
                <a:latin typeface="Merriweather"/>
                <a:ea typeface="Merriweather"/>
                <a:cs typeface="Merriweather"/>
                <a:sym typeface="Merriweather"/>
              </a:defRPr>
            </a:lvl7pPr>
            <a:lvl8pPr lvl="7" rtl="0">
              <a:lnSpc>
                <a:spcPct val="90000"/>
              </a:lnSpc>
              <a:spcBef>
                <a:spcPts val="0"/>
              </a:spcBef>
              <a:spcAft>
                <a:spcPts val="0"/>
              </a:spcAft>
              <a:buClr>
                <a:schemeClr val="accent5"/>
              </a:buClr>
              <a:buSzPts val="2000"/>
              <a:buFont typeface="Merriweather"/>
              <a:buNone/>
              <a:defRPr sz="2000" b="1">
                <a:solidFill>
                  <a:schemeClr val="accent5"/>
                </a:solidFill>
                <a:latin typeface="Merriweather"/>
                <a:ea typeface="Merriweather"/>
                <a:cs typeface="Merriweather"/>
                <a:sym typeface="Merriweather"/>
              </a:defRPr>
            </a:lvl8pPr>
            <a:lvl9pPr lvl="8" rtl="0">
              <a:lnSpc>
                <a:spcPct val="90000"/>
              </a:lnSpc>
              <a:spcBef>
                <a:spcPts val="0"/>
              </a:spcBef>
              <a:spcAft>
                <a:spcPts val="0"/>
              </a:spcAft>
              <a:buClr>
                <a:schemeClr val="accent5"/>
              </a:buClr>
              <a:buSzPts val="2000"/>
              <a:buFont typeface="Merriweather"/>
              <a:buNone/>
              <a:defRPr sz="2000" b="1">
                <a:solidFill>
                  <a:schemeClr val="accent5"/>
                </a:solidFill>
                <a:latin typeface="Merriweather"/>
                <a:ea typeface="Merriweather"/>
                <a:cs typeface="Merriweather"/>
                <a:sym typeface="Merriweather"/>
              </a:defRPr>
            </a:lvl9pPr>
          </a:lstStyle>
          <a:p>
            <a:endParaRPr/>
          </a:p>
        </p:txBody>
      </p:sp>
      <p:sp>
        <p:nvSpPr>
          <p:cNvPr id="7" name="Google Shape;7;p1"/>
          <p:cNvSpPr txBox="1">
            <a:spLocks noGrp="1"/>
          </p:cNvSpPr>
          <p:nvPr>
            <p:ph type="body" idx="1"/>
          </p:nvPr>
        </p:nvSpPr>
        <p:spPr>
          <a:xfrm>
            <a:off x="914575" y="1584425"/>
            <a:ext cx="6999600" cy="2999700"/>
          </a:xfrm>
          <a:prstGeom prst="rect">
            <a:avLst/>
          </a:prstGeom>
          <a:noFill/>
          <a:ln>
            <a:noFill/>
          </a:ln>
        </p:spPr>
        <p:txBody>
          <a:bodyPr spcFirstLastPara="1" wrap="square" lIns="0" tIns="0" rIns="0" bIns="0" anchor="t" anchorCtr="0">
            <a:noAutofit/>
          </a:bodyPr>
          <a:lstStyle>
            <a:lvl1pPr marL="457200" lvl="0" indent="-381000" rtl="0">
              <a:lnSpc>
                <a:spcPct val="115000"/>
              </a:lnSpc>
              <a:spcBef>
                <a:spcPts val="600"/>
              </a:spcBef>
              <a:spcAft>
                <a:spcPts val="0"/>
              </a:spcAft>
              <a:buClr>
                <a:schemeClr val="accent1"/>
              </a:buClr>
              <a:buSzPts val="2400"/>
              <a:buFont typeface="IBM Plex Sans Light"/>
              <a:buChar char="▰"/>
              <a:defRPr sz="2400">
                <a:solidFill>
                  <a:schemeClr val="dk1"/>
                </a:solidFill>
                <a:latin typeface="IBM Plex Sans Light"/>
                <a:ea typeface="IBM Plex Sans Light"/>
                <a:cs typeface="IBM Plex Sans Light"/>
                <a:sym typeface="IBM Plex Sans Light"/>
              </a:defRPr>
            </a:lvl1pPr>
            <a:lvl2pPr marL="914400" lvl="1" indent="-381000" rtl="0">
              <a:lnSpc>
                <a:spcPct val="115000"/>
              </a:lnSpc>
              <a:spcBef>
                <a:spcPts val="0"/>
              </a:spcBef>
              <a:spcAft>
                <a:spcPts val="0"/>
              </a:spcAft>
              <a:buClr>
                <a:schemeClr val="accent2"/>
              </a:buClr>
              <a:buSzPts val="2400"/>
              <a:buFont typeface="IBM Plex Sans Light"/>
              <a:buChar char="╺"/>
              <a:defRPr sz="2400">
                <a:solidFill>
                  <a:schemeClr val="dk1"/>
                </a:solidFill>
                <a:latin typeface="IBM Plex Sans Light"/>
                <a:ea typeface="IBM Plex Sans Light"/>
                <a:cs typeface="IBM Plex Sans Light"/>
                <a:sym typeface="IBM Plex Sans Light"/>
              </a:defRPr>
            </a:lvl2pPr>
            <a:lvl3pPr marL="1371600" lvl="2" indent="-381000" rtl="0">
              <a:lnSpc>
                <a:spcPct val="115000"/>
              </a:lnSpc>
              <a:spcBef>
                <a:spcPts val="0"/>
              </a:spcBef>
              <a:spcAft>
                <a:spcPts val="0"/>
              </a:spcAft>
              <a:buClr>
                <a:schemeClr val="accent3"/>
              </a:buClr>
              <a:buSzPts val="2400"/>
              <a:buFont typeface="IBM Plex Sans Light"/>
              <a:buChar char="╺"/>
              <a:defRPr sz="2400">
                <a:solidFill>
                  <a:schemeClr val="dk1"/>
                </a:solidFill>
                <a:latin typeface="IBM Plex Sans Light"/>
                <a:ea typeface="IBM Plex Sans Light"/>
                <a:cs typeface="IBM Plex Sans Light"/>
                <a:sym typeface="IBM Plex Sans Light"/>
              </a:defRPr>
            </a:lvl3pPr>
            <a:lvl4pPr marL="1828800" lvl="3" indent="-381000" rtl="0">
              <a:lnSpc>
                <a:spcPct val="115000"/>
              </a:lnSpc>
              <a:spcBef>
                <a:spcPts val="0"/>
              </a:spcBef>
              <a:spcAft>
                <a:spcPts val="0"/>
              </a:spcAft>
              <a:buClr>
                <a:schemeClr val="lt2"/>
              </a:buClr>
              <a:buSzPts val="2400"/>
              <a:buFont typeface="IBM Plex Sans Light"/>
              <a:buChar char="╺"/>
              <a:defRPr sz="2400">
                <a:solidFill>
                  <a:schemeClr val="dk1"/>
                </a:solidFill>
                <a:latin typeface="IBM Plex Sans Light"/>
                <a:ea typeface="IBM Plex Sans Light"/>
                <a:cs typeface="IBM Plex Sans Light"/>
                <a:sym typeface="IBM Plex Sans Light"/>
              </a:defRPr>
            </a:lvl4pPr>
            <a:lvl5pPr marL="2286000" lvl="4" indent="-381000" rtl="0">
              <a:lnSpc>
                <a:spcPct val="115000"/>
              </a:lnSpc>
              <a:spcBef>
                <a:spcPts val="0"/>
              </a:spcBef>
              <a:spcAft>
                <a:spcPts val="0"/>
              </a:spcAft>
              <a:buClr>
                <a:schemeClr val="lt2"/>
              </a:buClr>
              <a:buSzPts val="2400"/>
              <a:buFont typeface="IBM Plex Sans Light"/>
              <a:buChar char="○"/>
              <a:defRPr sz="2400">
                <a:solidFill>
                  <a:schemeClr val="dk1"/>
                </a:solidFill>
                <a:latin typeface="IBM Plex Sans Light"/>
                <a:ea typeface="IBM Plex Sans Light"/>
                <a:cs typeface="IBM Plex Sans Light"/>
                <a:sym typeface="IBM Plex Sans Light"/>
              </a:defRPr>
            </a:lvl5pPr>
            <a:lvl6pPr marL="2743200" lvl="5" indent="-381000" rtl="0">
              <a:lnSpc>
                <a:spcPct val="115000"/>
              </a:lnSpc>
              <a:spcBef>
                <a:spcPts val="0"/>
              </a:spcBef>
              <a:spcAft>
                <a:spcPts val="0"/>
              </a:spcAft>
              <a:buClr>
                <a:schemeClr val="lt2"/>
              </a:buClr>
              <a:buSzPts val="2400"/>
              <a:buFont typeface="IBM Plex Sans Light"/>
              <a:buChar char="■"/>
              <a:defRPr sz="2400">
                <a:solidFill>
                  <a:schemeClr val="dk1"/>
                </a:solidFill>
                <a:latin typeface="IBM Plex Sans Light"/>
                <a:ea typeface="IBM Plex Sans Light"/>
                <a:cs typeface="IBM Plex Sans Light"/>
                <a:sym typeface="IBM Plex Sans Light"/>
              </a:defRPr>
            </a:lvl6pPr>
            <a:lvl7pPr marL="3200400" lvl="6" indent="-381000" rtl="0">
              <a:lnSpc>
                <a:spcPct val="115000"/>
              </a:lnSpc>
              <a:spcBef>
                <a:spcPts val="0"/>
              </a:spcBef>
              <a:spcAft>
                <a:spcPts val="0"/>
              </a:spcAft>
              <a:buClr>
                <a:schemeClr val="lt2"/>
              </a:buClr>
              <a:buSzPts val="2400"/>
              <a:buFont typeface="IBM Plex Sans Light"/>
              <a:buChar char="●"/>
              <a:defRPr sz="2400">
                <a:solidFill>
                  <a:schemeClr val="dk1"/>
                </a:solidFill>
                <a:latin typeface="IBM Plex Sans Light"/>
                <a:ea typeface="IBM Plex Sans Light"/>
                <a:cs typeface="IBM Plex Sans Light"/>
                <a:sym typeface="IBM Plex Sans Light"/>
              </a:defRPr>
            </a:lvl7pPr>
            <a:lvl8pPr marL="3657600" lvl="7" indent="-381000" rtl="0">
              <a:lnSpc>
                <a:spcPct val="115000"/>
              </a:lnSpc>
              <a:spcBef>
                <a:spcPts val="0"/>
              </a:spcBef>
              <a:spcAft>
                <a:spcPts val="0"/>
              </a:spcAft>
              <a:buClr>
                <a:schemeClr val="lt2"/>
              </a:buClr>
              <a:buSzPts val="2400"/>
              <a:buFont typeface="IBM Plex Sans Light"/>
              <a:buChar char="○"/>
              <a:defRPr sz="2400">
                <a:solidFill>
                  <a:schemeClr val="dk1"/>
                </a:solidFill>
                <a:latin typeface="IBM Plex Sans Light"/>
                <a:ea typeface="IBM Plex Sans Light"/>
                <a:cs typeface="IBM Plex Sans Light"/>
                <a:sym typeface="IBM Plex Sans Light"/>
              </a:defRPr>
            </a:lvl8pPr>
            <a:lvl9pPr marL="4114800" lvl="8" indent="-381000" rtl="0">
              <a:lnSpc>
                <a:spcPct val="115000"/>
              </a:lnSpc>
              <a:spcBef>
                <a:spcPts val="0"/>
              </a:spcBef>
              <a:spcAft>
                <a:spcPts val="0"/>
              </a:spcAft>
              <a:buClr>
                <a:schemeClr val="lt2"/>
              </a:buClr>
              <a:buSzPts val="2400"/>
              <a:buFont typeface="IBM Plex Sans Light"/>
              <a:buChar char="■"/>
              <a:defRPr sz="2400">
                <a:solidFill>
                  <a:schemeClr val="dk1"/>
                </a:solidFill>
                <a:latin typeface="IBM Plex Sans Light"/>
                <a:ea typeface="IBM Plex Sans Light"/>
                <a:cs typeface="IBM Plex Sans Light"/>
                <a:sym typeface="IBM Plex Sans Light"/>
              </a:defRPr>
            </a:lvl9pPr>
          </a:lstStyle>
          <a:p>
            <a:endParaRPr/>
          </a:p>
        </p:txBody>
      </p:sp>
      <p:sp>
        <p:nvSpPr>
          <p:cNvPr id="8" name="Google Shape;8;p1"/>
          <p:cNvSpPr txBox="1">
            <a:spLocks noGrp="1"/>
          </p:cNvSpPr>
          <p:nvPr>
            <p:ph type="sldNum" idx="12"/>
          </p:nvPr>
        </p:nvSpPr>
        <p:spPr>
          <a:xfrm>
            <a:off x="8557525" y="0"/>
            <a:ext cx="434100" cy="393600"/>
          </a:xfrm>
          <a:prstGeom prst="rect">
            <a:avLst/>
          </a:prstGeom>
          <a:noFill/>
          <a:ln>
            <a:noFill/>
          </a:ln>
        </p:spPr>
        <p:txBody>
          <a:bodyPr spcFirstLastPara="1" wrap="square" lIns="0" tIns="0" rIns="0" bIns="0" anchor="ctr" anchorCtr="0">
            <a:noAutofit/>
          </a:bodyPr>
          <a:lstStyle>
            <a:lvl1pPr lvl="0" algn="r" rtl="0">
              <a:buNone/>
              <a:defRPr sz="1200">
                <a:solidFill>
                  <a:schemeClr val="dk2"/>
                </a:solidFill>
                <a:latin typeface="IBM Plex Sans"/>
                <a:ea typeface="IBM Plex Sans"/>
                <a:cs typeface="IBM Plex Sans"/>
                <a:sym typeface="IBM Plex Sans"/>
              </a:defRPr>
            </a:lvl1pPr>
            <a:lvl2pPr lvl="1" algn="r" rtl="0">
              <a:buNone/>
              <a:defRPr sz="1200">
                <a:solidFill>
                  <a:schemeClr val="dk2"/>
                </a:solidFill>
                <a:latin typeface="IBM Plex Sans"/>
                <a:ea typeface="IBM Plex Sans"/>
                <a:cs typeface="IBM Plex Sans"/>
                <a:sym typeface="IBM Plex Sans"/>
              </a:defRPr>
            </a:lvl2pPr>
            <a:lvl3pPr lvl="2" algn="r" rtl="0">
              <a:buNone/>
              <a:defRPr sz="1200">
                <a:solidFill>
                  <a:schemeClr val="dk2"/>
                </a:solidFill>
                <a:latin typeface="IBM Plex Sans"/>
                <a:ea typeface="IBM Plex Sans"/>
                <a:cs typeface="IBM Plex Sans"/>
                <a:sym typeface="IBM Plex Sans"/>
              </a:defRPr>
            </a:lvl3pPr>
            <a:lvl4pPr lvl="3" algn="r" rtl="0">
              <a:buNone/>
              <a:defRPr sz="1200">
                <a:solidFill>
                  <a:schemeClr val="dk2"/>
                </a:solidFill>
                <a:latin typeface="IBM Plex Sans"/>
                <a:ea typeface="IBM Plex Sans"/>
                <a:cs typeface="IBM Plex Sans"/>
                <a:sym typeface="IBM Plex Sans"/>
              </a:defRPr>
            </a:lvl4pPr>
            <a:lvl5pPr lvl="4" algn="r" rtl="0">
              <a:buNone/>
              <a:defRPr sz="1200">
                <a:solidFill>
                  <a:schemeClr val="dk2"/>
                </a:solidFill>
                <a:latin typeface="IBM Plex Sans"/>
                <a:ea typeface="IBM Plex Sans"/>
                <a:cs typeface="IBM Plex Sans"/>
                <a:sym typeface="IBM Plex Sans"/>
              </a:defRPr>
            </a:lvl5pPr>
            <a:lvl6pPr lvl="5" algn="r" rtl="0">
              <a:buNone/>
              <a:defRPr sz="1200">
                <a:solidFill>
                  <a:schemeClr val="dk2"/>
                </a:solidFill>
                <a:latin typeface="IBM Plex Sans"/>
                <a:ea typeface="IBM Plex Sans"/>
                <a:cs typeface="IBM Plex Sans"/>
                <a:sym typeface="IBM Plex Sans"/>
              </a:defRPr>
            </a:lvl6pPr>
            <a:lvl7pPr lvl="6" algn="r" rtl="0">
              <a:buNone/>
              <a:defRPr sz="1200">
                <a:solidFill>
                  <a:schemeClr val="dk2"/>
                </a:solidFill>
                <a:latin typeface="IBM Plex Sans"/>
                <a:ea typeface="IBM Plex Sans"/>
                <a:cs typeface="IBM Plex Sans"/>
                <a:sym typeface="IBM Plex Sans"/>
              </a:defRPr>
            </a:lvl7pPr>
            <a:lvl8pPr lvl="7" algn="r" rtl="0">
              <a:buNone/>
              <a:defRPr sz="1200">
                <a:solidFill>
                  <a:schemeClr val="dk2"/>
                </a:solidFill>
                <a:latin typeface="IBM Plex Sans"/>
                <a:ea typeface="IBM Plex Sans"/>
                <a:cs typeface="IBM Plex Sans"/>
                <a:sym typeface="IBM Plex Sans"/>
              </a:defRPr>
            </a:lvl8pPr>
            <a:lvl9pPr lvl="8" algn="r" rtl="0">
              <a:buNone/>
              <a:defRPr sz="1200">
                <a:solidFill>
                  <a:schemeClr val="dk2"/>
                </a:solidFill>
                <a:latin typeface="IBM Plex Sans"/>
                <a:ea typeface="IBM Plex Sans"/>
                <a:cs typeface="IBM Plex Sans"/>
                <a:sym typeface="IBM Plex Sans"/>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3" r:id="rId4"/>
    <p:sldLayoutId id="2147483656" r:id="rId5"/>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s://www.kaggle.com/code/majidmh/wind-speed-prediction-regression/input" TargetMode="Externa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3.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4.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3.xml"/><Relationship Id="rId6" Type="http://schemas.openxmlformats.org/officeDocument/2006/relationships/image" Target="../media/image3.jpeg"/><Relationship Id="rId5" Type="http://schemas.openxmlformats.org/officeDocument/2006/relationships/image" Target="../media/image31.png"/><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image" Target="../media/image33.png"/><Relationship Id="rId7" Type="http://schemas.openxmlformats.org/officeDocument/2006/relationships/image" Target="../media/image12.png"/><Relationship Id="rId2" Type="http://schemas.openxmlformats.org/officeDocument/2006/relationships/image" Target="../media/image32.png"/><Relationship Id="rId1" Type="http://schemas.openxmlformats.org/officeDocument/2006/relationships/slideLayout" Target="../slideLayouts/slideLayout3.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3.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jpeg"/></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3.xml"/><Relationship Id="rId4" Type="http://schemas.openxmlformats.org/officeDocument/2006/relationships/image" Target="../media/image3.jpeg"/></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6"/>
        <p:cNvGrpSpPr/>
        <p:nvPr/>
      </p:nvGrpSpPr>
      <p:grpSpPr>
        <a:xfrm>
          <a:off x="0" y="0"/>
          <a:ext cx="0" cy="0"/>
          <a:chOff x="0" y="0"/>
          <a:chExt cx="0" cy="0"/>
        </a:xfrm>
      </p:grpSpPr>
      <p:sp>
        <p:nvSpPr>
          <p:cNvPr id="12" name="Flowchart: Delay 11"/>
          <p:cNvSpPr/>
          <p:nvPr/>
        </p:nvSpPr>
        <p:spPr>
          <a:xfrm>
            <a:off x="292057" y="3733170"/>
            <a:ext cx="2298743" cy="895980"/>
          </a:xfrm>
          <a:prstGeom prst="flowChartDelay">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dirty="0"/>
          </a:p>
        </p:txBody>
      </p:sp>
      <p:sp>
        <p:nvSpPr>
          <p:cNvPr id="11" name="Round Diagonal Corner Rectangle 10"/>
          <p:cNvSpPr/>
          <p:nvPr/>
        </p:nvSpPr>
        <p:spPr>
          <a:xfrm>
            <a:off x="5562600" y="3333750"/>
            <a:ext cx="3041848" cy="1417712"/>
          </a:xfrm>
          <a:prstGeom prst="round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16564" y="1901815"/>
            <a:ext cx="5620072" cy="1185664"/>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57" name="Google Shape;157;p15"/>
          <p:cNvSpPr txBox="1">
            <a:spLocks noGrp="1"/>
          </p:cNvSpPr>
          <p:nvPr>
            <p:ph type="ctrTitle"/>
          </p:nvPr>
        </p:nvSpPr>
        <p:spPr>
          <a:xfrm>
            <a:off x="346316" y="2178524"/>
            <a:ext cx="5119600" cy="762000"/>
          </a:xfrm>
          <a:prstGeom prst="rect">
            <a:avLst/>
          </a:prstGeom>
          <a:ln w="28575"/>
        </p:spPr>
        <p:txBody>
          <a:bodyPr spcFirstLastPara="1" wrap="square" lIns="0" tIns="0" rIns="0" bIns="0" anchor="ctr" anchorCtr="0">
            <a:noAutofit/>
          </a:bodyPr>
          <a:lstStyle/>
          <a:p>
            <a:pPr algn="ctr"/>
            <a:r>
              <a:rPr lang="en-US" sz="1600" dirty="0">
                <a:latin typeface="Times" panose="02020603050405020304" pitchFamily="18" charset="0"/>
                <a:cs typeface="Times" pitchFamily="18" charset="0"/>
              </a:rPr>
              <a:t>FROM REGRESSION MODELS TO DEEP LEARNING: A JOURNEY THROUGH WIND SPEED PREDICTION TECHNIQUES"</a:t>
            </a:r>
            <a:br>
              <a:rPr lang="en-US" sz="1600" dirty="0">
                <a:latin typeface="Times" panose="02020603050405020304" pitchFamily="18" charset="0"/>
                <a:cs typeface="Times" pitchFamily="18" charset="0"/>
              </a:rPr>
            </a:br>
            <a:endParaRPr lang="en-IN" sz="1600" b="0" dirty="0">
              <a:solidFill>
                <a:schemeClr val="tx1">
                  <a:lumMod val="75000"/>
                  <a:lumOff val="25000"/>
                </a:schemeClr>
              </a:solidFill>
              <a:latin typeface="Times" panose="02020603050405020304" pitchFamily="18" charset="0"/>
              <a:ea typeface="Microsoft Himalaya" pitchFamily="2" charset="0"/>
              <a:cs typeface="Times" pitchFamily="18" charset="0"/>
            </a:endParaRPr>
          </a:p>
        </p:txBody>
      </p:sp>
      <p:sp>
        <p:nvSpPr>
          <p:cNvPr id="3" name="Rectangle 2"/>
          <p:cNvSpPr/>
          <p:nvPr/>
        </p:nvSpPr>
        <p:spPr>
          <a:xfrm>
            <a:off x="802804" y="509453"/>
            <a:ext cx="4356720" cy="400110"/>
          </a:xfrm>
          <a:prstGeom prst="rect">
            <a:avLst/>
          </a:prstGeom>
        </p:spPr>
        <p:txBody>
          <a:bodyPr wrap="square">
            <a:spAutoFit/>
          </a:bodyPr>
          <a:lstStyle/>
          <a:p>
            <a:pPr algn="ctr"/>
            <a:r>
              <a:rPr lang="en-US" sz="1000" b="1" dirty="0">
                <a:latin typeface="Times" pitchFamily="18" charset="0"/>
                <a:cs typeface="Times New Roman" panose="02020603050405020304" pitchFamily="18" charset="0"/>
              </a:rPr>
              <a:t>DEPARTMENT OF COMPUTER SCIENCE</a:t>
            </a:r>
            <a:br>
              <a:rPr lang="en-US" sz="1000" b="1" dirty="0">
                <a:latin typeface="Times" pitchFamily="18" charset="0"/>
                <a:cs typeface="Times New Roman" panose="02020603050405020304" pitchFamily="18" charset="0"/>
              </a:rPr>
            </a:br>
            <a:r>
              <a:rPr lang="en-US" sz="1000" b="1" dirty="0">
                <a:latin typeface="Times" pitchFamily="18" charset="0"/>
                <a:cs typeface="Times New Roman" panose="02020603050405020304" pitchFamily="18" charset="0"/>
              </a:rPr>
              <a:t>WRIGHT STATE UNIVERSITY </a:t>
            </a:r>
            <a:endParaRPr lang="en-US" sz="1000" dirty="0">
              <a:latin typeface="Times" pitchFamily="18" charset="0"/>
            </a:endParaRPr>
          </a:p>
        </p:txBody>
      </p:sp>
      <p:sp>
        <p:nvSpPr>
          <p:cNvPr id="5" name="Rectangle 4"/>
          <p:cNvSpPr/>
          <p:nvPr/>
        </p:nvSpPr>
        <p:spPr>
          <a:xfrm>
            <a:off x="325924" y="1247477"/>
            <a:ext cx="3744415" cy="307777"/>
          </a:xfrm>
          <a:prstGeom prst="rect">
            <a:avLst/>
          </a:prstGeom>
        </p:spPr>
        <p:txBody>
          <a:bodyPr wrap="square">
            <a:spAutoFit/>
          </a:bodyPr>
          <a:lstStyle/>
          <a:p>
            <a:pPr algn="ctr"/>
            <a:r>
              <a:rPr lang="en-US" b="1" dirty="0">
                <a:solidFill>
                  <a:schemeClr val="tx1"/>
                </a:solidFill>
                <a:latin typeface="Times New Roman" panose="02020603050405020304" pitchFamily="18" charset="0"/>
                <a:cs typeface="Times New Roman" panose="02020603050405020304" pitchFamily="18" charset="0"/>
              </a:rPr>
              <a:t>PROJECT PRESENTATION </a:t>
            </a:r>
          </a:p>
        </p:txBody>
      </p:sp>
      <p:sp>
        <p:nvSpPr>
          <p:cNvPr id="6" name="Rectangle 5"/>
          <p:cNvSpPr/>
          <p:nvPr/>
        </p:nvSpPr>
        <p:spPr>
          <a:xfrm>
            <a:off x="13855" y="3910772"/>
            <a:ext cx="2736304" cy="523220"/>
          </a:xfrm>
          <a:prstGeom prst="rect">
            <a:avLst/>
          </a:prstGeom>
        </p:spPr>
        <p:txBody>
          <a:bodyPr wrap="square">
            <a:spAutoFit/>
          </a:bodyPr>
          <a:lstStyle/>
          <a:p>
            <a:pPr algn="ctr"/>
            <a:r>
              <a:rPr lang="en-US" dirty="0">
                <a:latin typeface="Times New Roman" panose="02020603050405020304" pitchFamily="18" charset="0"/>
                <a:cs typeface="Times New Roman" panose="02020603050405020304" pitchFamily="18" charset="0"/>
              </a:rPr>
              <a:t>Under the guidance of </a:t>
            </a:r>
          </a:p>
          <a:p>
            <a:pPr algn="ctr"/>
            <a:endParaRPr lang="en-US" b="1" dirty="0">
              <a:latin typeface="Times New Roman" panose="02020603050405020304" pitchFamily="18" charset="0"/>
              <a:cs typeface="Times New Roman" panose="02020603050405020304" pitchFamily="18" charset="0"/>
            </a:endParaRPr>
          </a:p>
        </p:txBody>
      </p:sp>
      <p:sp>
        <p:nvSpPr>
          <p:cNvPr id="7" name="Rectangle 6"/>
          <p:cNvSpPr/>
          <p:nvPr/>
        </p:nvSpPr>
        <p:spPr>
          <a:xfrm>
            <a:off x="5229064" y="3507854"/>
            <a:ext cx="3519400" cy="1138773"/>
          </a:xfrm>
          <a:prstGeom prst="rect">
            <a:avLst/>
          </a:prstGeom>
        </p:spPr>
        <p:style>
          <a:lnRef idx="3">
            <a:schemeClr val="lt1"/>
          </a:lnRef>
          <a:fillRef idx="1">
            <a:schemeClr val="accent3"/>
          </a:fillRef>
          <a:effectRef idx="1">
            <a:schemeClr val="accent3"/>
          </a:effectRef>
          <a:fontRef idx="minor">
            <a:schemeClr val="lt1"/>
          </a:fontRef>
        </p:style>
        <p:txBody>
          <a:bodyPr wrap="square">
            <a:spAutoFit/>
          </a:bodyPr>
          <a:lstStyle/>
          <a:p>
            <a:pPr algn="ctr"/>
            <a:r>
              <a:rPr lang="en-US" dirty="0">
                <a:solidFill>
                  <a:schemeClr val="tx1"/>
                </a:solidFill>
                <a:latin typeface="Times" panose="02020603050405020304" pitchFamily="18" charset="0"/>
                <a:cs typeface="Times" panose="02020603050405020304" pitchFamily="18" charset="0"/>
              </a:rPr>
              <a:t>Presented by</a:t>
            </a:r>
          </a:p>
          <a:p>
            <a:pPr algn="ctr"/>
            <a:r>
              <a:rPr lang="en-US" sz="1000" b="1" dirty="0">
                <a:solidFill>
                  <a:schemeClr val="tx1"/>
                </a:solidFill>
                <a:latin typeface="Times" panose="02020603050405020304" pitchFamily="18" charset="0"/>
                <a:cs typeface="Times" panose="02020603050405020304" pitchFamily="18" charset="0"/>
              </a:rPr>
              <a:t>MADHURI BANDARI – U01093236</a:t>
            </a:r>
          </a:p>
          <a:p>
            <a:pPr algn="ctr"/>
            <a:r>
              <a:rPr lang="en-US" sz="1000" b="1" i="0" u="none" strike="noStrike" baseline="0" dirty="0">
                <a:solidFill>
                  <a:srgbClr val="000000"/>
                </a:solidFill>
                <a:latin typeface="Times" panose="02020603050405020304" pitchFamily="18" charset="0"/>
                <a:cs typeface="Times" panose="02020603050405020304" pitchFamily="18" charset="0"/>
              </a:rPr>
              <a:t>MANOJ KUMAR REDDY AVULA </a:t>
            </a:r>
            <a:r>
              <a:rPr lang="en-US" sz="1000" b="1" dirty="0">
                <a:solidFill>
                  <a:schemeClr val="tx1"/>
                </a:solidFill>
                <a:latin typeface="Times" panose="02020603050405020304" pitchFamily="18" charset="0"/>
                <a:cs typeface="Times" panose="02020603050405020304" pitchFamily="18" charset="0"/>
              </a:rPr>
              <a:t>– U01067535</a:t>
            </a:r>
            <a:r>
              <a:rPr lang="en-US" sz="1000" b="1" i="0" u="none" strike="noStrike" baseline="0" dirty="0">
                <a:solidFill>
                  <a:srgbClr val="000000"/>
                </a:solidFill>
                <a:latin typeface="Times" panose="02020603050405020304" pitchFamily="18" charset="0"/>
                <a:cs typeface="Times" panose="02020603050405020304" pitchFamily="18" charset="0"/>
              </a:rPr>
              <a:t>   </a:t>
            </a:r>
          </a:p>
          <a:p>
            <a:pPr algn="ctr"/>
            <a:r>
              <a:rPr lang="en-US" sz="1000" b="1" i="0" u="none" strike="noStrike" baseline="0" dirty="0">
                <a:solidFill>
                  <a:srgbClr val="000000"/>
                </a:solidFill>
                <a:latin typeface="Times" panose="02020603050405020304" pitchFamily="18" charset="0"/>
                <a:cs typeface="Times" panose="02020603050405020304" pitchFamily="18" charset="0"/>
              </a:rPr>
              <a:t>VENKATA SIREESHA MARELLA</a:t>
            </a:r>
            <a:r>
              <a:rPr lang="en-US" sz="1000" b="1" dirty="0">
                <a:solidFill>
                  <a:schemeClr val="tx1"/>
                </a:solidFill>
                <a:latin typeface="Times" panose="02020603050405020304" pitchFamily="18" charset="0"/>
                <a:cs typeface="Times" panose="02020603050405020304" pitchFamily="18" charset="0"/>
              </a:rPr>
              <a:t> – U01097234</a:t>
            </a:r>
            <a:r>
              <a:rPr lang="en-US" sz="1000" b="1" i="0" u="none" strike="noStrike" baseline="0" dirty="0">
                <a:solidFill>
                  <a:srgbClr val="000000"/>
                </a:solidFill>
                <a:latin typeface="Times" panose="02020603050405020304" pitchFamily="18" charset="0"/>
                <a:cs typeface="Times" panose="02020603050405020304" pitchFamily="18" charset="0"/>
              </a:rPr>
              <a:t> </a:t>
            </a:r>
          </a:p>
          <a:p>
            <a:pPr algn="ctr"/>
            <a:r>
              <a:rPr lang="en-US" sz="1000" b="1" i="0" u="none" strike="noStrike" baseline="0" dirty="0">
                <a:solidFill>
                  <a:srgbClr val="000000"/>
                </a:solidFill>
                <a:latin typeface="Times" panose="02020603050405020304" pitchFamily="18" charset="0"/>
                <a:cs typeface="Times" panose="02020603050405020304" pitchFamily="18" charset="0"/>
              </a:rPr>
              <a:t>UDATHA KAVYA SRI</a:t>
            </a:r>
            <a:r>
              <a:rPr lang="en-US" sz="1000" b="1" dirty="0">
                <a:solidFill>
                  <a:schemeClr val="tx1"/>
                </a:solidFill>
                <a:latin typeface="Times" panose="02020603050405020304" pitchFamily="18" charset="0"/>
                <a:cs typeface="Times" panose="02020603050405020304" pitchFamily="18" charset="0"/>
              </a:rPr>
              <a:t> – U01096839</a:t>
            </a:r>
            <a:r>
              <a:rPr lang="en-US" sz="1000" b="1" i="0" u="none" strike="noStrike" baseline="0" dirty="0">
                <a:solidFill>
                  <a:srgbClr val="000000"/>
                </a:solidFill>
                <a:latin typeface="Times" panose="02020603050405020304" pitchFamily="18" charset="0"/>
                <a:cs typeface="Times" panose="02020603050405020304" pitchFamily="18" charset="0"/>
              </a:rPr>
              <a:t> </a:t>
            </a:r>
          </a:p>
          <a:p>
            <a:pPr algn="ctr"/>
            <a:endParaRPr lang="en-US" b="1" dirty="0">
              <a:solidFill>
                <a:schemeClr val="tx1"/>
              </a:solidFill>
              <a:latin typeface="Times" panose="02020603050405020304" pitchFamily="18" charset="0"/>
              <a:cs typeface="Times" panose="02020603050405020304" pitchFamily="18" charset="0"/>
            </a:endParaRPr>
          </a:p>
        </p:txBody>
      </p:sp>
      <p:pic>
        <p:nvPicPr>
          <p:cNvPr id="1026" name="Picture 2" descr="Primary Logo and Wordmark | Brand &amp; Marketing | Wright State University">
            <a:extLst>
              <a:ext uri="{FF2B5EF4-FFF2-40B4-BE49-F238E27FC236}">
                <a16:creationId xmlns:a16="http://schemas.microsoft.com/office/drawing/2014/main" id="{8E4434BD-656C-02A8-2F96-1746CA3BB9F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9673" y="325277"/>
            <a:ext cx="1074951" cy="532831"/>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EE440260-6DD7-9E87-BDAA-77955DCEBE35}"/>
              </a:ext>
            </a:extLst>
          </p:cNvPr>
          <p:cNvSpPr txBox="1"/>
          <p:nvPr/>
        </p:nvSpPr>
        <p:spPr>
          <a:xfrm>
            <a:off x="696207" y="4131186"/>
            <a:ext cx="1371600" cy="276999"/>
          </a:xfrm>
          <a:prstGeom prst="rect">
            <a:avLst/>
          </a:prstGeom>
          <a:noFill/>
        </p:spPr>
        <p:txBody>
          <a:bodyPr wrap="square">
            <a:spAutoFit/>
          </a:bodyPr>
          <a:lstStyle/>
          <a:p>
            <a:r>
              <a:rPr lang="en-US" sz="1200" b="0" i="0" dirty="0">
                <a:solidFill>
                  <a:srgbClr val="2E2D29"/>
                </a:solidFill>
                <a:effectLst/>
                <a:latin typeface="Times" panose="02020603050405020304" pitchFamily="18" charset="0"/>
                <a:cs typeface="Times" panose="02020603050405020304" pitchFamily="18" charset="0"/>
              </a:rPr>
              <a:t>Dr. Tanvi Banerjee</a:t>
            </a:r>
            <a:endParaRPr lang="en-US" sz="1200" dirty="0">
              <a:latin typeface="Times" panose="02020603050405020304" pitchFamily="18" charset="0"/>
              <a:cs typeface="Times"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16"/>
          <p:cNvSpPr txBox="1">
            <a:spLocks noGrp="1"/>
          </p:cNvSpPr>
          <p:nvPr>
            <p:ph type="title"/>
          </p:nvPr>
        </p:nvSpPr>
        <p:spPr>
          <a:xfrm>
            <a:off x="914400" y="408418"/>
            <a:ext cx="6026700" cy="1023125"/>
          </a:xfrm>
          <a:prstGeom prst="rect">
            <a:avLst/>
          </a:prstGeom>
        </p:spPr>
        <p:txBody>
          <a:bodyPr spcFirstLastPara="1" wrap="square" lIns="0" tIns="0" rIns="0" bIns="0" anchor="ctr" anchorCtr="0">
            <a:noAutofit/>
          </a:bodyPr>
          <a:lstStyle/>
          <a:p>
            <a:pPr lvl="0"/>
            <a:r>
              <a:rPr lang="en-IN" sz="1400" dirty="0">
                <a:latin typeface="Times" panose="02020603050405020304" pitchFamily="18" charset="0"/>
                <a:cs typeface="Times" panose="02020603050405020304" pitchFamily="18" charset="0"/>
              </a:rPr>
              <a:t>CONTENTS</a:t>
            </a:r>
          </a:p>
        </p:txBody>
      </p:sp>
      <p:sp>
        <p:nvSpPr>
          <p:cNvPr id="166" name="Google Shape;166;p16"/>
          <p:cNvSpPr txBox="1">
            <a:spLocks noGrp="1"/>
          </p:cNvSpPr>
          <p:nvPr>
            <p:ph type="sldNum" idx="12"/>
          </p:nvPr>
        </p:nvSpPr>
        <p:spPr>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a:t>
            </a:fld>
            <a:endParaRPr/>
          </a:p>
        </p:txBody>
      </p:sp>
      <p:sp>
        <p:nvSpPr>
          <p:cNvPr id="7" name="Text Placeholder 6"/>
          <p:cNvSpPr>
            <a:spLocks noGrp="1"/>
          </p:cNvSpPr>
          <p:nvPr>
            <p:ph type="body" idx="1"/>
          </p:nvPr>
        </p:nvSpPr>
        <p:spPr>
          <a:xfrm>
            <a:off x="533400" y="1540935"/>
            <a:ext cx="7344816" cy="2392074"/>
          </a:xfrm>
        </p:spPr>
        <p:txBody>
          <a:bodyPr/>
          <a:lstStyle/>
          <a:p>
            <a:pPr>
              <a:lnSpc>
                <a:spcPct val="150000"/>
              </a:lnSpc>
              <a:buFont typeface="Wingdings" pitchFamily="2" charset="2"/>
              <a:buChar char="§"/>
            </a:pPr>
            <a:r>
              <a:rPr lang="en-US" sz="1000" b="1" dirty="0">
                <a:solidFill>
                  <a:srgbClr val="0070C0"/>
                </a:solidFill>
                <a:latin typeface="Times New Roman" panose="02020603050405020304" pitchFamily="18" charset="0"/>
                <a:cs typeface="Times New Roman" panose="02020603050405020304" pitchFamily="18" charset="0"/>
              </a:rPr>
              <a:t>ABSTRACT</a:t>
            </a:r>
          </a:p>
          <a:p>
            <a:pPr>
              <a:lnSpc>
                <a:spcPct val="150000"/>
              </a:lnSpc>
              <a:buFont typeface="Wingdings" pitchFamily="2" charset="2"/>
              <a:buChar char="§"/>
            </a:pPr>
            <a:r>
              <a:rPr lang="en-IN" sz="1000" b="1" dirty="0">
                <a:solidFill>
                  <a:srgbClr val="0070C0"/>
                </a:solidFill>
                <a:latin typeface="Times New Roman" panose="02020603050405020304" pitchFamily="18" charset="0"/>
                <a:cs typeface="Times New Roman" panose="02020603050405020304" pitchFamily="18" charset="0"/>
              </a:rPr>
              <a:t>OBJECTIVE OF THE PROJECT &amp; DATASET OVERVIEW</a:t>
            </a:r>
          </a:p>
          <a:p>
            <a:pPr>
              <a:lnSpc>
                <a:spcPct val="150000"/>
              </a:lnSpc>
              <a:buFont typeface="Wingdings" pitchFamily="2" charset="2"/>
              <a:buChar char="§"/>
            </a:pPr>
            <a:r>
              <a:rPr lang="en-US" sz="1000" b="1" dirty="0">
                <a:solidFill>
                  <a:srgbClr val="0070C0"/>
                </a:solidFill>
                <a:latin typeface="Times New Roman" panose="02020603050405020304" pitchFamily="18" charset="0"/>
                <a:cs typeface="Times New Roman" panose="02020603050405020304" pitchFamily="18" charset="0"/>
              </a:rPr>
              <a:t>EDA ( EXPLORATORY DATA ANALYSIS)</a:t>
            </a:r>
          </a:p>
          <a:p>
            <a:pPr>
              <a:lnSpc>
                <a:spcPct val="150000"/>
              </a:lnSpc>
              <a:buFont typeface="Wingdings" pitchFamily="2" charset="2"/>
              <a:buChar char="§"/>
            </a:pPr>
            <a:r>
              <a:rPr lang="en-US" sz="1000" b="1" dirty="0">
                <a:solidFill>
                  <a:srgbClr val="0070C0"/>
                </a:solidFill>
                <a:latin typeface="Times New Roman" panose="02020603050405020304" pitchFamily="18" charset="0"/>
                <a:cs typeface="Times New Roman" panose="02020603050405020304" pitchFamily="18" charset="0"/>
              </a:rPr>
              <a:t>MODELS USED</a:t>
            </a:r>
          </a:p>
          <a:p>
            <a:pPr>
              <a:lnSpc>
                <a:spcPct val="150000"/>
              </a:lnSpc>
              <a:buFont typeface="Wingdings" pitchFamily="2" charset="2"/>
              <a:buChar char="§"/>
            </a:pPr>
            <a:r>
              <a:rPr lang="en-US" sz="1000" b="1" dirty="0">
                <a:solidFill>
                  <a:srgbClr val="0070C0"/>
                </a:solidFill>
                <a:latin typeface="Times New Roman" panose="02020603050405020304" pitchFamily="18" charset="0"/>
                <a:cs typeface="Times New Roman" panose="02020603050405020304" pitchFamily="18" charset="0"/>
              </a:rPr>
              <a:t>CALCULATION AND CASE STUDY</a:t>
            </a:r>
          </a:p>
          <a:p>
            <a:pPr>
              <a:lnSpc>
                <a:spcPct val="150000"/>
              </a:lnSpc>
              <a:buFont typeface="Wingdings" pitchFamily="2" charset="2"/>
              <a:buChar char="§"/>
            </a:pPr>
            <a:r>
              <a:rPr lang="en-US" sz="1000" b="1" dirty="0">
                <a:solidFill>
                  <a:srgbClr val="0070C0"/>
                </a:solidFill>
                <a:latin typeface="Times New Roman" panose="02020603050405020304" pitchFamily="18" charset="0"/>
                <a:cs typeface="Times New Roman" panose="02020603050405020304" pitchFamily="18" charset="0"/>
              </a:rPr>
              <a:t>LSTM (BEST MODEL)</a:t>
            </a:r>
          </a:p>
          <a:p>
            <a:pPr>
              <a:lnSpc>
                <a:spcPct val="150000"/>
              </a:lnSpc>
              <a:buFont typeface="Wingdings" pitchFamily="2" charset="2"/>
              <a:buChar char="§"/>
            </a:pPr>
            <a:r>
              <a:rPr lang="en-US" sz="1000" b="1" dirty="0">
                <a:solidFill>
                  <a:srgbClr val="0070C0"/>
                </a:solidFill>
                <a:latin typeface="Times New Roman" panose="02020603050405020304" pitchFamily="18" charset="0"/>
                <a:cs typeface="Times New Roman" panose="02020603050405020304" pitchFamily="18" charset="0"/>
              </a:rPr>
              <a:t>RESULTS</a:t>
            </a:r>
          </a:p>
          <a:p>
            <a:pPr>
              <a:lnSpc>
                <a:spcPct val="150000"/>
              </a:lnSpc>
              <a:buFont typeface="Wingdings" pitchFamily="2" charset="2"/>
              <a:buChar char="§"/>
            </a:pPr>
            <a:r>
              <a:rPr lang="en-US" sz="1000" b="1" dirty="0">
                <a:solidFill>
                  <a:srgbClr val="0070C0"/>
                </a:solidFill>
                <a:latin typeface="Times New Roman" panose="02020603050405020304" pitchFamily="18" charset="0"/>
                <a:cs typeface="Times New Roman" panose="02020603050405020304" pitchFamily="18" charset="0"/>
              </a:rPr>
              <a:t>CONCLUSION</a:t>
            </a:r>
          </a:p>
        </p:txBody>
      </p:sp>
      <p:pic>
        <p:nvPicPr>
          <p:cNvPr id="2" name="Picture 7" descr="Wind Turbine Efficiency: How Has It Improved Over Time? - Lumify Energy">
            <a:extLst>
              <a:ext uri="{FF2B5EF4-FFF2-40B4-BE49-F238E27FC236}">
                <a16:creationId xmlns:a16="http://schemas.microsoft.com/office/drawing/2014/main" id="{366E4087-96D0-62D9-4CE0-B9CD7A4181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54354" y="502992"/>
            <a:ext cx="1252254" cy="83397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EB7B958-5D7D-34C0-B44A-FC55FC7A471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3</a:t>
            </a:fld>
            <a:endParaRPr lang="en"/>
          </a:p>
        </p:txBody>
      </p:sp>
      <p:sp>
        <p:nvSpPr>
          <p:cNvPr id="4" name="Title 3">
            <a:extLst>
              <a:ext uri="{FF2B5EF4-FFF2-40B4-BE49-F238E27FC236}">
                <a16:creationId xmlns:a16="http://schemas.microsoft.com/office/drawing/2014/main" id="{6189ACD2-BC64-A3DC-0E4C-B25FE82EBBE6}"/>
              </a:ext>
            </a:extLst>
          </p:cNvPr>
          <p:cNvSpPr>
            <a:spLocks noGrp="1"/>
          </p:cNvSpPr>
          <p:nvPr>
            <p:ph type="title"/>
          </p:nvPr>
        </p:nvSpPr>
        <p:spPr/>
        <p:txBody>
          <a:bodyPr/>
          <a:lstStyle/>
          <a:p>
            <a:r>
              <a:rPr lang="en-US" sz="1600" dirty="0">
                <a:latin typeface="Times" panose="02020603050405020304" pitchFamily="18" charset="0"/>
                <a:cs typeface="Times" panose="02020603050405020304" pitchFamily="18" charset="0"/>
              </a:rPr>
              <a:t>ABSTRACT</a:t>
            </a:r>
          </a:p>
        </p:txBody>
      </p:sp>
      <p:sp>
        <p:nvSpPr>
          <p:cNvPr id="8" name="TextBox 7">
            <a:extLst>
              <a:ext uri="{FF2B5EF4-FFF2-40B4-BE49-F238E27FC236}">
                <a16:creationId xmlns:a16="http://schemas.microsoft.com/office/drawing/2014/main" id="{7F498E60-C1E5-4A6C-7E61-E3EAEBA166E4}"/>
              </a:ext>
            </a:extLst>
          </p:cNvPr>
          <p:cNvSpPr txBox="1"/>
          <p:nvPr/>
        </p:nvSpPr>
        <p:spPr>
          <a:xfrm>
            <a:off x="457200" y="1504950"/>
            <a:ext cx="7467600" cy="3065519"/>
          </a:xfrm>
          <a:prstGeom prst="rect">
            <a:avLst/>
          </a:prstGeom>
          <a:noFill/>
        </p:spPr>
        <p:txBody>
          <a:bodyPr wrap="square">
            <a:spAutoFit/>
          </a:bodyPr>
          <a:lstStyle/>
          <a:p>
            <a:pPr marL="171450" indent="-171450" algn="just">
              <a:lnSpc>
                <a:spcPct val="150000"/>
              </a:lnSpc>
              <a:buFont typeface="Arial" panose="020B0604020202020204" pitchFamily="34" charset="0"/>
              <a:buChar char="•"/>
            </a:pPr>
            <a:r>
              <a:rPr lang="en-US" sz="1000" dirty="0">
                <a:latin typeface="Times" panose="02020603050405020304" pitchFamily="18" charset="0"/>
                <a:cs typeface="Times" panose="02020603050405020304" pitchFamily="18" charset="0"/>
              </a:rPr>
              <a:t>In recent years, wind energy has emerged as a critical sustainable energy resource due to its eco-friendly, carbon-free, and non-polluting nature. Accurate wind speed forecasting plays a vital role in optimizing the use of wind energy for power generation.</a:t>
            </a:r>
          </a:p>
          <a:p>
            <a:pPr marL="171450" indent="-171450" algn="just">
              <a:lnSpc>
                <a:spcPct val="150000"/>
              </a:lnSpc>
              <a:buFont typeface="Arial" panose="020B0604020202020204" pitchFamily="34" charset="0"/>
              <a:buChar char="•"/>
            </a:pPr>
            <a:r>
              <a:rPr lang="en-US" sz="1000" dirty="0">
                <a:latin typeface="Times" panose="02020603050405020304" pitchFamily="18" charset="0"/>
                <a:cs typeface="Times" panose="02020603050405020304" pitchFamily="18" charset="0"/>
              </a:rPr>
              <a:t>In this project, multiple machine learning models — including Linear Regression, K-Nearest Neighbors (KNN), Random Forest, and Long Short-Term Memory (LSTM) networks were implemented to predict wind speed based on meteorological features.</a:t>
            </a:r>
          </a:p>
          <a:p>
            <a:pPr marL="171450" indent="-171450" algn="just">
              <a:lnSpc>
                <a:spcPct val="150000"/>
              </a:lnSpc>
              <a:buFont typeface="Arial" panose="020B0604020202020204" pitchFamily="34" charset="0"/>
              <a:buChar char="•"/>
            </a:pPr>
            <a:r>
              <a:rPr lang="en-US" sz="1000" dirty="0">
                <a:latin typeface="Times" panose="02020603050405020304" pitchFamily="18" charset="0"/>
                <a:cs typeface="Times" panose="02020603050405020304" pitchFamily="18" charset="0"/>
              </a:rPr>
              <a:t>Special attention was given to data preprocessing, where missing values were handled using different strategies: </a:t>
            </a:r>
            <a:r>
              <a:rPr lang="en-US" sz="1000" b="1" dirty="0">
                <a:latin typeface="Times" panose="02020603050405020304" pitchFamily="18" charset="0"/>
                <a:cs typeface="Times" panose="02020603050405020304" pitchFamily="18" charset="0"/>
              </a:rPr>
              <a:t>dropping missing entries, forward fill, and mean fill methods. </a:t>
            </a:r>
          </a:p>
          <a:p>
            <a:pPr marL="171450" indent="-171450" algn="just">
              <a:lnSpc>
                <a:spcPct val="150000"/>
              </a:lnSpc>
              <a:buFont typeface="Arial" panose="020B0604020202020204" pitchFamily="34" charset="0"/>
              <a:buChar char="•"/>
            </a:pPr>
            <a:r>
              <a:rPr lang="en-US" sz="1000" dirty="0">
                <a:latin typeface="Times" panose="02020603050405020304" pitchFamily="18" charset="0"/>
                <a:cs typeface="Times" panose="02020603050405020304" pitchFamily="18" charset="0"/>
              </a:rPr>
              <a:t>The models were evaluated using statistical error metrics such as Mean Squared Error (MSE), Root Mean Squared Error (RMSE) and Mean Absolute Error (MAE).</a:t>
            </a:r>
          </a:p>
          <a:p>
            <a:pPr marL="171450" indent="-171450" algn="just">
              <a:lnSpc>
                <a:spcPct val="150000"/>
              </a:lnSpc>
              <a:buFont typeface="Arial" panose="020B0604020202020204" pitchFamily="34" charset="0"/>
              <a:buChar char="•"/>
            </a:pPr>
            <a:r>
              <a:rPr lang="en-US" sz="1000" dirty="0">
                <a:latin typeface="Times" panose="02020603050405020304" pitchFamily="18" charset="0"/>
                <a:cs typeface="Times" panose="02020603050405020304" pitchFamily="18" charset="0"/>
              </a:rPr>
              <a:t>Among all the models, the LSTM network demonstrated the best performance, significantly outperforming traditional machine learning approaches. It captured the sequential patterns in the wind speed time series data effectively, providing highly accurate predictions.</a:t>
            </a:r>
          </a:p>
          <a:p>
            <a:pPr marL="171450" indent="-171450" algn="just">
              <a:lnSpc>
                <a:spcPct val="150000"/>
              </a:lnSpc>
              <a:buFont typeface="Arial" panose="020B0604020202020204" pitchFamily="34" charset="0"/>
              <a:buChar char="•"/>
            </a:pPr>
            <a:r>
              <a:rPr lang="en-US" sz="1000" dirty="0">
                <a:latin typeface="Times" panose="02020603050405020304" pitchFamily="18" charset="0"/>
                <a:cs typeface="Times" panose="02020603050405020304" pitchFamily="18" charset="0"/>
              </a:rPr>
              <a:t>The results validated that deep learning approaches, specifically LSTM models combined with careful data preprocessing, offer a promising solution for reliable short-term wind speed forecasting.</a:t>
            </a:r>
          </a:p>
          <a:p>
            <a:pPr algn="just">
              <a:lnSpc>
                <a:spcPct val="150000"/>
              </a:lnSpc>
            </a:pPr>
            <a:endParaRPr lang="en-US" sz="1000" dirty="0">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33930751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692A5C9-4A2D-DCC3-3E30-B9B0D57327D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4</a:t>
            </a:fld>
            <a:endParaRPr lang="en"/>
          </a:p>
        </p:txBody>
      </p:sp>
      <p:sp>
        <p:nvSpPr>
          <p:cNvPr id="4" name="Title 3">
            <a:extLst>
              <a:ext uri="{FF2B5EF4-FFF2-40B4-BE49-F238E27FC236}">
                <a16:creationId xmlns:a16="http://schemas.microsoft.com/office/drawing/2014/main" id="{39AEB762-F952-C2F5-D033-9CEF24714F46}"/>
              </a:ext>
            </a:extLst>
          </p:cNvPr>
          <p:cNvSpPr>
            <a:spLocks noGrp="1"/>
          </p:cNvSpPr>
          <p:nvPr>
            <p:ph type="title"/>
          </p:nvPr>
        </p:nvSpPr>
        <p:spPr/>
        <p:txBody>
          <a:bodyPr/>
          <a:lstStyle/>
          <a:p>
            <a:pPr algn="ctr"/>
            <a:r>
              <a:rPr lang="en-US" sz="1400" dirty="0">
                <a:latin typeface="Times New Roman" panose="02020603050405020304" pitchFamily="18" charset="0"/>
                <a:cs typeface="Times New Roman" panose="02020603050405020304" pitchFamily="18" charset="0"/>
              </a:rPr>
              <a:t>OBJECTIVE OF THE PROJECT &amp; DATASET OVERVIEW</a:t>
            </a:r>
            <a:endParaRPr lang="en-US" sz="1400" dirty="0"/>
          </a:p>
        </p:txBody>
      </p:sp>
      <p:graphicFrame>
        <p:nvGraphicFramePr>
          <p:cNvPr id="8" name="Table 7">
            <a:extLst>
              <a:ext uri="{FF2B5EF4-FFF2-40B4-BE49-F238E27FC236}">
                <a16:creationId xmlns:a16="http://schemas.microsoft.com/office/drawing/2014/main" id="{C9FAB300-ED6F-D3DD-6298-E7E88035532C}"/>
              </a:ext>
            </a:extLst>
          </p:cNvPr>
          <p:cNvGraphicFramePr>
            <a:graphicFrameLocks noGrp="1"/>
          </p:cNvGraphicFramePr>
          <p:nvPr>
            <p:extLst>
              <p:ext uri="{D42A27DB-BD31-4B8C-83A1-F6EECF244321}">
                <p14:modId xmlns:p14="http://schemas.microsoft.com/office/powerpoint/2010/main" val="3597094478"/>
              </p:ext>
            </p:extLst>
          </p:nvPr>
        </p:nvGraphicFramePr>
        <p:xfrm>
          <a:off x="4534722" y="1611738"/>
          <a:ext cx="4171886" cy="2991453"/>
        </p:xfrm>
        <a:graphic>
          <a:graphicData uri="http://schemas.openxmlformats.org/drawingml/2006/table">
            <a:tbl>
              <a:tblPr firstRow="1" firstCol="1" bandRow="1">
                <a:tableStyleId>{AD84D997-8D4E-4861-8B80-C6579219E408}</a:tableStyleId>
              </a:tblPr>
              <a:tblGrid>
                <a:gridCol w="1200997">
                  <a:extLst>
                    <a:ext uri="{9D8B030D-6E8A-4147-A177-3AD203B41FA5}">
                      <a16:colId xmlns:a16="http://schemas.microsoft.com/office/drawing/2014/main" val="1272326436"/>
                    </a:ext>
                  </a:extLst>
                </a:gridCol>
                <a:gridCol w="2970889">
                  <a:extLst>
                    <a:ext uri="{9D8B030D-6E8A-4147-A177-3AD203B41FA5}">
                      <a16:colId xmlns:a16="http://schemas.microsoft.com/office/drawing/2014/main" val="3150453557"/>
                    </a:ext>
                  </a:extLst>
                </a:gridCol>
              </a:tblGrid>
              <a:tr h="299067">
                <a:tc>
                  <a:txBody>
                    <a:bodyPr/>
                    <a:lstStyle/>
                    <a:p>
                      <a:pPr marL="0" marR="0" algn="ctr">
                        <a:lnSpc>
                          <a:spcPct val="115000"/>
                        </a:lnSpc>
                        <a:spcAft>
                          <a:spcPts val="800"/>
                        </a:spcAft>
                        <a:buNone/>
                      </a:pPr>
                      <a:r>
                        <a:rPr lang="en-US" sz="1200" b="1" kern="100" dirty="0">
                          <a:effectLst/>
                          <a:latin typeface="Times" panose="02020603050405020304" pitchFamily="18" charset="0"/>
                          <a:cs typeface="Times" panose="02020603050405020304" pitchFamily="18" charset="0"/>
                        </a:rPr>
                        <a:t>🧾 Feature</a:t>
                      </a:r>
                      <a:endParaRPr lang="en-US" sz="1200" b="1" kern="100" dirty="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200" b="1" kern="100" dirty="0">
                          <a:effectLst/>
                          <a:latin typeface="Times" panose="02020603050405020304" pitchFamily="18" charset="0"/>
                          <a:cs typeface="Times" panose="02020603050405020304" pitchFamily="18" charset="0"/>
                        </a:rPr>
                        <a:t>📋 Description</a:t>
                      </a:r>
                      <a:endParaRPr lang="en-US" sz="1200" b="1" kern="100" dirty="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4009859709"/>
                  </a:ext>
                </a:extLst>
              </a:tr>
              <a:tr h="299154">
                <a:tc>
                  <a:txBody>
                    <a:bodyPr/>
                    <a:lstStyle/>
                    <a:p>
                      <a:pPr marL="0" marR="0" algn="ctr">
                        <a:lnSpc>
                          <a:spcPct val="115000"/>
                        </a:lnSpc>
                        <a:spcAft>
                          <a:spcPts val="800"/>
                        </a:spcAft>
                        <a:buNone/>
                      </a:pPr>
                      <a:r>
                        <a:rPr lang="en-US" sz="1200" b="1" kern="100" dirty="0">
                          <a:effectLst/>
                          <a:latin typeface="Times" panose="02020603050405020304" pitchFamily="18" charset="0"/>
                          <a:cs typeface="Times" panose="02020603050405020304" pitchFamily="18" charset="0"/>
                        </a:rPr>
                        <a:t>🗓️ DATE</a:t>
                      </a:r>
                      <a:endParaRPr lang="en-US" sz="1200" b="1" kern="100" dirty="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200" kern="100" dirty="0">
                          <a:effectLst/>
                          <a:latin typeface="Times" panose="02020603050405020304" pitchFamily="18" charset="0"/>
                          <a:cs typeface="Times" panose="02020603050405020304" pitchFamily="18" charset="0"/>
                        </a:rPr>
                        <a:t>Date of the observation (not used in modeling)</a:t>
                      </a:r>
                      <a:endParaRPr lang="en-US" sz="1200" kern="100" dirty="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3553024270"/>
                  </a:ext>
                </a:extLst>
              </a:tr>
              <a:tr h="299154">
                <a:tc>
                  <a:txBody>
                    <a:bodyPr/>
                    <a:lstStyle/>
                    <a:p>
                      <a:pPr marL="0" marR="0" algn="ctr">
                        <a:lnSpc>
                          <a:spcPct val="115000"/>
                        </a:lnSpc>
                        <a:spcAft>
                          <a:spcPts val="800"/>
                        </a:spcAft>
                        <a:buNone/>
                      </a:pPr>
                      <a:r>
                        <a:rPr lang="en-US" sz="1200" b="1" kern="100" dirty="0">
                          <a:effectLst/>
                          <a:latin typeface="Times" panose="02020603050405020304" pitchFamily="18" charset="0"/>
                          <a:cs typeface="Times" panose="02020603050405020304" pitchFamily="18" charset="0"/>
                        </a:rPr>
                        <a:t>🌬️ WIND</a:t>
                      </a:r>
                      <a:endParaRPr lang="en-US" sz="1200" b="1" kern="100" dirty="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solidFill>
                      <a:schemeClr val="accent1">
                        <a:lumMod val="20000"/>
                        <a:lumOff val="80000"/>
                      </a:schemeClr>
                    </a:solidFill>
                  </a:tcPr>
                </a:tc>
                <a:tc>
                  <a:txBody>
                    <a:bodyPr/>
                    <a:lstStyle/>
                    <a:p>
                      <a:pPr marL="0" marR="0" algn="ctr">
                        <a:lnSpc>
                          <a:spcPct val="115000"/>
                        </a:lnSpc>
                        <a:spcAft>
                          <a:spcPts val="800"/>
                        </a:spcAft>
                        <a:buNone/>
                      </a:pPr>
                      <a:r>
                        <a:rPr lang="en-US" sz="1200" kern="100" dirty="0">
                          <a:effectLst/>
                          <a:latin typeface="Times" panose="02020603050405020304" pitchFamily="18" charset="0"/>
                          <a:cs typeface="Times" panose="02020603050405020304" pitchFamily="18" charset="0"/>
                        </a:rPr>
                        <a:t>Target – Wind speed (continuous)</a:t>
                      </a:r>
                      <a:endParaRPr lang="en-US" sz="1200" kern="100" dirty="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solidFill>
                      <a:schemeClr val="accent1">
                        <a:lumMod val="20000"/>
                        <a:lumOff val="80000"/>
                      </a:schemeClr>
                    </a:solidFill>
                  </a:tcPr>
                </a:tc>
                <a:extLst>
                  <a:ext uri="{0D108BD9-81ED-4DB2-BD59-A6C34878D82A}">
                    <a16:rowId xmlns:a16="http://schemas.microsoft.com/office/drawing/2014/main" val="2076269822"/>
                  </a:ext>
                </a:extLst>
              </a:tr>
              <a:tr h="299154">
                <a:tc>
                  <a:txBody>
                    <a:bodyPr/>
                    <a:lstStyle/>
                    <a:p>
                      <a:pPr marL="0" marR="0" algn="ctr">
                        <a:lnSpc>
                          <a:spcPct val="115000"/>
                        </a:lnSpc>
                        <a:spcAft>
                          <a:spcPts val="800"/>
                        </a:spcAft>
                        <a:buNone/>
                      </a:pPr>
                      <a:r>
                        <a:rPr lang="en-US" sz="1200" b="1" kern="100" dirty="0">
                          <a:effectLst/>
                          <a:latin typeface="Times" panose="02020603050405020304" pitchFamily="18" charset="0"/>
                          <a:cs typeface="Times" panose="02020603050405020304" pitchFamily="18" charset="0"/>
                        </a:rPr>
                        <a:t>🌧️ RAIN</a:t>
                      </a:r>
                      <a:endParaRPr lang="en-US" sz="1200" b="1" kern="100" dirty="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200" kern="100" dirty="0">
                          <a:effectLst/>
                          <a:latin typeface="Times" panose="02020603050405020304" pitchFamily="18" charset="0"/>
                          <a:cs typeface="Times" panose="02020603050405020304" pitchFamily="18" charset="0"/>
                        </a:rPr>
                        <a:t>Rainfall amount</a:t>
                      </a:r>
                      <a:endParaRPr lang="en-US" sz="1200" kern="100" dirty="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273762411"/>
                  </a:ext>
                </a:extLst>
              </a:tr>
              <a:tr h="299154">
                <a:tc>
                  <a:txBody>
                    <a:bodyPr/>
                    <a:lstStyle/>
                    <a:p>
                      <a:pPr marL="0" marR="0" algn="ctr">
                        <a:lnSpc>
                          <a:spcPct val="115000"/>
                        </a:lnSpc>
                        <a:spcAft>
                          <a:spcPts val="800"/>
                        </a:spcAft>
                        <a:buNone/>
                      </a:pPr>
                      <a:r>
                        <a:rPr lang="en-US" sz="1200" b="1" kern="100" dirty="0">
                          <a:effectLst/>
                          <a:latin typeface="Times" panose="02020603050405020304" pitchFamily="18" charset="0"/>
                          <a:cs typeface="Times" panose="02020603050405020304" pitchFamily="18" charset="0"/>
                        </a:rPr>
                        <a:t>🌡️ T.MAX</a:t>
                      </a:r>
                      <a:endParaRPr lang="en-US" sz="1200" b="1" kern="100" dirty="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200" kern="100" dirty="0">
                          <a:effectLst/>
                          <a:latin typeface="Times" panose="02020603050405020304" pitchFamily="18" charset="0"/>
                          <a:cs typeface="Times" panose="02020603050405020304" pitchFamily="18" charset="0"/>
                        </a:rPr>
                        <a:t>Maximum daily temperature</a:t>
                      </a:r>
                      <a:endParaRPr lang="en-US" sz="1200" kern="100" dirty="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136678615"/>
                  </a:ext>
                </a:extLst>
              </a:tr>
              <a:tr h="299154">
                <a:tc>
                  <a:txBody>
                    <a:bodyPr/>
                    <a:lstStyle/>
                    <a:p>
                      <a:pPr marL="0" marR="0" algn="ctr">
                        <a:lnSpc>
                          <a:spcPct val="115000"/>
                        </a:lnSpc>
                        <a:spcAft>
                          <a:spcPts val="800"/>
                        </a:spcAft>
                        <a:buNone/>
                      </a:pPr>
                      <a:r>
                        <a:rPr lang="en-US" sz="1200" b="1" kern="100" dirty="0">
                          <a:effectLst/>
                          <a:latin typeface="Times" panose="02020603050405020304" pitchFamily="18" charset="0"/>
                          <a:cs typeface="Times" panose="02020603050405020304" pitchFamily="18" charset="0"/>
                        </a:rPr>
                        <a:t>🌡️ T.MIN</a:t>
                      </a:r>
                      <a:endParaRPr lang="en-US" sz="1200" b="1" kern="100" dirty="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200" kern="100" dirty="0">
                          <a:effectLst/>
                          <a:latin typeface="Times" panose="02020603050405020304" pitchFamily="18" charset="0"/>
                          <a:cs typeface="Times" panose="02020603050405020304" pitchFamily="18" charset="0"/>
                        </a:rPr>
                        <a:t>Minimum daily temperature</a:t>
                      </a:r>
                      <a:endParaRPr lang="en-US" sz="1200" kern="100" dirty="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1552241321"/>
                  </a:ext>
                </a:extLst>
              </a:tr>
              <a:tr h="299154">
                <a:tc>
                  <a:txBody>
                    <a:bodyPr/>
                    <a:lstStyle/>
                    <a:p>
                      <a:pPr marL="0" marR="0" algn="ctr">
                        <a:lnSpc>
                          <a:spcPct val="115000"/>
                        </a:lnSpc>
                        <a:spcAft>
                          <a:spcPts val="800"/>
                        </a:spcAft>
                        <a:buNone/>
                      </a:pPr>
                      <a:r>
                        <a:rPr lang="en-US" sz="1200" b="1" kern="100" dirty="0">
                          <a:effectLst/>
                          <a:latin typeface="Times" panose="02020603050405020304" pitchFamily="18" charset="0"/>
                          <a:cs typeface="Times" panose="02020603050405020304" pitchFamily="18" charset="0"/>
                        </a:rPr>
                        <a:t>🧊 T.MIN.G</a:t>
                      </a:r>
                      <a:endParaRPr lang="en-US" sz="1200" b="1" kern="100" dirty="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200" kern="100" dirty="0">
                          <a:effectLst/>
                          <a:latin typeface="Times" panose="02020603050405020304" pitchFamily="18" charset="0"/>
                          <a:cs typeface="Times" panose="02020603050405020304" pitchFamily="18" charset="0"/>
                        </a:rPr>
                        <a:t>Ground-level minimum temperature</a:t>
                      </a:r>
                      <a:endParaRPr lang="en-US" sz="1200" kern="100" dirty="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1437203447"/>
                  </a:ext>
                </a:extLst>
              </a:tr>
              <a:tr h="299154">
                <a:tc>
                  <a:txBody>
                    <a:bodyPr/>
                    <a:lstStyle/>
                    <a:p>
                      <a:pPr marL="0" marR="0" algn="ctr">
                        <a:lnSpc>
                          <a:spcPct val="115000"/>
                        </a:lnSpc>
                        <a:spcAft>
                          <a:spcPts val="800"/>
                        </a:spcAft>
                        <a:buNone/>
                      </a:pPr>
                      <a:r>
                        <a:rPr lang="en-US" sz="1200" b="1" kern="100" dirty="0">
                          <a:effectLst/>
                          <a:latin typeface="Times" panose="02020603050405020304" pitchFamily="18" charset="0"/>
                          <a:cs typeface="Times" panose="02020603050405020304" pitchFamily="18" charset="0"/>
                        </a:rPr>
                        <a:t>☁️ IND</a:t>
                      </a:r>
                      <a:endParaRPr lang="en-US" sz="1200" b="1" kern="100" dirty="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200" kern="100" dirty="0">
                          <a:effectLst/>
                          <a:latin typeface="Times" panose="02020603050405020304" pitchFamily="18" charset="0"/>
                          <a:cs typeface="Times" panose="02020603050405020304" pitchFamily="18" charset="0"/>
                        </a:rPr>
                        <a:t>Weather indicator (e.g., humidity/cloud cover)</a:t>
                      </a:r>
                      <a:endParaRPr lang="en-US" sz="1200" kern="100" dirty="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1437547363"/>
                  </a:ext>
                </a:extLst>
              </a:tr>
              <a:tr h="299154">
                <a:tc>
                  <a:txBody>
                    <a:bodyPr/>
                    <a:lstStyle/>
                    <a:p>
                      <a:pPr marL="0" marR="0" algn="ctr">
                        <a:lnSpc>
                          <a:spcPct val="115000"/>
                        </a:lnSpc>
                        <a:spcAft>
                          <a:spcPts val="800"/>
                        </a:spcAft>
                        <a:buNone/>
                      </a:pPr>
                      <a:r>
                        <a:rPr lang="en-US" sz="1200" b="1" kern="100" dirty="0">
                          <a:effectLst/>
                          <a:latin typeface="Times" panose="02020603050405020304" pitchFamily="18" charset="0"/>
                          <a:cs typeface="Times" panose="02020603050405020304" pitchFamily="18" charset="0"/>
                        </a:rPr>
                        <a:t>🌫️ IND.1</a:t>
                      </a:r>
                      <a:endParaRPr lang="en-US" sz="1200" b="1" kern="100" dirty="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200" kern="100" dirty="0">
                          <a:effectLst/>
                          <a:latin typeface="Times" panose="02020603050405020304" pitchFamily="18" charset="0"/>
                          <a:cs typeface="Times" panose="02020603050405020304" pitchFamily="18" charset="0"/>
                        </a:rPr>
                        <a:t>Weather indicator (requires interpretation)</a:t>
                      </a:r>
                      <a:endParaRPr lang="en-US" sz="1200" kern="100" dirty="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1008789370"/>
                  </a:ext>
                </a:extLst>
              </a:tr>
              <a:tr h="299154">
                <a:tc>
                  <a:txBody>
                    <a:bodyPr/>
                    <a:lstStyle/>
                    <a:p>
                      <a:pPr marL="0" marR="0" algn="ctr">
                        <a:lnSpc>
                          <a:spcPct val="115000"/>
                        </a:lnSpc>
                        <a:spcAft>
                          <a:spcPts val="800"/>
                        </a:spcAft>
                        <a:buNone/>
                      </a:pPr>
                      <a:r>
                        <a:rPr lang="en-US" sz="1200" b="1" kern="100" dirty="0">
                          <a:effectLst/>
                          <a:latin typeface="Times" panose="02020603050405020304" pitchFamily="18" charset="0"/>
                          <a:cs typeface="Times" panose="02020603050405020304" pitchFamily="18" charset="0"/>
                        </a:rPr>
                        <a:t>🌫️ IND.2</a:t>
                      </a:r>
                      <a:endParaRPr lang="en-US" sz="1200" b="1" kern="100" dirty="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200" kern="100" dirty="0">
                          <a:effectLst/>
                          <a:latin typeface="Times" panose="02020603050405020304" pitchFamily="18" charset="0"/>
                          <a:cs typeface="Times" panose="02020603050405020304" pitchFamily="18" charset="0"/>
                        </a:rPr>
                        <a:t>Weather indicator (requires interpretation)</a:t>
                      </a:r>
                      <a:endParaRPr lang="en-US" sz="1200" kern="100" dirty="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3458152294"/>
                  </a:ext>
                </a:extLst>
              </a:tr>
            </a:tbl>
          </a:graphicData>
        </a:graphic>
      </p:graphicFrame>
      <p:sp>
        <p:nvSpPr>
          <p:cNvPr id="11" name="TextBox 10">
            <a:extLst>
              <a:ext uri="{FF2B5EF4-FFF2-40B4-BE49-F238E27FC236}">
                <a16:creationId xmlns:a16="http://schemas.microsoft.com/office/drawing/2014/main" id="{ED0EC249-217B-EACE-462B-8CAECBBF2534}"/>
              </a:ext>
            </a:extLst>
          </p:cNvPr>
          <p:cNvSpPr txBox="1"/>
          <p:nvPr/>
        </p:nvSpPr>
        <p:spPr>
          <a:xfrm>
            <a:off x="362361" y="1395355"/>
            <a:ext cx="4038600" cy="2308324"/>
          </a:xfrm>
          <a:prstGeom prst="rect">
            <a:avLst/>
          </a:prstGeom>
          <a:noFill/>
        </p:spPr>
        <p:txBody>
          <a:bodyPr wrap="square">
            <a:spAutoFit/>
          </a:bodyPr>
          <a:lstStyle/>
          <a:p>
            <a:pPr algn="just"/>
            <a:r>
              <a:rPr lang="en-US" sz="1200" b="1" dirty="0">
                <a:latin typeface="Times" panose="02020603050405020304" pitchFamily="18" charset="0"/>
                <a:cs typeface="Times" panose="02020603050405020304" pitchFamily="18" charset="0"/>
              </a:rPr>
              <a:t>🎯 Objective: </a:t>
            </a:r>
            <a:r>
              <a:rPr lang="en-US" sz="1200" dirty="0">
                <a:latin typeface="Times" panose="02020603050405020304" pitchFamily="18" charset="0"/>
                <a:cs typeface="Times" panose="02020603050405020304" pitchFamily="18" charset="0"/>
              </a:rPr>
              <a:t>This project focuses on predicting wind speed using various machine learning models. The goal is to evaluate and compare their performances based on error metrics.</a:t>
            </a:r>
            <a:endParaRPr lang="en-US" sz="1200" b="1" dirty="0">
              <a:latin typeface="Times" panose="02020603050405020304" pitchFamily="18" charset="0"/>
              <a:cs typeface="Times" panose="02020603050405020304" pitchFamily="18" charset="0"/>
            </a:endParaRPr>
          </a:p>
          <a:p>
            <a:pPr algn="just"/>
            <a:r>
              <a:rPr lang="en-US" sz="1200" dirty="0">
                <a:latin typeface="Times" panose="02020603050405020304" pitchFamily="18" charset="0"/>
                <a:cs typeface="Times" panose="02020603050405020304" pitchFamily="18" charset="0"/>
              </a:rPr>
              <a:t>📌 Predict </a:t>
            </a:r>
            <a:r>
              <a:rPr lang="en-US" sz="1200" b="1" dirty="0">
                <a:latin typeface="Times" panose="02020603050405020304" pitchFamily="18" charset="0"/>
                <a:cs typeface="Times" panose="02020603050405020304" pitchFamily="18" charset="0"/>
              </a:rPr>
              <a:t>Wind Speed (WIND)</a:t>
            </a:r>
            <a:r>
              <a:rPr lang="en-US" sz="1200" dirty="0">
                <a:latin typeface="Times" panose="02020603050405020304" pitchFamily="18" charset="0"/>
                <a:cs typeface="Times" panose="02020603050405020304" pitchFamily="18" charset="0"/>
              </a:rPr>
              <a:t> using other meteorological features</a:t>
            </a:r>
          </a:p>
          <a:p>
            <a:pPr marL="285750" indent="-285750" algn="just">
              <a:buFont typeface="Arial" panose="020B0604020202020204" pitchFamily="34" charset="0"/>
              <a:buChar char="•"/>
            </a:pPr>
            <a:r>
              <a:rPr lang="en-US" sz="1200" b="1" dirty="0">
                <a:latin typeface="Times" panose="02020603050405020304" pitchFamily="18" charset="0"/>
                <a:cs typeface="Times" panose="02020603050405020304" pitchFamily="18" charset="0"/>
              </a:rPr>
              <a:t>Source: </a:t>
            </a:r>
            <a:r>
              <a:rPr lang="en-US" sz="1200" dirty="0">
                <a:latin typeface="Times" panose="02020603050405020304" pitchFamily="18" charset="0"/>
                <a:cs typeface="Times" panose="02020603050405020304" pitchFamily="18" charset="0"/>
              </a:rPr>
              <a:t>Collected from Kaggle</a:t>
            </a:r>
          </a:p>
          <a:p>
            <a:pPr algn="just"/>
            <a:r>
              <a:rPr lang="en-US" sz="1200" dirty="0">
                <a:latin typeface="Times" panose="02020603050405020304" pitchFamily="18" charset="0"/>
                <a:cs typeface="Times" panose="02020603050405020304" pitchFamily="18" charset="0"/>
              </a:rPr>
              <a:t>       </a:t>
            </a:r>
            <a:r>
              <a:rPr lang="en-US" sz="800" dirty="0">
                <a:latin typeface="Times" panose="02020603050405020304" pitchFamily="18" charset="0"/>
                <a:cs typeface="Times" panose="02020603050405020304" pitchFamily="18" charset="0"/>
                <a:hlinkClick r:id="rId2"/>
              </a:rPr>
              <a:t>https://www.kaggle.com/code/majidmh/wind-speed-prediction-regression/input</a:t>
            </a:r>
            <a:r>
              <a:rPr lang="en-US" sz="800" dirty="0">
                <a:latin typeface="Times" panose="02020603050405020304" pitchFamily="18" charset="0"/>
                <a:cs typeface="Times" panose="02020603050405020304" pitchFamily="18" charset="0"/>
              </a:rPr>
              <a:t>  </a:t>
            </a:r>
            <a:endParaRPr lang="en-US" sz="1200" dirty="0">
              <a:latin typeface="Times" panose="02020603050405020304" pitchFamily="18" charset="0"/>
              <a:cs typeface="Times" panose="02020603050405020304" pitchFamily="18" charset="0"/>
            </a:endParaRPr>
          </a:p>
          <a:p>
            <a:pPr marL="285750" indent="-285750" algn="just">
              <a:buFont typeface="Arial" panose="020B0604020202020204" pitchFamily="34" charset="0"/>
              <a:buChar char="•"/>
            </a:pPr>
            <a:r>
              <a:rPr lang="en-US" sz="1200" b="1" dirty="0">
                <a:latin typeface="Times" panose="02020603050405020304" pitchFamily="18" charset="0"/>
                <a:cs typeface="Times" panose="02020603050405020304" pitchFamily="18" charset="0"/>
              </a:rPr>
              <a:t>Dataset Size: </a:t>
            </a:r>
            <a:r>
              <a:rPr lang="en-US" sz="1200" dirty="0">
                <a:latin typeface="Times" panose="02020603050405020304" pitchFamily="18" charset="0"/>
                <a:cs typeface="Times" panose="02020603050405020304" pitchFamily="18" charset="0"/>
              </a:rPr>
              <a:t>Contains 6574 entries (rows) &amp; 9 columns</a:t>
            </a:r>
          </a:p>
          <a:p>
            <a:pPr marL="285750" indent="-285750" algn="just">
              <a:buFont typeface="Arial" panose="020B0604020202020204" pitchFamily="34" charset="0"/>
              <a:buChar char="•"/>
            </a:pPr>
            <a:r>
              <a:rPr lang="en-US" sz="1200" b="1" dirty="0">
                <a:latin typeface="Times" panose="02020603050405020304" pitchFamily="18" charset="0"/>
                <a:cs typeface="Times" panose="02020603050405020304" pitchFamily="18" charset="0"/>
              </a:rPr>
              <a:t>Target Variable: </a:t>
            </a:r>
            <a:r>
              <a:rPr lang="en-US" sz="1200" dirty="0">
                <a:latin typeface="Times" panose="02020603050405020304" pitchFamily="18" charset="0"/>
                <a:cs typeface="Times" panose="02020603050405020304" pitchFamily="18" charset="0"/>
              </a:rPr>
              <a:t>WIND (Wind Speed)</a:t>
            </a:r>
          </a:p>
          <a:p>
            <a:pPr marL="285750" indent="-285750" algn="just">
              <a:buFont typeface="Arial" panose="020B0604020202020204" pitchFamily="34" charset="0"/>
              <a:buChar char="•"/>
            </a:pPr>
            <a:r>
              <a:rPr lang="en-US" sz="1200" b="1" dirty="0">
                <a:latin typeface="Times" panose="02020603050405020304" pitchFamily="18" charset="0"/>
                <a:cs typeface="Times" panose="02020603050405020304" pitchFamily="18" charset="0"/>
              </a:rPr>
              <a:t>Data Type</a:t>
            </a:r>
            <a:r>
              <a:rPr lang="en-US" sz="1200" dirty="0">
                <a:latin typeface="Times" panose="02020603050405020304" pitchFamily="18" charset="0"/>
                <a:cs typeface="Times" panose="02020603050405020304" pitchFamily="18" charset="0"/>
              </a:rPr>
              <a:t>: Time-series tabular data with some missing values</a:t>
            </a:r>
          </a:p>
        </p:txBody>
      </p:sp>
      <p:sp>
        <p:nvSpPr>
          <p:cNvPr id="17" name="TextBox 16">
            <a:extLst>
              <a:ext uri="{FF2B5EF4-FFF2-40B4-BE49-F238E27FC236}">
                <a16:creationId xmlns:a16="http://schemas.microsoft.com/office/drawing/2014/main" id="{4689AC53-00FF-F18E-AF8F-FEA6901DCB2F}"/>
              </a:ext>
            </a:extLst>
          </p:cNvPr>
          <p:cNvSpPr txBox="1"/>
          <p:nvPr/>
        </p:nvSpPr>
        <p:spPr>
          <a:xfrm>
            <a:off x="433316" y="3665130"/>
            <a:ext cx="3896689" cy="1015663"/>
          </a:xfrm>
          <a:prstGeom prst="rect">
            <a:avLst/>
          </a:prstGeom>
          <a:noFill/>
        </p:spPr>
        <p:txBody>
          <a:bodyPr wrap="square">
            <a:spAutoFit/>
          </a:bodyPr>
          <a:lstStyle/>
          <a:p>
            <a:pPr algn="just">
              <a:buNone/>
            </a:pPr>
            <a:r>
              <a:rPr lang="en-US" sz="1200" b="1" dirty="0">
                <a:latin typeface="Times" panose="02020603050405020304" pitchFamily="18" charset="0"/>
                <a:cs typeface="Times" panose="02020603050405020304" pitchFamily="18" charset="0"/>
              </a:rPr>
              <a:t>⚠️ Handling Missing Values </a:t>
            </a:r>
          </a:p>
          <a:p>
            <a:pPr algn="just">
              <a:buNone/>
            </a:pPr>
            <a:r>
              <a:rPr lang="en-US" sz="1200" dirty="0">
                <a:latin typeface="Times" panose="02020603050405020304" pitchFamily="18" charset="0"/>
                <a:cs typeface="Times" panose="02020603050405020304" pitchFamily="18" charset="0"/>
              </a:rPr>
              <a:t>We used three strategies to handle missing data:</a:t>
            </a:r>
          </a:p>
          <a:p>
            <a:pPr algn="just">
              <a:buFont typeface="Arial" panose="020B0604020202020204" pitchFamily="34" charset="0"/>
              <a:buChar char="•"/>
            </a:pPr>
            <a:r>
              <a:rPr lang="en-US" sz="1200" dirty="0">
                <a:latin typeface="Times" panose="02020603050405020304" pitchFamily="18" charset="0"/>
                <a:cs typeface="Times" panose="02020603050405020304" pitchFamily="18" charset="0"/>
              </a:rPr>
              <a:t>🧹 </a:t>
            </a:r>
            <a:r>
              <a:rPr lang="en-US" sz="1200" b="1" dirty="0">
                <a:latin typeface="Times" panose="02020603050405020304" pitchFamily="18" charset="0"/>
                <a:cs typeface="Times" panose="02020603050405020304" pitchFamily="18" charset="0"/>
              </a:rPr>
              <a:t>Drop Missing Values [</a:t>
            </a:r>
            <a:r>
              <a:rPr lang="en-US" sz="1200" dirty="0">
                <a:latin typeface="Times" panose="02020603050405020304" pitchFamily="18" charset="0"/>
                <a:cs typeface="Times" panose="02020603050405020304" pitchFamily="18" charset="0"/>
              </a:rPr>
              <a:t>6574-5638</a:t>
            </a:r>
            <a:r>
              <a:rPr lang="en-US" sz="1200" b="1" dirty="0">
                <a:latin typeface="Times" panose="02020603050405020304" pitchFamily="18" charset="0"/>
                <a:cs typeface="Times" panose="02020603050405020304" pitchFamily="18" charset="0"/>
              </a:rPr>
              <a:t> = 936]</a:t>
            </a:r>
            <a:endParaRPr lang="en-US" sz="1200" dirty="0">
              <a:latin typeface="Times" panose="02020603050405020304" pitchFamily="18" charset="0"/>
              <a:cs typeface="Times" panose="02020603050405020304" pitchFamily="18" charset="0"/>
            </a:endParaRPr>
          </a:p>
          <a:p>
            <a:pPr algn="just">
              <a:buFont typeface="Arial" panose="020B0604020202020204" pitchFamily="34" charset="0"/>
              <a:buChar char="•"/>
            </a:pPr>
            <a:r>
              <a:rPr lang="en-US" sz="1200" dirty="0">
                <a:latin typeface="Times" panose="02020603050405020304" pitchFamily="18" charset="0"/>
                <a:cs typeface="Times" panose="02020603050405020304" pitchFamily="18" charset="0"/>
              </a:rPr>
              <a:t>🔄 </a:t>
            </a:r>
            <a:r>
              <a:rPr lang="en-US" sz="1200" b="1" dirty="0">
                <a:latin typeface="Times" panose="02020603050405020304" pitchFamily="18" charset="0"/>
                <a:cs typeface="Times" panose="02020603050405020304" pitchFamily="18" charset="0"/>
              </a:rPr>
              <a:t>Forward Fill</a:t>
            </a:r>
            <a:endParaRPr lang="en-US" sz="1200" dirty="0">
              <a:latin typeface="Times" panose="02020603050405020304" pitchFamily="18" charset="0"/>
              <a:cs typeface="Times" panose="02020603050405020304" pitchFamily="18" charset="0"/>
            </a:endParaRPr>
          </a:p>
          <a:p>
            <a:pPr algn="just">
              <a:buFont typeface="Arial" panose="020B0604020202020204" pitchFamily="34" charset="0"/>
              <a:buChar char="•"/>
            </a:pPr>
            <a:r>
              <a:rPr lang="en-US" sz="1200" dirty="0">
                <a:latin typeface="Times" panose="02020603050405020304" pitchFamily="18" charset="0"/>
                <a:cs typeface="Times" panose="02020603050405020304" pitchFamily="18" charset="0"/>
              </a:rPr>
              <a:t>➕ </a:t>
            </a:r>
            <a:r>
              <a:rPr lang="en-US" sz="1200" b="1" dirty="0">
                <a:latin typeface="Times" panose="02020603050405020304" pitchFamily="18" charset="0"/>
                <a:cs typeface="Times" panose="02020603050405020304" pitchFamily="18" charset="0"/>
              </a:rPr>
              <a:t>Mean Fill</a:t>
            </a:r>
            <a:endParaRPr lang="en-US" sz="1200" dirty="0">
              <a:latin typeface="Times" panose="02020603050405020304" pitchFamily="18" charset="0"/>
              <a:cs typeface="Times" panose="02020603050405020304" pitchFamily="18" charset="0"/>
            </a:endParaRPr>
          </a:p>
        </p:txBody>
      </p:sp>
      <p:pic>
        <p:nvPicPr>
          <p:cNvPr id="1031" name="Picture 7" descr="Wind Turbine Efficiency: How Has It Improved Over Time? - Lumify Energy">
            <a:extLst>
              <a:ext uri="{FF2B5EF4-FFF2-40B4-BE49-F238E27FC236}">
                <a16:creationId xmlns:a16="http://schemas.microsoft.com/office/drawing/2014/main" id="{E4F682C9-10E4-2A65-53EA-642B3B446A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54354" y="502992"/>
            <a:ext cx="1252254" cy="8339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98584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B3DD63E-1D06-0B33-0CE1-7BD3CB49F3D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5</a:t>
            </a:fld>
            <a:endParaRPr lang="en"/>
          </a:p>
        </p:txBody>
      </p:sp>
      <p:sp>
        <p:nvSpPr>
          <p:cNvPr id="4" name="Title 3">
            <a:extLst>
              <a:ext uri="{FF2B5EF4-FFF2-40B4-BE49-F238E27FC236}">
                <a16:creationId xmlns:a16="http://schemas.microsoft.com/office/drawing/2014/main" id="{1381C32E-C12E-D752-345F-BFD3CC03E310}"/>
              </a:ext>
            </a:extLst>
          </p:cNvPr>
          <p:cNvSpPr>
            <a:spLocks noGrp="1"/>
          </p:cNvSpPr>
          <p:nvPr>
            <p:ph type="title"/>
          </p:nvPr>
        </p:nvSpPr>
        <p:spPr/>
        <p:txBody>
          <a:bodyPr/>
          <a:lstStyle/>
          <a:p>
            <a:pPr algn="ctr"/>
            <a:r>
              <a:rPr lang="en-US" sz="1400" b="1" dirty="0">
                <a:latin typeface="Times" panose="02020603050405020304" pitchFamily="18" charset="0"/>
                <a:cs typeface="Times" panose="02020603050405020304" pitchFamily="18" charset="0"/>
              </a:rPr>
              <a:t>EDA (EXPLORATORY DATA ANALYSIS)</a:t>
            </a:r>
            <a:r>
              <a:rPr lang="en-US" sz="1400" dirty="0">
                <a:latin typeface="Times" panose="02020603050405020304" pitchFamily="18" charset="0"/>
                <a:cs typeface="Times" panose="02020603050405020304" pitchFamily="18" charset="0"/>
              </a:rPr>
              <a:t> </a:t>
            </a:r>
            <a:endParaRPr lang="en-US" sz="1400" dirty="0"/>
          </a:p>
        </p:txBody>
      </p:sp>
      <p:pic>
        <p:nvPicPr>
          <p:cNvPr id="6" name="Picture 5">
            <a:extLst>
              <a:ext uri="{FF2B5EF4-FFF2-40B4-BE49-F238E27FC236}">
                <a16:creationId xmlns:a16="http://schemas.microsoft.com/office/drawing/2014/main" id="{98903961-E6D0-7E41-D12D-542E5DC4CC70}"/>
              </a:ext>
            </a:extLst>
          </p:cNvPr>
          <p:cNvPicPr>
            <a:picLocks noChangeAspect="1"/>
          </p:cNvPicPr>
          <p:nvPr/>
        </p:nvPicPr>
        <p:blipFill>
          <a:blip r:embed="rId2"/>
          <a:stretch>
            <a:fillRect/>
          </a:stretch>
        </p:blipFill>
        <p:spPr>
          <a:xfrm>
            <a:off x="203397" y="1443459"/>
            <a:ext cx="1698442" cy="1572772"/>
          </a:xfrm>
          <a:prstGeom prst="rect">
            <a:avLst/>
          </a:prstGeom>
        </p:spPr>
      </p:pic>
      <p:pic>
        <p:nvPicPr>
          <p:cNvPr id="8" name="Picture 7">
            <a:extLst>
              <a:ext uri="{FF2B5EF4-FFF2-40B4-BE49-F238E27FC236}">
                <a16:creationId xmlns:a16="http://schemas.microsoft.com/office/drawing/2014/main" id="{20E50355-C3F1-58AA-53CA-E547BD93C0CE}"/>
              </a:ext>
            </a:extLst>
          </p:cNvPr>
          <p:cNvPicPr>
            <a:picLocks noChangeAspect="1"/>
          </p:cNvPicPr>
          <p:nvPr/>
        </p:nvPicPr>
        <p:blipFill>
          <a:blip r:embed="rId3"/>
          <a:stretch>
            <a:fillRect/>
          </a:stretch>
        </p:blipFill>
        <p:spPr>
          <a:xfrm>
            <a:off x="1947966" y="1677801"/>
            <a:ext cx="635369" cy="893949"/>
          </a:xfrm>
          <a:prstGeom prst="rect">
            <a:avLst/>
          </a:prstGeom>
        </p:spPr>
      </p:pic>
      <p:pic>
        <p:nvPicPr>
          <p:cNvPr id="10" name="Picture 9">
            <a:extLst>
              <a:ext uri="{FF2B5EF4-FFF2-40B4-BE49-F238E27FC236}">
                <a16:creationId xmlns:a16="http://schemas.microsoft.com/office/drawing/2014/main" id="{14A9634A-9802-85CE-CE2A-125993DE8675}"/>
              </a:ext>
            </a:extLst>
          </p:cNvPr>
          <p:cNvPicPr>
            <a:picLocks noChangeAspect="1"/>
          </p:cNvPicPr>
          <p:nvPr/>
        </p:nvPicPr>
        <p:blipFill>
          <a:blip r:embed="rId4"/>
          <a:stretch>
            <a:fillRect/>
          </a:stretch>
        </p:blipFill>
        <p:spPr>
          <a:xfrm>
            <a:off x="2700335" y="1504950"/>
            <a:ext cx="2621584" cy="1572772"/>
          </a:xfrm>
          <a:prstGeom prst="rect">
            <a:avLst/>
          </a:prstGeom>
        </p:spPr>
      </p:pic>
      <p:pic>
        <p:nvPicPr>
          <p:cNvPr id="12" name="Picture 11">
            <a:extLst>
              <a:ext uri="{FF2B5EF4-FFF2-40B4-BE49-F238E27FC236}">
                <a16:creationId xmlns:a16="http://schemas.microsoft.com/office/drawing/2014/main" id="{063FDC62-4B67-931B-D36B-87B606C15C5B}"/>
              </a:ext>
            </a:extLst>
          </p:cNvPr>
          <p:cNvPicPr>
            <a:picLocks noChangeAspect="1"/>
          </p:cNvPicPr>
          <p:nvPr/>
        </p:nvPicPr>
        <p:blipFill>
          <a:blip r:embed="rId5"/>
          <a:stretch>
            <a:fillRect/>
          </a:stretch>
        </p:blipFill>
        <p:spPr>
          <a:xfrm>
            <a:off x="281736" y="3159513"/>
            <a:ext cx="2418599" cy="1684319"/>
          </a:xfrm>
          <a:prstGeom prst="rect">
            <a:avLst/>
          </a:prstGeom>
        </p:spPr>
      </p:pic>
      <p:pic>
        <p:nvPicPr>
          <p:cNvPr id="14" name="Picture 13">
            <a:extLst>
              <a:ext uri="{FF2B5EF4-FFF2-40B4-BE49-F238E27FC236}">
                <a16:creationId xmlns:a16="http://schemas.microsoft.com/office/drawing/2014/main" id="{100A774E-0AD7-909B-2328-975EE40781C9}"/>
              </a:ext>
            </a:extLst>
          </p:cNvPr>
          <p:cNvPicPr>
            <a:picLocks noChangeAspect="1"/>
          </p:cNvPicPr>
          <p:nvPr/>
        </p:nvPicPr>
        <p:blipFill>
          <a:blip r:embed="rId6"/>
          <a:stretch>
            <a:fillRect/>
          </a:stretch>
        </p:blipFill>
        <p:spPr>
          <a:xfrm>
            <a:off x="2750993" y="3159514"/>
            <a:ext cx="2516832" cy="1677200"/>
          </a:xfrm>
          <a:prstGeom prst="rect">
            <a:avLst/>
          </a:prstGeom>
        </p:spPr>
      </p:pic>
      <p:pic>
        <p:nvPicPr>
          <p:cNvPr id="16" name="Picture 15">
            <a:extLst>
              <a:ext uri="{FF2B5EF4-FFF2-40B4-BE49-F238E27FC236}">
                <a16:creationId xmlns:a16="http://schemas.microsoft.com/office/drawing/2014/main" id="{EC0AAFBC-0FE9-0340-0428-690FE337A456}"/>
              </a:ext>
            </a:extLst>
          </p:cNvPr>
          <p:cNvPicPr>
            <a:picLocks noChangeAspect="1"/>
          </p:cNvPicPr>
          <p:nvPr/>
        </p:nvPicPr>
        <p:blipFill>
          <a:blip r:embed="rId7"/>
          <a:stretch>
            <a:fillRect/>
          </a:stretch>
        </p:blipFill>
        <p:spPr>
          <a:xfrm>
            <a:off x="5430952" y="1581150"/>
            <a:ext cx="1627323" cy="3422206"/>
          </a:xfrm>
          <a:prstGeom prst="rect">
            <a:avLst/>
          </a:prstGeom>
        </p:spPr>
      </p:pic>
      <p:pic>
        <p:nvPicPr>
          <p:cNvPr id="18" name="Picture 17">
            <a:extLst>
              <a:ext uri="{FF2B5EF4-FFF2-40B4-BE49-F238E27FC236}">
                <a16:creationId xmlns:a16="http://schemas.microsoft.com/office/drawing/2014/main" id="{C24DB4B0-A25F-2A56-73B5-E84D337293CB}"/>
              </a:ext>
            </a:extLst>
          </p:cNvPr>
          <p:cNvPicPr>
            <a:picLocks noChangeAspect="1"/>
          </p:cNvPicPr>
          <p:nvPr/>
        </p:nvPicPr>
        <p:blipFill>
          <a:blip r:embed="rId8"/>
          <a:stretch>
            <a:fillRect/>
          </a:stretch>
        </p:blipFill>
        <p:spPr>
          <a:xfrm>
            <a:off x="7112369" y="1581150"/>
            <a:ext cx="1708170" cy="3538274"/>
          </a:xfrm>
          <a:prstGeom prst="rect">
            <a:avLst/>
          </a:prstGeom>
        </p:spPr>
      </p:pic>
      <p:sp>
        <p:nvSpPr>
          <p:cNvPr id="20" name="TextBox 19">
            <a:extLst>
              <a:ext uri="{FF2B5EF4-FFF2-40B4-BE49-F238E27FC236}">
                <a16:creationId xmlns:a16="http://schemas.microsoft.com/office/drawing/2014/main" id="{65270ECD-40A3-08E8-9C4B-BFB24C8F1817}"/>
              </a:ext>
            </a:extLst>
          </p:cNvPr>
          <p:cNvSpPr txBox="1"/>
          <p:nvPr/>
        </p:nvSpPr>
        <p:spPr>
          <a:xfrm>
            <a:off x="6617492" y="1333495"/>
            <a:ext cx="1348962" cy="246221"/>
          </a:xfrm>
          <a:prstGeom prst="rect">
            <a:avLst/>
          </a:prstGeom>
          <a:noFill/>
        </p:spPr>
        <p:txBody>
          <a:bodyPr wrap="square">
            <a:spAutoFit/>
          </a:bodyPr>
          <a:lstStyle/>
          <a:p>
            <a:pPr algn="l" fontAlgn="base">
              <a:spcAft>
                <a:spcPts val="600"/>
              </a:spcAft>
            </a:pPr>
            <a:r>
              <a:rPr lang="en-US" sz="1000" b="1" i="0" dirty="0">
                <a:solidFill>
                  <a:srgbClr val="202214"/>
                </a:solidFill>
                <a:effectLst/>
                <a:latin typeface="Times" panose="02020603050405020304" pitchFamily="18" charset="0"/>
                <a:cs typeface="Times" panose="02020603050405020304" pitchFamily="18" charset="0"/>
              </a:rPr>
              <a:t>Outliers Check</a:t>
            </a:r>
          </a:p>
        </p:txBody>
      </p:sp>
    </p:spTree>
    <p:extLst>
      <p:ext uri="{BB962C8B-B14F-4D97-AF65-F5344CB8AC3E}">
        <p14:creationId xmlns:p14="http://schemas.microsoft.com/office/powerpoint/2010/main" val="39370733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8D0CF-68DE-02CD-3010-C5CEEA528C0A}"/>
              </a:ext>
            </a:extLst>
          </p:cNvPr>
          <p:cNvSpPr>
            <a:spLocks noGrp="1"/>
          </p:cNvSpPr>
          <p:nvPr>
            <p:ph type="title"/>
          </p:nvPr>
        </p:nvSpPr>
        <p:spPr/>
        <p:txBody>
          <a:bodyPr/>
          <a:lstStyle/>
          <a:p>
            <a:pPr algn="ctr"/>
            <a:r>
              <a:rPr lang="en-US" sz="1400" b="1" dirty="0">
                <a:latin typeface="Times" panose="02020603050405020304" pitchFamily="18" charset="0"/>
                <a:cs typeface="Times" panose="02020603050405020304" pitchFamily="18" charset="0"/>
              </a:rPr>
              <a:t>EDA (EXPLORATORY DATA ANALYSIS)</a:t>
            </a:r>
            <a:r>
              <a:rPr lang="en-US" sz="1400" dirty="0">
                <a:latin typeface="Times" panose="02020603050405020304" pitchFamily="18" charset="0"/>
                <a:cs typeface="Times" panose="02020603050405020304" pitchFamily="18" charset="0"/>
              </a:rPr>
              <a:t> </a:t>
            </a:r>
          </a:p>
        </p:txBody>
      </p:sp>
      <p:sp>
        <p:nvSpPr>
          <p:cNvPr id="5" name="Slide Number Placeholder 4">
            <a:extLst>
              <a:ext uri="{FF2B5EF4-FFF2-40B4-BE49-F238E27FC236}">
                <a16:creationId xmlns:a16="http://schemas.microsoft.com/office/drawing/2014/main" id="{BA7EB760-A999-4B88-3606-A2EB12852A3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6</a:t>
            </a:fld>
            <a:endParaRPr lang="en"/>
          </a:p>
        </p:txBody>
      </p:sp>
      <p:pic>
        <p:nvPicPr>
          <p:cNvPr id="7" name="Picture 6">
            <a:extLst>
              <a:ext uri="{FF2B5EF4-FFF2-40B4-BE49-F238E27FC236}">
                <a16:creationId xmlns:a16="http://schemas.microsoft.com/office/drawing/2014/main" id="{D878007F-D3CA-267C-A290-63065BB2AD4A}"/>
              </a:ext>
            </a:extLst>
          </p:cNvPr>
          <p:cNvPicPr>
            <a:picLocks noChangeAspect="1"/>
          </p:cNvPicPr>
          <p:nvPr/>
        </p:nvPicPr>
        <p:blipFill>
          <a:blip r:embed="rId3"/>
          <a:stretch>
            <a:fillRect/>
          </a:stretch>
        </p:blipFill>
        <p:spPr>
          <a:xfrm>
            <a:off x="3377894" y="1293569"/>
            <a:ext cx="5094975" cy="1306087"/>
          </a:xfrm>
          <a:prstGeom prst="rect">
            <a:avLst/>
          </a:prstGeom>
        </p:spPr>
      </p:pic>
      <p:pic>
        <p:nvPicPr>
          <p:cNvPr id="9" name="Picture 8">
            <a:extLst>
              <a:ext uri="{FF2B5EF4-FFF2-40B4-BE49-F238E27FC236}">
                <a16:creationId xmlns:a16="http://schemas.microsoft.com/office/drawing/2014/main" id="{37E7F14E-8D06-7899-B3EC-C883A0E285D4}"/>
              </a:ext>
            </a:extLst>
          </p:cNvPr>
          <p:cNvPicPr>
            <a:picLocks noChangeAspect="1"/>
          </p:cNvPicPr>
          <p:nvPr/>
        </p:nvPicPr>
        <p:blipFill>
          <a:blip r:embed="rId4"/>
          <a:stretch>
            <a:fillRect/>
          </a:stretch>
        </p:blipFill>
        <p:spPr>
          <a:xfrm>
            <a:off x="152398" y="1379479"/>
            <a:ext cx="2923277" cy="931098"/>
          </a:xfrm>
          <a:prstGeom prst="rect">
            <a:avLst/>
          </a:prstGeom>
        </p:spPr>
      </p:pic>
      <p:pic>
        <p:nvPicPr>
          <p:cNvPr id="11" name="Picture 10">
            <a:extLst>
              <a:ext uri="{FF2B5EF4-FFF2-40B4-BE49-F238E27FC236}">
                <a16:creationId xmlns:a16="http://schemas.microsoft.com/office/drawing/2014/main" id="{08389937-67D6-2776-4E6C-D21A69E36714}"/>
              </a:ext>
            </a:extLst>
          </p:cNvPr>
          <p:cNvPicPr>
            <a:picLocks noChangeAspect="1"/>
          </p:cNvPicPr>
          <p:nvPr/>
        </p:nvPicPr>
        <p:blipFill>
          <a:blip r:embed="rId5"/>
          <a:stretch>
            <a:fillRect/>
          </a:stretch>
        </p:blipFill>
        <p:spPr>
          <a:xfrm>
            <a:off x="204337" y="3029992"/>
            <a:ext cx="2819400" cy="1447800"/>
          </a:xfrm>
          <a:prstGeom prst="rect">
            <a:avLst/>
          </a:prstGeom>
        </p:spPr>
      </p:pic>
      <p:pic>
        <p:nvPicPr>
          <p:cNvPr id="13" name="Picture 12">
            <a:extLst>
              <a:ext uri="{FF2B5EF4-FFF2-40B4-BE49-F238E27FC236}">
                <a16:creationId xmlns:a16="http://schemas.microsoft.com/office/drawing/2014/main" id="{51C5F887-C843-7B85-D717-433465E4AF2C}"/>
              </a:ext>
            </a:extLst>
          </p:cNvPr>
          <p:cNvPicPr>
            <a:picLocks noChangeAspect="1"/>
          </p:cNvPicPr>
          <p:nvPr/>
        </p:nvPicPr>
        <p:blipFill>
          <a:blip r:embed="rId6"/>
          <a:stretch>
            <a:fillRect/>
          </a:stretch>
        </p:blipFill>
        <p:spPr>
          <a:xfrm>
            <a:off x="3139280" y="3018193"/>
            <a:ext cx="3032093" cy="1540760"/>
          </a:xfrm>
          <a:prstGeom prst="rect">
            <a:avLst/>
          </a:prstGeom>
        </p:spPr>
      </p:pic>
      <p:pic>
        <p:nvPicPr>
          <p:cNvPr id="15" name="Picture 14">
            <a:extLst>
              <a:ext uri="{FF2B5EF4-FFF2-40B4-BE49-F238E27FC236}">
                <a16:creationId xmlns:a16="http://schemas.microsoft.com/office/drawing/2014/main" id="{C8F26187-F098-831E-E4DD-B92530857D3B}"/>
              </a:ext>
            </a:extLst>
          </p:cNvPr>
          <p:cNvPicPr>
            <a:picLocks noChangeAspect="1"/>
          </p:cNvPicPr>
          <p:nvPr/>
        </p:nvPicPr>
        <p:blipFill>
          <a:blip r:embed="rId7"/>
          <a:stretch>
            <a:fillRect/>
          </a:stretch>
        </p:blipFill>
        <p:spPr>
          <a:xfrm>
            <a:off x="6268012" y="3012903"/>
            <a:ext cx="2204857" cy="1395643"/>
          </a:xfrm>
          <a:prstGeom prst="rect">
            <a:avLst/>
          </a:prstGeom>
        </p:spPr>
      </p:pic>
      <p:pic>
        <p:nvPicPr>
          <p:cNvPr id="18" name="Picture 7" descr="Wind Turbine Efficiency: How Has It Improved Over Time? - Lumify Energy">
            <a:extLst>
              <a:ext uri="{FF2B5EF4-FFF2-40B4-BE49-F238E27FC236}">
                <a16:creationId xmlns:a16="http://schemas.microsoft.com/office/drawing/2014/main" id="{DB892F1E-E50D-BA23-F842-342050AC08F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42382" y="410625"/>
            <a:ext cx="1252254" cy="83397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FA199CF-0861-0B53-1F13-5F293C27ABB7}"/>
              </a:ext>
            </a:extLst>
          </p:cNvPr>
          <p:cNvSpPr txBox="1"/>
          <p:nvPr/>
        </p:nvSpPr>
        <p:spPr>
          <a:xfrm>
            <a:off x="601938" y="2319506"/>
            <a:ext cx="2194077" cy="584775"/>
          </a:xfrm>
          <a:prstGeom prst="rect">
            <a:avLst/>
          </a:prstGeom>
          <a:noFill/>
        </p:spPr>
        <p:txBody>
          <a:bodyPr wrap="square">
            <a:spAutoFit/>
          </a:bodyPr>
          <a:lstStyle/>
          <a:p>
            <a:pPr algn="ctr"/>
            <a:r>
              <a:rPr lang="en-US" sz="800" b="1" dirty="0">
                <a:latin typeface="Times" panose="02020603050405020304" pitchFamily="18" charset="0"/>
                <a:cs typeface="Times" panose="02020603050405020304" pitchFamily="18" charset="0"/>
              </a:rPr>
              <a:t>Handled missing values</a:t>
            </a:r>
          </a:p>
          <a:p>
            <a:pPr algn="ctr"/>
            <a:r>
              <a:rPr lang="en-US" sz="800" b="1" dirty="0">
                <a:latin typeface="Times" panose="02020603050405020304" pitchFamily="18" charset="0"/>
                <a:cs typeface="Times" panose="02020603050405020304" pitchFamily="18" charset="0"/>
              </a:rPr>
              <a:t>Normalized input features</a:t>
            </a:r>
          </a:p>
          <a:p>
            <a:pPr algn="ctr"/>
            <a:r>
              <a:rPr lang="en-US" sz="800" b="1" dirty="0">
                <a:latin typeface="Times" panose="02020603050405020304" pitchFamily="18" charset="0"/>
                <a:cs typeface="Times" panose="02020603050405020304" pitchFamily="18" charset="0"/>
              </a:rPr>
              <a:t>Feature selection</a:t>
            </a:r>
          </a:p>
          <a:p>
            <a:pPr algn="ctr"/>
            <a:r>
              <a:rPr lang="en-US" sz="800" b="1" dirty="0">
                <a:latin typeface="Times" panose="02020603050405020304" pitchFamily="18" charset="0"/>
                <a:cs typeface="Times" panose="02020603050405020304" pitchFamily="18" charset="0"/>
              </a:rPr>
              <a:t>Train-test split for model evaluation</a:t>
            </a:r>
          </a:p>
        </p:txBody>
      </p:sp>
      <p:sp>
        <p:nvSpPr>
          <p:cNvPr id="8" name="TextBox 7">
            <a:extLst>
              <a:ext uri="{FF2B5EF4-FFF2-40B4-BE49-F238E27FC236}">
                <a16:creationId xmlns:a16="http://schemas.microsoft.com/office/drawing/2014/main" id="{B7B6A01A-3F43-5B5E-C5AC-CEC467FAEA5D}"/>
              </a:ext>
            </a:extLst>
          </p:cNvPr>
          <p:cNvSpPr txBox="1"/>
          <p:nvPr/>
        </p:nvSpPr>
        <p:spPr>
          <a:xfrm>
            <a:off x="2895625" y="2611894"/>
            <a:ext cx="6096000" cy="338554"/>
          </a:xfrm>
          <a:prstGeom prst="rect">
            <a:avLst/>
          </a:prstGeom>
          <a:noFill/>
        </p:spPr>
        <p:txBody>
          <a:bodyPr wrap="square">
            <a:spAutoFit/>
          </a:bodyPr>
          <a:lstStyle/>
          <a:p>
            <a:pPr algn="ctr"/>
            <a:r>
              <a:rPr lang="en-US" sz="800" dirty="0">
                <a:latin typeface="Times" panose="02020603050405020304" pitchFamily="18" charset="0"/>
                <a:cs typeface="Times" panose="02020603050405020304" pitchFamily="18" charset="0"/>
              </a:rPr>
              <a:t>Overall, the </a:t>
            </a:r>
            <a:r>
              <a:rPr lang="en-US" sz="800" b="1" dirty="0">
                <a:latin typeface="Times" panose="02020603050405020304" pitchFamily="18" charset="0"/>
                <a:cs typeface="Times" panose="02020603050405020304" pitchFamily="18" charset="0"/>
              </a:rPr>
              <a:t>correlation analysis</a:t>
            </a:r>
            <a:r>
              <a:rPr lang="en-US" sz="800" dirty="0">
                <a:latin typeface="Times" panose="02020603050405020304" pitchFamily="18" charset="0"/>
                <a:cs typeface="Times" panose="02020603050405020304" pitchFamily="18" charset="0"/>
              </a:rPr>
              <a:t> shows that temperature features, especially </a:t>
            </a:r>
            <a:r>
              <a:rPr lang="en-US" sz="800" b="1" dirty="0">
                <a:latin typeface="Times" panose="02020603050405020304" pitchFamily="18" charset="0"/>
                <a:cs typeface="Times" panose="02020603050405020304" pitchFamily="18" charset="0"/>
              </a:rPr>
              <a:t>T.MAX</a:t>
            </a:r>
            <a:r>
              <a:rPr lang="en-US" sz="800" dirty="0">
                <a:latin typeface="Times" panose="02020603050405020304" pitchFamily="18" charset="0"/>
                <a:cs typeface="Times" panose="02020603050405020304" pitchFamily="18" charset="0"/>
              </a:rPr>
              <a:t>, have a mild </a:t>
            </a:r>
            <a:r>
              <a:rPr lang="en-US" sz="800" b="1" dirty="0">
                <a:latin typeface="Times" panose="02020603050405020304" pitchFamily="18" charset="0"/>
                <a:cs typeface="Times" panose="02020603050405020304" pitchFamily="18" charset="0"/>
              </a:rPr>
              <a:t>positive relationship with WIND</a:t>
            </a:r>
            <a:r>
              <a:rPr lang="en-US" sz="800" dirty="0">
                <a:latin typeface="Times" panose="02020603050405020304" pitchFamily="18" charset="0"/>
                <a:cs typeface="Times" panose="02020603050405020304" pitchFamily="18" charset="0"/>
              </a:rPr>
              <a:t>, justifying their use in model building, while different missing data handling methods slightly impact the strength of these relationships</a:t>
            </a:r>
          </a:p>
        </p:txBody>
      </p:sp>
      <p:sp>
        <p:nvSpPr>
          <p:cNvPr id="12" name="TextBox 11">
            <a:extLst>
              <a:ext uri="{FF2B5EF4-FFF2-40B4-BE49-F238E27FC236}">
                <a16:creationId xmlns:a16="http://schemas.microsoft.com/office/drawing/2014/main" id="{5B5D9C12-32DA-77A1-4F8E-48AA550117BB}"/>
              </a:ext>
            </a:extLst>
          </p:cNvPr>
          <p:cNvSpPr txBox="1"/>
          <p:nvPr/>
        </p:nvSpPr>
        <p:spPr>
          <a:xfrm>
            <a:off x="237339" y="4457512"/>
            <a:ext cx="2923277" cy="584775"/>
          </a:xfrm>
          <a:prstGeom prst="rect">
            <a:avLst/>
          </a:prstGeom>
          <a:noFill/>
        </p:spPr>
        <p:txBody>
          <a:bodyPr wrap="square">
            <a:spAutoFit/>
          </a:bodyPr>
          <a:lstStyle/>
          <a:p>
            <a:pPr algn="ctr">
              <a:buNone/>
            </a:pPr>
            <a:r>
              <a:rPr lang="en-US" sz="800" b="1" dirty="0">
                <a:latin typeface="Times" panose="02020603050405020304" pitchFamily="18" charset="0"/>
                <a:cs typeface="Times" panose="02020603050405020304" pitchFamily="18" charset="0"/>
              </a:rPr>
              <a:t>Yearly Trend</a:t>
            </a:r>
          </a:p>
          <a:p>
            <a:pPr algn="ctr">
              <a:buNone/>
            </a:pPr>
            <a:r>
              <a:rPr lang="en-US" sz="800" dirty="0">
                <a:latin typeface="Times" panose="02020603050405020304" pitchFamily="18" charset="0"/>
                <a:cs typeface="Times" panose="02020603050405020304" pitchFamily="18" charset="0"/>
              </a:rPr>
              <a:t>Average wind speed remains relatively stable from 1961 to 1978.</a:t>
            </a:r>
          </a:p>
          <a:p>
            <a:pPr algn="ctr">
              <a:buNone/>
            </a:pPr>
            <a:r>
              <a:rPr lang="en-US" sz="800" dirty="0">
                <a:latin typeface="Times" panose="02020603050405020304" pitchFamily="18" charset="0"/>
                <a:cs typeface="Times" panose="02020603050405020304" pitchFamily="18" charset="0"/>
              </a:rPr>
              <a:t>From the yearly analysis, </a:t>
            </a:r>
            <a:r>
              <a:rPr lang="en-US" sz="800" b="1" dirty="0">
                <a:latin typeface="Times" panose="02020603050405020304" pitchFamily="18" charset="0"/>
                <a:cs typeface="Times" panose="02020603050405020304" pitchFamily="18" charset="0"/>
              </a:rPr>
              <a:t>1977 recorded the highest average </a:t>
            </a:r>
            <a:r>
              <a:rPr lang="en-US" sz="800" dirty="0">
                <a:latin typeface="Times" panose="02020603050405020304" pitchFamily="18" charset="0"/>
                <a:cs typeface="Times" panose="02020603050405020304" pitchFamily="18" charset="0"/>
              </a:rPr>
              <a:t>wind speed among all the years studied</a:t>
            </a:r>
          </a:p>
        </p:txBody>
      </p:sp>
      <p:sp>
        <p:nvSpPr>
          <p:cNvPr id="16" name="TextBox 15">
            <a:extLst>
              <a:ext uri="{FF2B5EF4-FFF2-40B4-BE49-F238E27FC236}">
                <a16:creationId xmlns:a16="http://schemas.microsoft.com/office/drawing/2014/main" id="{7A271472-4776-2FEC-9D6C-9EB8797B525D}"/>
              </a:ext>
            </a:extLst>
          </p:cNvPr>
          <p:cNvSpPr txBox="1"/>
          <p:nvPr/>
        </p:nvSpPr>
        <p:spPr>
          <a:xfrm>
            <a:off x="3232927" y="4481041"/>
            <a:ext cx="2844797" cy="461665"/>
          </a:xfrm>
          <a:prstGeom prst="rect">
            <a:avLst/>
          </a:prstGeom>
          <a:noFill/>
        </p:spPr>
        <p:txBody>
          <a:bodyPr wrap="square">
            <a:spAutoFit/>
          </a:bodyPr>
          <a:lstStyle/>
          <a:p>
            <a:pPr algn="ctr">
              <a:buNone/>
            </a:pPr>
            <a:r>
              <a:rPr lang="en-US" sz="800" b="1" dirty="0">
                <a:latin typeface="Times" panose="02020603050405020304" pitchFamily="18" charset="0"/>
                <a:cs typeface="Times" panose="02020603050405020304" pitchFamily="18" charset="0"/>
              </a:rPr>
              <a:t>Monthly Trend</a:t>
            </a:r>
          </a:p>
          <a:p>
            <a:pPr algn="ctr">
              <a:buNone/>
            </a:pPr>
            <a:r>
              <a:rPr lang="en-US" sz="800" b="1" dirty="0">
                <a:latin typeface="Times" panose="02020603050405020304" pitchFamily="18" charset="0"/>
                <a:cs typeface="Times" panose="02020603050405020304" pitchFamily="18" charset="0"/>
              </a:rPr>
              <a:t>Higher wind speeds </a:t>
            </a:r>
            <a:r>
              <a:rPr lang="en-US" sz="800" dirty="0">
                <a:latin typeface="Times" panose="02020603050405020304" pitchFamily="18" charset="0"/>
                <a:cs typeface="Times" panose="02020603050405020304" pitchFamily="18" charset="0"/>
              </a:rPr>
              <a:t>during winter months ( Dec, Jan, Feb).</a:t>
            </a:r>
          </a:p>
          <a:p>
            <a:pPr algn="ctr">
              <a:buNone/>
            </a:pPr>
            <a:r>
              <a:rPr lang="en-US" sz="800" b="1" dirty="0">
                <a:latin typeface="Times" panose="02020603050405020304" pitchFamily="18" charset="0"/>
                <a:cs typeface="Times" panose="02020603050405020304" pitchFamily="18" charset="0"/>
              </a:rPr>
              <a:t>Lower wind speeds </a:t>
            </a:r>
            <a:r>
              <a:rPr lang="en-US" sz="800" dirty="0">
                <a:latin typeface="Times" panose="02020603050405020304" pitchFamily="18" charset="0"/>
                <a:cs typeface="Times" panose="02020603050405020304" pitchFamily="18" charset="0"/>
              </a:rPr>
              <a:t>during summer months (May, June, July).</a:t>
            </a:r>
          </a:p>
        </p:txBody>
      </p:sp>
      <p:sp>
        <p:nvSpPr>
          <p:cNvPr id="19" name="TextBox 18">
            <a:extLst>
              <a:ext uri="{FF2B5EF4-FFF2-40B4-BE49-F238E27FC236}">
                <a16:creationId xmlns:a16="http://schemas.microsoft.com/office/drawing/2014/main" id="{11068213-E115-0422-4AA0-A067D0E8DA3A}"/>
              </a:ext>
            </a:extLst>
          </p:cNvPr>
          <p:cNvSpPr txBox="1"/>
          <p:nvPr/>
        </p:nvSpPr>
        <p:spPr>
          <a:xfrm>
            <a:off x="6243684" y="4457512"/>
            <a:ext cx="2366916" cy="461665"/>
          </a:xfrm>
          <a:prstGeom prst="rect">
            <a:avLst/>
          </a:prstGeom>
          <a:noFill/>
        </p:spPr>
        <p:txBody>
          <a:bodyPr wrap="square">
            <a:spAutoFit/>
          </a:bodyPr>
          <a:lstStyle/>
          <a:p>
            <a:pPr algn="ctr">
              <a:buNone/>
            </a:pPr>
            <a:r>
              <a:rPr lang="en-US" sz="800" b="1" dirty="0">
                <a:latin typeface="Times" panose="02020603050405020304" pitchFamily="18" charset="0"/>
                <a:cs typeface="Times" panose="02020603050405020304" pitchFamily="18" charset="0"/>
              </a:rPr>
              <a:t>Seasonal Trend</a:t>
            </a:r>
          </a:p>
          <a:p>
            <a:pPr algn="ctr">
              <a:buNone/>
            </a:pPr>
            <a:r>
              <a:rPr lang="en-US" sz="800" b="1" dirty="0">
                <a:latin typeface="Times" panose="02020603050405020304" pitchFamily="18" charset="0"/>
                <a:cs typeface="Times" panose="02020603050405020304" pitchFamily="18" charset="0"/>
              </a:rPr>
              <a:t>Winter </a:t>
            </a:r>
            <a:r>
              <a:rPr lang="en-US" sz="800" dirty="0">
                <a:latin typeface="Times" panose="02020603050405020304" pitchFamily="18" charset="0"/>
                <a:cs typeface="Times" panose="02020603050405020304" pitchFamily="18" charset="0"/>
              </a:rPr>
              <a:t>has the </a:t>
            </a:r>
            <a:r>
              <a:rPr lang="en-US" sz="800" b="1" dirty="0">
                <a:latin typeface="Times" panose="02020603050405020304" pitchFamily="18" charset="0"/>
                <a:cs typeface="Times" panose="02020603050405020304" pitchFamily="18" charset="0"/>
              </a:rPr>
              <a:t>highest average </a:t>
            </a:r>
            <a:r>
              <a:rPr lang="en-US" sz="800" dirty="0">
                <a:latin typeface="Times" panose="02020603050405020304" pitchFamily="18" charset="0"/>
                <a:cs typeface="Times" panose="02020603050405020304" pitchFamily="18" charset="0"/>
              </a:rPr>
              <a:t>wind speed.</a:t>
            </a:r>
          </a:p>
          <a:p>
            <a:pPr algn="ctr"/>
            <a:r>
              <a:rPr lang="en-US" sz="800" b="1" dirty="0">
                <a:latin typeface="Times" panose="02020603050405020304" pitchFamily="18" charset="0"/>
                <a:cs typeface="Times" panose="02020603050405020304" pitchFamily="18" charset="0"/>
              </a:rPr>
              <a:t>Summer </a:t>
            </a:r>
            <a:r>
              <a:rPr lang="en-US" sz="800" dirty="0">
                <a:latin typeface="Times" panose="02020603050405020304" pitchFamily="18" charset="0"/>
                <a:cs typeface="Times" panose="02020603050405020304" pitchFamily="18" charset="0"/>
              </a:rPr>
              <a:t>has the </a:t>
            </a:r>
            <a:r>
              <a:rPr lang="en-US" sz="800" b="1" dirty="0">
                <a:latin typeface="Times" panose="02020603050405020304" pitchFamily="18" charset="0"/>
                <a:cs typeface="Times" panose="02020603050405020304" pitchFamily="18" charset="0"/>
              </a:rPr>
              <a:t>lowest average </a:t>
            </a:r>
            <a:r>
              <a:rPr lang="en-US" sz="800" dirty="0">
                <a:latin typeface="Times" panose="02020603050405020304" pitchFamily="18" charset="0"/>
                <a:cs typeface="Times" panose="02020603050405020304" pitchFamily="18" charset="0"/>
              </a:rPr>
              <a:t>wind speed.</a:t>
            </a:r>
            <a:endParaRPr lang="en-US" sz="800" dirty="0"/>
          </a:p>
        </p:txBody>
      </p:sp>
    </p:spTree>
    <p:extLst>
      <p:ext uri="{BB962C8B-B14F-4D97-AF65-F5344CB8AC3E}">
        <p14:creationId xmlns:p14="http://schemas.microsoft.com/office/powerpoint/2010/main" val="30966968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EC9956C-5D02-FC88-77F9-9812AE59D74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7</a:t>
            </a:fld>
            <a:endParaRPr lang="en"/>
          </a:p>
        </p:txBody>
      </p:sp>
      <p:sp>
        <p:nvSpPr>
          <p:cNvPr id="4" name="Title 3">
            <a:extLst>
              <a:ext uri="{FF2B5EF4-FFF2-40B4-BE49-F238E27FC236}">
                <a16:creationId xmlns:a16="http://schemas.microsoft.com/office/drawing/2014/main" id="{474FA20D-388F-29BE-3C32-C1A28108F317}"/>
              </a:ext>
            </a:extLst>
          </p:cNvPr>
          <p:cNvSpPr>
            <a:spLocks noGrp="1"/>
          </p:cNvSpPr>
          <p:nvPr>
            <p:ph type="title"/>
          </p:nvPr>
        </p:nvSpPr>
        <p:spPr/>
        <p:txBody>
          <a:bodyPr/>
          <a:lstStyle/>
          <a:p>
            <a:pPr algn="ctr"/>
            <a:r>
              <a:rPr lang="en-US" sz="1400" dirty="0">
                <a:latin typeface="Times" panose="02020603050405020304" pitchFamily="18" charset="0"/>
                <a:cs typeface="Times" panose="02020603050405020304" pitchFamily="18" charset="0"/>
              </a:rPr>
              <a:t>MODELS USED</a:t>
            </a:r>
          </a:p>
        </p:txBody>
      </p:sp>
      <p:pic>
        <p:nvPicPr>
          <p:cNvPr id="8" name="Picture 7" descr="A blue line on a white background&#10;&#10;AI-generated content may be incorrect.">
            <a:extLst>
              <a:ext uri="{FF2B5EF4-FFF2-40B4-BE49-F238E27FC236}">
                <a16:creationId xmlns:a16="http://schemas.microsoft.com/office/drawing/2014/main" id="{300741B6-3593-077B-7A01-29A1F4CC39A9}"/>
              </a:ext>
            </a:extLst>
          </p:cNvPr>
          <p:cNvPicPr>
            <a:picLocks noChangeAspect="1"/>
          </p:cNvPicPr>
          <p:nvPr/>
        </p:nvPicPr>
        <p:blipFill>
          <a:blip r:embed="rId2"/>
          <a:stretch>
            <a:fillRect/>
          </a:stretch>
        </p:blipFill>
        <p:spPr>
          <a:xfrm>
            <a:off x="75075" y="1619703"/>
            <a:ext cx="994121" cy="988234"/>
          </a:xfrm>
          <a:prstGeom prst="rect">
            <a:avLst/>
          </a:prstGeom>
        </p:spPr>
      </p:pic>
      <p:pic>
        <p:nvPicPr>
          <p:cNvPr id="10" name="Picture 9" descr="A blue graph with a arrow and dots&#10;&#10;AI-generated content may be incorrect.">
            <a:extLst>
              <a:ext uri="{FF2B5EF4-FFF2-40B4-BE49-F238E27FC236}">
                <a16:creationId xmlns:a16="http://schemas.microsoft.com/office/drawing/2014/main" id="{88484052-27E4-FC92-449F-5DEF174BB294}"/>
              </a:ext>
            </a:extLst>
          </p:cNvPr>
          <p:cNvPicPr>
            <a:picLocks noChangeAspect="1"/>
          </p:cNvPicPr>
          <p:nvPr/>
        </p:nvPicPr>
        <p:blipFill>
          <a:blip r:embed="rId3"/>
          <a:stretch>
            <a:fillRect/>
          </a:stretch>
        </p:blipFill>
        <p:spPr>
          <a:xfrm>
            <a:off x="2835972" y="1627720"/>
            <a:ext cx="1021177" cy="988234"/>
          </a:xfrm>
          <a:prstGeom prst="rect">
            <a:avLst/>
          </a:prstGeom>
        </p:spPr>
      </p:pic>
      <p:pic>
        <p:nvPicPr>
          <p:cNvPr id="12" name="Picture 11" descr="A blue and white logo&#10;&#10;AI-generated content may be incorrect.">
            <a:extLst>
              <a:ext uri="{FF2B5EF4-FFF2-40B4-BE49-F238E27FC236}">
                <a16:creationId xmlns:a16="http://schemas.microsoft.com/office/drawing/2014/main" id="{A8FA4B18-4014-413D-90C0-6223DA7A7F9F}"/>
              </a:ext>
            </a:extLst>
          </p:cNvPr>
          <p:cNvPicPr>
            <a:picLocks noChangeAspect="1"/>
          </p:cNvPicPr>
          <p:nvPr/>
        </p:nvPicPr>
        <p:blipFill>
          <a:blip r:embed="rId4"/>
          <a:stretch>
            <a:fillRect/>
          </a:stretch>
        </p:blipFill>
        <p:spPr>
          <a:xfrm>
            <a:off x="5426098" y="1562517"/>
            <a:ext cx="1127314" cy="952762"/>
          </a:xfrm>
          <a:prstGeom prst="rect">
            <a:avLst/>
          </a:prstGeom>
        </p:spPr>
      </p:pic>
      <p:pic>
        <p:nvPicPr>
          <p:cNvPr id="14" name="Picture 13" descr="A blue logo with circles&#10;&#10;AI-generated content may be incorrect.">
            <a:extLst>
              <a:ext uri="{FF2B5EF4-FFF2-40B4-BE49-F238E27FC236}">
                <a16:creationId xmlns:a16="http://schemas.microsoft.com/office/drawing/2014/main" id="{DB794374-0677-1360-49E6-F7E7942882E0}"/>
              </a:ext>
            </a:extLst>
          </p:cNvPr>
          <p:cNvPicPr>
            <a:picLocks noChangeAspect="1"/>
          </p:cNvPicPr>
          <p:nvPr/>
        </p:nvPicPr>
        <p:blipFill>
          <a:blip r:embed="rId5"/>
          <a:stretch>
            <a:fillRect/>
          </a:stretch>
        </p:blipFill>
        <p:spPr>
          <a:xfrm>
            <a:off x="2923444" y="2775039"/>
            <a:ext cx="933301" cy="981179"/>
          </a:xfrm>
          <a:prstGeom prst="rect">
            <a:avLst/>
          </a:prstGeom>
        </p:spPr>
      </p:pic>
      <p:pic>
        <p:nvPicPr>
          <p:cNvPr id="16" name="Picture 15" descr="A blue circle with circles&#10;&#10;AI-generated content may be incorrect.">
            <a:extLst>
              <a:ext uri="{FF2B5EF4-FFF2-40B4-BE49-F238E27FC236}">
                <a16:creationId xmlns:a16="http://schemas.microsoft.com/office/drawing/2014/main" id="{11D1EB5E-6DEF-1C4F-E650-627DB0B6AF98}"/>
              </a:ext>
            </a:extLst>
          </p:cNvPr>
          <p:cNvPicPr>
            <a:picLocks noChangeAspect="1"/>
          </p:cNvPicPr>
          <p:nvPr/>
        </p:nvPicPr>
        <p:blipFill>
          <a:blip r:embed="rId6"/>
          <a:stretch>
            <a:fillRect/>
          </a:stretch>
        </p:blipFill>
        <p:spPr>
          <a:xfrm>
            <a:off x="145542" y="2757688"/>
            <a:ext cx="927667" cy="916670"/>
          </a:xfrm>
          <a:prstGeom prst="rect">
            <a:avLst/>
          </a:prstGeom>
        </p:spPr>
      </p:pic>
      <p:pic>
        <p:nvPicPr>
          <p:cNvPr id="18" name="Picture 17" descr="A blue line drawing of a face&#10;&#10;AI-generated content may be incorrect.">
            <a:extLst>
              <a:ext uri="{FF2B5EF4-FFF2-40B4-BE49-F238E27FC236}">
                <a16:creationId xmlns:a16="http://schemas.microsoft.com/office/drawing/2014/main" id="{C5FC08FD-E5A9-9E66-D547-282ECF5DB405}"/>
              </a:ext>
            </a:extLst>
          </p:cNvPr>
          <p:cNvPicPr>
            <a:picLocks noChangeAspect="1"/>
          </p:cNvPicPr>
          <p:nvPr/>
        </p:nvPicPr>
        <p:blipFill>
          <a:blip r:embed="rId7"/>
          <a:stretch>
            <a:fillRect/>
          </a:stretch>
        </p:blipFill>
        <p:spPr>
          <a:xfrm>
            <a:off x="5598126" y="2696276"/>
            <a:ext cx="885403" cy="899158"/>
          </a:xfrm>
          <a:prstGeom prst="rect">
            <a:avLst/>
          </a:prstGeom>
        </p:spPr>
      </p:pic>
      <p:sp>
        <p:nvSpPr>
          <p:cNvPr id="21" name="TextBox 20">
            <a:extLst>
              <a:ext uri="{FF2B5EF4-FFF2-40B4-BE49-F238E27FC236}">
                <a16:creationId xmlns:a16="http://schemas.microsoft.com/office/drawing/2014/main" id="{1B197DC9-5184-EB97-F152-C70FC7863635}"/>
              </a:ext>
            </a:extLst>
          </p:cNvPr>
          <p:cNvSpPr txBox="1"/>
          <p:nvPr/>
        </p:nvSpPr>
        <p:spPr>
          <a:xfrm>
            <a:off x="948792" y="1487274"/>
            <a:ext cx="2002289" cy="1077218"/>
          </a:xfrm>
          <a:prstGeom prst="rect">
            <a:avLst/>
          </a:prstGeom>
          <a:noFill/>
        </p:spPr>
        <p:txBody>
          <a:bodyPr wrap="square">
            <a:spAutoFit/>
          </a:bodyPr>
          <a:lstStyle/>
          <a:p>
            <a:pPr algn="ctr">
              <a:buNone/>
            </a:pPr>
            <a:r>
              <a:rPr lang="en-US" sz="800" b="1" u="sng" dirty="0">
                <a:latin typeface="Times" panose="02020603050405020304" pitchFamily="18" charset="0"/>
                <a:cs typeface="Times" panose="02020603050405020304" pitchFamily="18" charset="0"/>
              </a:rPr>
              <a:t>Linear Regression (1-Variable)</a:t>
            </a:r>
          </a:p>
          <a:p>
            <a:pPr algn="ctr">
              <a:buNone/>
            </a:pPr>
            <a:endParaRPr lang="en-US" sz="800" b="1" dirty="0">
              <a:latin typeface="Times" panose="02020603050405020304" pitchFamily="18" charset="0"/>
              <a:cs typeface="Times" panose="02020603050405020304" pitchFamily="18" charset="0"/>
            </a:endParaRPr>
          </a:p>
          <a:p>
            <a:pPr marL="171450" indent="-171450" algn="just">
              <a:buFont typeface="Arial" panose="020B0604020202020204" pitchFamily="34" charset="0"/>
              <a:buChar char="•"/>
            </a:pPr>
            <a:r>
              <a:rPr lang="en-US" sz="800" b="1" dirty="0">
                <a:latin typeface="Times" panose="02020603050405020304" pitchFamily="18" charset="0"/>
                <a:cs typeface="Times" panose="02020603050405020304" pitchFamily="18" charset="0"/>
              </a:rPr>
              <a:t>Feature Used: </a:t>
            </a:r>
            <a:r>
              <a:rPr lang="en-US" sz="800" dirty="0">
                <a:latin typeface="Times" panose="02020603050405020304" pitchFamily="18" charset="0"/>
                <a:cs typeface="Times" panose="02020603050405020304" pitchFamily="18" charset="0"/>
              </a:rPr>
              <a:t>T.MAX (Maximum Temperature)</a:t>
            </a:r>
          </a:p>
          <a:p>
            <a:pPr marL="171450" indent="-171450" algn="just">
              <a:buFont typeface="Arial" panose="020B0604020202020204" pitchFamily="34" charset="0"/>
              <a:buChar char="•"/>
            </a:pPr>
            <a:r>
              <a:rPr lang="en-US" sz="800" b="1" dirty="0">
                <a:latin typeface="Times" panose="02020603050405020304" pitchFamily="18" charset="0"/>
                <a:cs typeface="Times" panose="02020603050405020304" pitchFamily="18" charset="0"/>
              </a:rPr>
              <a:t>Goal: </a:t>
            </a:r>
            <a:r>
              <a:rPr lang="en-US" sz="800" dirty="0">
                <a:latin typeface="Times" panose="02020603050405020304" pitchFamily="18" charset="0"/>
                <a:cs typeface="Times" panose="02020603050405020304" pitchFamily="18" charset="0"/>
              </a:rPr>
              <a:t>Understand how changes in maximum temperature alone influence wind speed. A basic regression model that uses only one feature </a:t>
            </a:r>
            <a:r>
              <a:rPr lang="en-US" sz="800" b="1" dirty="0">
                <a:latin typeface="Times" panose="02020603050405020304" pitchFamily="18" charset="0"/>
                <a:cs typeface="Times" panose="02020603050405020304" pitchFamily="18" charset="0"/>
              </a:rPr>
              <a:t>(T.MAX)</a:t>
            </a:r>
            <a:r>
              <a:rPr lang="en-US" sz="800" dirty="0">
                <a:latin typeface="Times" panose="02020603050405020304" pitchFamily="18" charset="0"/>
                <a:cs typeface="Times" panose="02020603050405020304" pitchFamily="18" charset="0"/>
              </a:rPr>
              <a:t>.</a:t>
            </a:r>
            <a:endParaRPr lang="en-US" sz="800" b="1" dirty="0">
              <a:latin typeface="Times" panose="02020603050405020304" pitchFamily="18" charset="0"/>
              <a:cs typeface="Times" panose="02020603050405020304" pitchFamily="18" charset="0"/>
            </a:endParaRPr>
          </a:p>
        </p:txBody>
      </p:sp>
      <p:sp>
        <p:nvSpPr>
          <p:cNvPr id="23" name="TextBox 22">
            <a:extLst>
              <a:ext uri="{FF2B5EF4-FFF2-40B4-BE49-F238E27FC236}">
                <a16:creationId xmlns:a16="http://schemas.microsoft.com/office/drawing/2014/main" id="{FA1DF2E7-4ECD-123A-C3C7-CE87FEFB51E9}"/>
              </a:ext>
            </a:extLst>
          </p:cNvPr>
          <p:cNvSpPr txBox="1"/>
          <p:nvPr/>
        </p:nvSpPr>
        <p:spPr>
          <a:xfrm>
            <a:off x="3675927" y="1467816"/>
            <a:ext cx="1906543" cy="1323439"/>
          </a:xfrm>
          <a:prstGeom prst="rect">
            <a:avLst/>
          </a:prstGeom>
          <a:noFill/>
        </p:spPr>
        <p:txBody>
          <a:bodyPr wrap="square">
            <a:spAutoFit/>
          </a:bodyPr>
          <a:lstStyle/>
          <a:p>
            <a:pPr algn="ctr">
              <a:buNone/>
            </a:pPr>
            <a:r>
              <a:rPr lang="en-US" sz="800" b="1" u="sng" dirty="0">
                <a:latin typeface="Times" panose="02020603050405020304" pitchFamily="18" charset="0"/>
                <a:cs typeface="Times" panose="02020603050405020304" pitchFamily="18" charset="0"/>
              </a:rPr>
              <a:t>Linear Regression (2-Variable)</a:t>
            </a:r>
          </a:p>
          <a:p>
            <a:pPr algn="ctr">
              <a:buNone/>
            </a:pPr>
            <a:endParaRPr lang="en-US" sz="800" u="sng" dirty="0">
              <a:latin typeface="Times" panose="02020603050405020304" pitchFamily="18" charset="0"/>
              <a:cs typeface="Times" panose="02020603050405020304" pitchFamily="18" charset="0"/>
            </a:endParaRPr>
          </a:p>
          <a:p>
            <a:pPr marL="171450" indent="-171450" algn="just">
              <a:buFont typeface="Arial" panose="020B0604020202020204" pitchFamily="34" charset="0"/>
              <a:buChar char="•"/>
            </a:pPr>
            <a:r>
              <a:rPr lang="en-US" sz="800" b="1" dirty="0">
                <a:latin typeface="Times" panose="02020603050405020304" pitchFamily="18" charset="0"/>
                <a:cs typeface="Times" panose="02020603050405020304" pitchFamily="18" charset="0"/>
              </a:rPr>
              <a:t>Features Used: T.MAX </a:t>
            </a:r>
            <a:r>
              <a:rPr lang="en-US" sz="800" dirty="0">
                <a:latin typeface="Times" panose="02020603050405020304" pitchFamily="18" charset="0"/>
                <a:cs typeface="Times" panose="02020603050405020304" pitchFamily="18" charset="0"/>
              </a:rPr>
              <a:t>(Maximum Temperature) and </a:t>
            </a:r>
            <a:r>
              <a:rPr lang="en-US" sz="800" b="1" dirty="0">
                <a:latin typeface="Times" panose="02020603050405020304" pitchFamily="18" charset="0"/>
                <a:cs typeface="Times" panose="02020603050405020304" pitchFamily="18" charset="0"/>
              </a:rPr>
              <a:t>RAIN</a:t>
            </a:r>
            <a:r>
              <a:rPr lang="en-US" sz="800" dirty="0">
                <a:latin typeface="Times" panose="02020603050405020304" pitchFamily="18" charset="0"/>
                <a:cs typeface="Times" panose="02020603050405020304" pitchFamily="18" charset="0"/>
              </a:rPr>
              <a:t> (Rainfall)</a:t>
            </a:r>
          </a:p>
          <a:p>
            <a:pPr marL="171450" indent="-171450" algn="just">
              <a:buFont typeface="Arial" panose="020B0604020202020204" pitchFamily="34" charset="0"/>
              <a:buChar char="•"/>
            </a:pPr>
            <a:r>
              <a:rPr lang="en-US" sz="800" b="1" dirty="0">
                <a:latin typeface="Times" panose="02020603050405020304" pitchFamily="18" charset="0"/>
                <a:cs typeface="Times" panose="02020603050405020304" pitchFamily="18" charset="0"/>
              </a:rPr>
              <a:t>Goal: </a:t>
            </a:r>
            <a:r>
              <a:rPr lang="en-US" sz="800" dirty="0">
                <a:latin typeface="Times" panose="02020603050405020304" pitchFamily="18" charset="0"/>
                <a:cs typeface="Times" panose="02020603050405020304" pitchFamily="18" charset="0"/>
              </a:rPr>
              <a:t>Analyze the combined linear influence of </a:t>
            </a:r>
            <a:r>
              <a:rPr lang="en-US" sz="800" b="1" dirty="0">
                <a:latin typeface="Times" panose="02020603050405020304" pitchFamily="18" charset="0"/>
                <a:cs typeface="Times" panose="02020603050405020304" pitchFamily="18" charset="0"/>
              </a:rPr>
              <a:t>temperature and rainfall </a:t>
            </a:r>
            <a:r>
              <a:rPr lang="en-US" sz="800" dirty="0">
                <a:latin typeface="Times" panose="02020603050405020304" pitchFamily="18" charset="0"/>
                <a:cs typeface="Times" panose="02020603050405020304" pitchFamily="18" charset="0"/>
              </a:rPr>
              <a:t>on wind speed. A multiple linear regression model with </a:t>
            </a:r>
            <a:r>
              <a:rPr lang="en-US" sz="800" b="1" dirty="0">
                <a:latin typeface="Times" panose="02020603050405020304" pitchFamily="18" charset="0"/>
                <a:cs typeface="Times" panose="02020603050405020304" pitchFamily="18" charset="0"/>
              </a:rPr>
              <a:t>two independent variables</a:t>
            </a:r>
            <a:r>
              <a:rPr lang="en-US" sz="800" dirty="0">
                <a:latin typeface="Times" panose="02020603050405020304" pitchFamily="18" charset="0"/>
                <a:cs typeface="Times" panose="02020603050405020304" pitchFamily="18" charset="0"/>
              </a:rPr>
              <a:t>.</a:t>
            </a:r>
          </a:p>
          <a:p>
            <a:pPr marL="171450" indent="-171450" algn="just">
              <a:buFont typeface="Arial" panose="020B0604020202020204" pitchFamily="34" charset="0"/>
              <a:buChar char="•"/>
            </a:pPr>
            <a:endParaRPr lang="en-US" sz="800" dirty="0">
              <a:latin typeface="Times" panose="02020603050405020304" pitchFamily="18" charset="0"/>
              <a:cs typeface="Times" panose="02020603050405020304" pitchFamily="18" charset="0"/>
            </a:endParaRPr>
          </a:p>
        </p:txBody>
      </p:sp>
      <p:sp>
        <p:nvSpPr>
          <p:cNvPr id="25" name="TextBox 24">
            <a:extLst>
              <a:ext uri="{FF2B5EF4-FFF2-40B4-BE49-F238E27FC236}">
                <a16:creationId xmlns:a16="http://schemas.microsoft.com/office/drawing/2014/main" id="{69ECF709-F0B2-AE63-DC98-D72A957256A5}"/>
              </a:ext>
            </a:extLst>
          </p:cNvPr>
          <p:cNvSpPr txBox="1"/>
          <p:nvPr/>
        </p:nvSpPr>
        <p:spPr>
          <a:xfrm>
            <a:off x="6379632" y="1451795"/>
            <a:ext cx="2328548" cy="1200329"/>
          </a:xfrm>
          <a:prstGeom prst="rect">
            <a:avLst/>
          </a:prstGeom>
          <a:noFill/>
        </p:spPr>
        <p:txBody>
          <a:bodyPr wrap="square">
            <a:spAutoFit/>
          </a:bodyPr>
          <a:lstStyle/>
          <a:p>
            <a:pPr algn="ctr">
              <a:buNone/>
            </a:pPr>
            <a:r>
              <a:rPr lang="en-US" sz="800" b="1" u="sng" dirty="0">
                <a:latin typeface="Times" panose="02020603050405020304" pitchFamily="18" charset="0"/>
                <a:cs typeface="Times" panose="02020603050405020304" pitchFamily="18" charset="0"/>
              </a:rPr>
              <a:t>Linear Regression (Multiple Variables)</a:t>
            </a:r>
          </a:p>
          <a:p>
            <a:pPr algn="ctr">
              <a:buNone/>
            </a:pPr>
            <a:endParaRPr lang="en-US" sz="800" b="1" u="sng" dirty="0">
              <a:latin typeface="Times" panose="02020603050405020304" pitchFamily="18" charset="0"/>
              <a:cs typeface="Times" panose="02020603050405020304" pitchFamily="18" charset="0"/>
            </a:endParaRPr>
          </a:p>
          <a:p>
            <a:pPr marL="171450" indent="-171450" algn="just">
              <a:buFont typeface="Arial" panose="020B0604020202020204" pitchFamily="34" charset="0"/>
              <a:buChar char="•"/>
            </a:pPr>
            <a:r>
              <a:rPr lang="en-US" sz="800" b="1" dirty="0">
                <a:latin typeface="Times" panose="02020603050405020304" pitchFamily="18" charset="0"/>
                <a:cs typeface="Times" panose="02020603050405020304" pitchFamily="18" charset="0"/>
              </a:rPr>
              <a:t>Features Used: </a:t>
            </a:r>
            <a:r>
              <a:rPr lang="en-US" sz="800" dirty="0">
                <a:latin typeface="Times" panose="02020603050405020304" pitchFamily="18" charset="0"/>
                <a:cs typeface="Times" panose="02020603050405020304" pitchFamily="18" charset="0"/>
              </a:rPr>
              <a:t>All input features (</a:t>
            </a:r>
            <a:r>
              <a:rPr lang="en-US" sz="800" b="1" dirty="0">
                <a:latin typeface="Times" panose="02020603050405020304" pitchFamily="18" charset="0"/>
                <a:cs typeface="Times" panose="02020603050405020304" pitchFamily="18" charset="0"/>
              </a:rPr>
              <a:t>excluding WIND and DATE</a:t>
            </a:r>
            <a:r>
              <a:rPr lang="en-US" sz="800" dirty="0">
                <a:latin typeface="Times" panose="02020603050405020304" pitchFamily="18" charset="0"/>
                <a:cs typeface="Times" panose="02020603050405020304" pitchFamily="18" charset="0"/>
              </a:rPr>
              <a:t>)</a:t>
            </a:r>
          </a:p>
          <a:p>
            <a:pPr marL="171450" indent="-171450" algn="just">
              <a:buFont typeface="Arial" panose="020B0604020202020204" pitchFamily="34" charset="0"/>
              <a:buChar char="•"/>
            </a:pPr>
            <a:r>
              <a:rPr lang="en-US" sz="800" b="1" dirty="0">
                <a:latin typeface="Times" panose="02020603050405020304" pitchFamily="18" charset="0"/>
                <a:cs typeface="Times" panose="02020603050405020304" pitchFamily="18" charset="0"/>
              </a:rPr>
              <a:t>Goal: </a:t>
            </a:r>
            <a:r>
              <a:rPr lang="en-US" sz="800" dirty="0">
                <a:latin typeface="Times" panose="02020603050405020304" pitchFamily="18" charset="0"/>
                <a:cs typeface="Times" panose="02020603050405020304" pitchFamily="18" charset="0"/>
              </a:rPr>
              <a:t>Capture the combined linear effect of </a:t>
            </a:r>
            <a:r>
              <a:rPr lang="en-US" sz="800" b="1" dirty="0">
                <a:latin typeface="Times" panose="02020603050405020304" pitchFamily="18" charset="0"/>
                <a:cs typeface="Times" panose="02020603050405020304" pitchFamily="18" charset="0"/>
              </a:rPr>
              <a:t>multiple weather variables </a:t>
            </a:r>
            <a:r>
              <a:rPr lang="en-US" sz="800" dirty="0">
                <a:latin typeface="Times" panose="02020603050405020304" pitchFamily="18" charset="0"/>
                <a:cs typeface="Times" panose="02020603050405020304" pitchFamily="18" charset="0"/>
              </a:rPr>
              <a:t>on wind speed. A </a:t>
            </a:r>
            <a:r>
              <a:rPr lang="en-US" sz="800" b="1" dirty="0">
                <a:latin typeface="Times" panose="02020603050405020304" pitchFamily="18" charset="0"/>
                <a:cs typeface="Times" panose="02020603050405020304" pitchFamily="18" charset="0"/>
              </a:rPr>
              <a:t>multivariate linear regression model </a:t>
            </a:r>
            <a:r>
              <a:rPr lang="en-US" sz="800" dirty="0">
                <a:latin typeface="Times" panose="02020603050405020304" pitchFamily="18" charset="0"/>
                <a:cs typeface="Times" panose="02020603050405020304" pitchFamily="18" charset="0"/>
              </a:rPr>
              <a:t>that considers several predictors simultaneously.</a:t>
            </a:r>
          </a:p>
          <a:p>
            <a:pPr marL="171450" indent="-171450" algn="just">
              <a:buFont typeface="Arial" panose="020B0604020202020204" pitchFamily="34" charset="0"/>
              <a:buChar char="•"/>
            </a:pPr>
            <a:endParaRPr lang="en-US" sz="800" dirty="0">
              <a:latin typeface="Times" panose="02020603050405020304" pitchFamily="18" charset="0"/>
              <a:cs typeface="Times" panose="02020603050405020304" pitchFamily="18" charset="0"/>
            </a:endParaRPr>
          </a:p>
        </p:txBody>
      </p:sp>
      <p:sp>
        <p:nvSpPr>
          <p:cNvPr id="27" name="TextBox 26">
            <a:extLst>
              <a:ext uri="{FF2B5EF4-FFF2-40B4-BE49-F238E27FC236}">
                <a16:creationId xmlns:a16="http://schemas.microsoft.com/office/drawing/2014/main" id="{D9CA8E30-6F84-6231-9102-ACC945570EA2}"/>
              </a:ext>
            </a:extLst>
          </p:cNvPr>
          <p:cNvSpPr txBox="1"/>
          <p:nvPr/>
        </p:nvSpPr>
        <p:spPr>
          <a:xfrm>
            <a:off x="3673606" y="2699723"/>
            <a:ext cx="2002289" cy="1077218"/>
          </a:xfrm>
          <a:prstGeom prst="rect">
            <a:avLst/>
          </a:prstGeom>
          <a:noFill/>
        </p:spPr>
        <p:txBody>
          <a:bodyPr wrap="square">
            <a:spAutoFit/>
          </a:bodyPr>
          <a:lstStyle/>
          <a:p>
            <a:pPr algn="ctr">
              <a:buNone/>
            </a:pPr>
            <a:r>
              <a:rPr lang="en-US" sz="800" b="1" u="sng" dirty="0">
                <a:latin typeface="Times" panose="02020603050405020304" pitchFamily="18" charset="0"/>
                <a:cs typeface="Times" panose="02020603050405020304" pitchFamily="18" charset="0"/>
              </a:rPr>
              <a:t>Random Forest Regressor</a:t>
            </a:r>
          </a:p>
          <a:p>
            <a:pPr algn="just"/>
            <a:endParaRPr lang="en-US" sz="800" dirty="0">
              <a:latin typeface="Times" panose="02020603050405020304" pitchFamily="18" charset="0"/>
              <a:cs typeface="Times" panose="02020603050405020304" pitchFamily="18" charset="0"/>
            </a:endParaRPr>
          </a:p>
          <a:p>
            <a:pPr marL="171450" indent="-171450" algn="just">
              <a:buFont typeface="Arial" panose="020B0604020202020204" pitchFamily="34" charset="0"/>
              <a:buChar char="•"/>
            </a:pPr>
            <a:r>
              <a:rPr lang="en-US" sz="800" b="1" dirty="0">
                <a:latin typeface="Times" panose="02020603050405020304" pitchFamily="18" charset="0"/>
                <a:cs typeface="Times" panose="02020603050405020304" pitchFamily="18" charset="0"/>
              </a:rPr>
              <a:t>Features Used</a:t>
            </a:r>
            <a:r>
              <a:rPr lang="en-US" sz="800" dirty="0">
                <a:latin typeface="Times" panose="02020603050405020304" pitchFamily="18" charset="0"/>
                <a:cs typeface="Times" panose="02020603050405020304" pitchFamily="18" charset="0"/>
              </a:rPr>
              <a:t>: All available features (</a:t>
            </a:r>
            <a:r>
              <a:rPr lang="en-US" sz="800" b="1" dirty="0">
                <a:latin typeface="Times" panose="02020603050405020304" pitchFamily="18" charset="0"/>
                <a:cs typeface="Times" panose="02020603050405020304" pitchFamily="18" charset="0"/>
              </a:rPr>
              <a:t>excluding WIND and DATE</a:t>
            </a:r>
            <a:r>
              <a:rPr lang="en-US" sz="800" dirty="0">
                <a:latin typeface="Times" panose="02020603050405020304" pitchFamily="18" charset="0"/>
                <a:cs typeface="Times" panose="02020603050405020304" pitchFamily="18" charset="0"/>
              </a:rPr>
              <a:t>).</a:t>
            </a:r>
          </a:p>
          <a:p>
            <a:pPr marL="171450" indent="-171450" algn="just">
              <a:buFont typeface="Arial" panose="020B0604020202020204" pitchFamily="34" charset="0"/>
              <a:buChar char="•"/>
            </a:pPr>
            <a:r>
              <a:rPr lang="en-US" sz="800" b="1" dirty="0">
                <a:latin typeface="Times" panose="02020603050405020304" pitchFamily="18" charset="0"/>
                <a:cs typeface="Times" panose="02020603050405020304" pitchFamily="18" charset="0"/>
              </a:rPr>
              <a:t>Goal: </a:t>
            </a:r>
            <a:r>
              <a:rPr lang="en-US" sz="800" dirty="0">
                <a:latin typeface="Times" panose="02020603050405020304" pitchFamily="18" charset="0"/>
                <a:cs typeface="Times" panose="02020603050405020304" pitchFamily="18" charset="0"/>
              </a:rPr>
              <a:t>Predict wind speed based on weather variables. Models the  </a:t>
            </a:r>
            <a:r>
              <a:rPr lang="en-US" sz="800" b="1" dirty="0">
                <a:latin typeface="Times" panose="02020603050405020304" pitchFamily="18" charset="0"/>
                <a:cs typeface="Times" panose="02020603050405020304" pitchFamily="18" charset="0"/>
              </a:rPr>
              <a:t>non-linear</a:t>
            </a:r>
            <a:r>
              <a:rPr lang="en-US" sz="800" dirty="0">
                <a:latin typeface="Times" panose="02020603050405020304" pitchFamily="18" charset="0"/>
                <a:cs typeface="Times" panose="02020603050405020304" pitchFamily="18" charset="0"/>
              </a:rPr>
              <a:t> relationships between </a:t>
            </a:r>
            <a:r>
              <a:rPr lang="en-US" sz="800" b="1" dirty="0">
                <a:latin typeface="Times" panose="02020603050405020304" pitchFamily="18" charset="0"/>
                <a:cs typeface="Times" panose="02020603050405020304" pitchFamily="18" charset="0"/>
              </a:rPr>
              <a:t>weather features </a:t>
            </a:r>
            <a:r>
              <a:rPr lang="en-US" sz="800" dirty="0">
                <a:latin typeface="Times" panose="02020603050405020304" pitchFamily="18" charset="0"/>
                <a:cs typeface="Times" panose="02020603050405020304" pitchFamily="18" charset="0"/>
              </a:rPr>
              <a:t>and </a:t>
            </a:r>
            <a:r>
              <a:rPr lang="en-US" sz="800" b="1" dirty="0">
                <a:latin typeface="Times" panose="02020603050405020304" pitchFamily="18" charset="0"/>
                <a:cs typeface="Times" panose="02020603050405020304" pitchFamily="18" charset="0"/>
              </a:rPr>
              <a:t>wind speed</a:t>
            </a:r>
            <a:r>
              <a:rPr lang="en-US" sz="800" dirty="0">
                <a:latin typeface="Times" panose="02020603050405020304" pitchFamily="18" charset="0"/>
                <a:cs typeface="Times" panose="02020603050405020304" pitchFamily="18" charset="0"/>
              </a:rPr>
              <a:t>.</a:t>
            </a:r>
          </a:p>
        </p:txBody>
      </p:sp>
      <p:sp>
        <p:nvSpPr>
          <p:cNvPr id="29" name="TextBox 28">
            <a:extLst>
              <a:ext uri="{FF2B5EF4-FFF2-40B4-BE49-F238E27FC236}">
                <a16:creationId xmlns:a16="http://schemas.microsoft.com/office/drawing/2014/main" id="{89BA236A-FB6D-45E2-F676-EE6E1CC14C16}"/>
              </a:ext>
            </a:extLst>
          </p:cNvPr>
          <p:cNvSpPr txBox="1"/>
          <p:nvPr/>
        </p:nvSpPr>
        <p:spPr>
          <a:xfrm>
            <a:off x="1025747" y="2704938"/>
            <a:ext cx="1925333" cy="1077218"/>
          </a:xfrm>
          <a:prstGeom prst="rect">
            <a:avLst/>
          </a:prstGeom>
          <a:noFill/>
        </p:spPr>
        <p:txBody>
          <a:bodyPr wrap="square">
            <a:spAutoFit/>
          </a:bodyPr>
          <a:lstStyle/>
          <a:p>
            <a:pPr algn="ctr">
              <a:buNone/>
            </a:pPr>
            <a:r>
              <a:rPr lang="en-US" sz="800" b="1" u="sng" dirty="0">
                <a:latin typeface="Times" panose="02020603050405020304" pitchFamily="18" charset="0"/>
                <a:cs typeface="Times" panose="02020603050405020304" pitchFamily="18" charset="0"/>
              </a:rPr>
              <a:t>K-Nearest Neighbors (KNN)</a:t>
            </a:r>
          </a:p>
          <a:p>
            <a:pPr algn="ctr">
              <a:buNone/>
            </a:pPr>
            <a:endParaRPr lang="en-US" sz="800" b="1" u="sng" dirty="0">
              <a:latin typeface="Times" panose="02020603050405020304" pitchFamily="18" charset="0"/>
              <a:cs typeface="Times" panose="02020603050405020304" pitchFamily="18" charset="0"/>
            </a:endParaRPr>
          </a:p>
          <a:p>
            <a:pPr marL="171450" indent="-171450" algn="just">
              <a:buFont typeface="Arial" panose="020B0604020202020204" pitchFamily="34" charset="0"/>
              <a:buChar char="•"/>
            </a:pPr>
            <a:r>
              <a:rPr lang="en-US" sz="800" b="1" dirty="0">
                <a:latin typeface="Times" panose="02020603050405020304" pitchFamily="18" charset="0"/>
                <a:cs typeface="Times" panose="02020603050405020304" pitchFamily="18" charset="0"/>
              </a:rPr>
              <a:t>Features Used: </a:t>
            </a:r>
            <a:r>
              <a:rPr lang="en-US" sz="800" dirty="0">
                <a:latin typeface="Times" panose="02020603050405020304" pitchFamily="18" charset="0"/>
                <a:cs typeface="Times" panose="02020603050405020304" pitchFamily="18" charset="0"/>
              </a:rPr>
              <a:t>All input features (</a:t>
            </a:r>
            <a:r>
              <a:rPr lang="en-US" sz="800" b="1" dirty="0">
                <a:latin typeface="Times" panose="02020603050405020304" pitchFamily="18" charset="0"/>
                <a:cs typeface="Times" panose="02020603050405020304" pitchFamily="18" charset="0"/>
              </a:rPr>
              <a:t>excluding WIND and DATE</a:t>
            </a:r>
            <a:r>
              <a:rPr lang="en-US" sz="800" dirty="0">
                <a:latin typeface="Times" panose="02020603050405020304" pitchFamily="18" charset="0"/>
                <a:cs typeface="Times" panose="02020603050405020304" pitchFamily="18" charset="0"/>
              </a:rPr>
              <a:t>)</a:t>
            </a:r>
          </a:p>
          <a:p>
            <a:pPr marL="171450" indent="-171450" algn="just">
              <a:buFont typeface="Arial" panose="020B0604020202020204" pitchFamily="34" charset="0"/>
              <a:buChar char="•"/>
            </a:pPr>
            <a:r>
              <a:rPr lang="en-US" sz="800" b="1" dirty="0">
                <a:latin typeface="Times" panose="02020603050405020304" pitchFamily="18" charset="0"/>
                <a:cs typeface="Times" panose="02020603050405020304" pitchFamily="18" charset="0"/>
              </a:rPr>
              <a:t>Goal: </a:t>
            </a:r>
            <a:r>
              <a:rPr lang="en-US" sz="800" dirty="0">
                <a:latin typeface="Times" panose="02020603050405020304" pitchFamily="18" charset="0"/>
                <a:cs typeface="Times" panose="02020603050405020304" pitchFamily="18" charset="0"/>
              </a:rPr>
              <a:t>Predict wind speed by averaging the wind speeds of the </a:t>
            </a:r>
            <a:r>
              <a:rPr lang="en-US" sz="800" b="1" dirty="0">
                <a:latin typeface="Times" panose="02020603050405020304" pitchFamily="18" charset="0"/>
                <a:cs typeface="Times" panose="02020603050405020304" pitchFamily="18" charset="0"/>
              </a:rPr>
              <a:t>k most similar historical weather entries</a:t>
            </a:r>
            <a:r>
              <a:rPr lang="en-US" sz="800" dirty="0">
                <a:latin typeface="Times" panose="02020603050405020304" pitchFamily="18" charset="0"/>
                <a:cs typeface="Times" panose="02020603050405020304" pitchFamily="18" charset="0"/>
              </a:rPr>
              <a:t>.</a:t>
            </a:r>
          </a:p>
        </p:txBody>
      </p:sp>
      <p:sp>
        <p:nvSpPr>
          <p:cNvPr id="31" name="TextBox 30">
            <a:extLst>
              <a:ext uri="{FF2B5EF4-FFF2-40B4-BE49-F238E27FC236}">
                <a16:creationId xmlns:a16="http://schemas.microsoft.com/office/drawing/2014/main" id="{219C2319-0F42-0F3A-D06E-A77D24016954}"/>
              </a:ext>
            </a:extLst>
          </p:cNvPr>
          <p:cNvSpPr txBox="1"/>
          <p:nvPr/>
        </p:nvSpPr>
        <p:spPr>
          <a:xfrm>
            <a:off x="6398421" y="2601091"/>
            <a:ext cx="2328548" cy="1200329"/>
          </a:xfrm>
          <a:prstGeom prst="rect">
            <a:avLst/>
          </a:prstGeom>
          <a:noFill/>
        </p:spPr>
        <p:txBody>
          <a:bodyPr wrap="square">
            <a:spAutoFit/>
          </a:bodyPr>
          <a:lstStyle/>
          <a:p>
            <a:pPr algn="ctr">
              <a:buNone/>
            </a:pPr>
            <a:r>
              <a:rPr lang="en-US" sz="800" b="1" u="sng" dirty="0">
                <a:latin typeface="Times" panose="02020603050405020304" pitchFamily="18" charset="0"/>
                <a:cs typeface="Times" panose="02020603050405020304" pitchFamily="18" charset="0"/>
              </a:rPr>
              <a:t>LSTM (Long Short-Term Memory) Network</a:t>
            </a:r>
          </a:p>
          <a:p>
            <a:pPr algn="ctr">
              <a:buNone/>
            </a:pPr>
            <a:endParaRPr lang="en-US" sz="800" b="1" u="sng" dirty="0">
              <a:latin typeface="Times" panose="02020603050405020304" pitchFamily="18" charset="0"/>
              <a:cs typeface="Times" panose="02020603050405020304" pitchFamily="18" charset="0"/>
            </a:endParaRPr>
          </a:p>
          <a:p>
            <a:pPr marL="171450" indent="-171450" algn="just">
              <a:buFont typeface="Arial" panose="020B0604020202020204" pitchFamily="34" charset="0"/>
              <a:buChar char="•"/>
            </a:pPr>
            <a:r>
              <a:rPr lang="en-US" sz="800" b="1" dirty="0">
                <a:latin typeface="Times" panose="02020603050405020304" pitchFamily="18" charset="0"/>
                <a:cs typeface="Times" panose="02020603050405020304" pitchFamily="18" charset="0"/>
              </a:rPr>
              <a:t>Features Used: </a:t>
            </a:r>
            <a:r>
              <a:rPr lang="en-US" sz="800" dirty="0">
                <a:latin typeface="Times" panose="02020603050405020304" pitchFamily="18" charset="0"/>
                <a:cs typeface="Times" panose="02020603050405020304" pitchFamily="18" charset="0"/>
              </a:rPr>
              <a:t>All input features (</a:t>
            </a:r>
            <a:r>
              <a:rPr lang="en-US" sz="800" b="1" dirty="0">
                <a:latin typeface="Times" panose="02020603050405020304" pitchFamily="18" charset="0"/>
                <a:cs typeface="Times" panose="02020603050405020304" pitchFamily="18" charset="0"/>
              </a:rPr>
              <a:t>excluding WIND and DATE</a:t>
            </a:r>
            <a:r>
              <a:rPr lang="en-US" sz="800" dirty="0">
                <a:latin typeface="Times" panose="02020603050405020304" pitchFamily="18" charset="0"/>
                <a:cs typeface="Times" panose="02020603050405020304" pitchFamily="18" charset="0"/>
              </a:rPr>
              <a:t>)</a:t>
            </a:r>
          </a:p>
          <a:p>
            <a:pPr marL="171450" indent="-171450" algn="just">
              <a:buFont typeface="Arial" panose="020B0604020202020204" pitchFamily="34" charset="0"/>
              <a:buChar char="•"/>
            </a:pPr>
            <a:r>
              <a:rPr lang="en-US" sz="800" b="1" dirty="0">
                <a:latin typeface="Times" panose="02020603050405020304" pitchFamily="18" charset="0"/>
                <a:cs typeface="Times" panose="02020603050405020304" pitchFamily="18" charset="0"/>
              </a:rPr>
              <a:t>Goal: </a:t>
            </a:r>
            <a:r>
              <a:rPr lang="en-US" sz="800" dirty="0">
                <a:latin typeface="Times" panose="02020603050405020304" pitchFamily="18" charset="0"/>
                <a:cs typeface="Times" panose="02020603050405020304" pitchFamily="18" charset="0"/>
              </a:rPr>
              <a:t>Forecast wind speed by learning temporal patterns in historical weather data. An advanced type of </a:t>
            </a:r>
            <a:r>
              <a:rPr lang="en-US" sz="800" b="1" dirty="0">
                <a:latin typeface="Times" panose="02020603050405020304" pitchFamily="18" charset="0"/>
                <a:cs typeface="Times" panose="02020603050405020304" pitchFamily="18" charset="0"/>
              </a:rPr>
              <a:t>Recurrent Neural Network (RNN) designed to handle </a:t>
            </a:r>
            <a:r>
              <a:rPr lang="en-US" sz="800" dirty="0">
                <a:latin typeface="Times" panose="02020603050405020304" pitchFamily="18" charset="0"/>
                <a:cs typeface="Times" panose="02020603050405020304" pitchFamily="18" charset="0"/>
              </a:rPr>
              <a:t>sequential data and long-term dependencies</a:t>
            </a:r>
          </a:p>
        </p:txBody>
      </p:sp>
      <p:sp>
        <p:nvSpPr>
          <p:cNvPr id="33" name="TextBox 32">
            <a:extLst>
              <a:ext uri="{FF2B5EF4-FFF2-40B4-BE49-F238E27FC236}">
                <a16:creationId xmlns:a16="http://schemas.microsoft.com/office/drawing/2014/main" id="{7BE02789-4F1A-B083-DD90-292D09C1D4E0}"/>
              </a:ext>
            </a:extLst>
          </p:cNvPr>
          <p:cNvSpPr txBox="1"/>
          <p:nvPr/>
        </p:nvSpPr>
        <p:spPr>
          <a:xfrm>
            <a:off x="228600" y="3920477"/>
            <a:ext cx="7732380" cy="461665"/>
          </a:xfrm>
          <a:prstGeom prst="rect">
            <a:avLst/>
          </a:prstGeom>
          <a:noFill/>
        </p:spPr>
        <p:txBody>
          <a:bodyPr wrap="square">
            <a:spAutoFit/>
          </a:bodyPr>
          <a:lstStyle/>
          <a:p>
            <a:pPr algn="just"/>
            <a:r>
              <a:rPr lang="en-US" sz="800" b="1" dirty="0">
                <a:latin typeface="Times" panose="02020603050405020304" pitchFamily="18" charset="0"/>
                <a:cs typeface="Times" panose="02020603050405020304" pitchFamily="18" charset="0"/>
              </a:rPr>
              <a:t>Note</a:t>
            </a:r>
            <a:r>
              <a:rPr lang="en-US" sz="800" dirty="0">
                <a:latin typeface="Times" panose="02020603050405020304" pitchFamily="18" charset="0"/>
                <a:cs typeface="Times" panose="02020603050405020304" pitchFamily="18" charset="0"/>
              </a:rPr>
              <a:t>: All models will apply on three preprocessed datasets (</a:t>
            </a:r>
            <a:r>
              <a:rPr lang="en-US" sz="800" b="1" dirty="0">
                <a:latin typeface="Times" panose="02020603050405020304" pitchFamily="18" charset="0"/>
                <a:cs typeface="Times" panose="02020603050405020304" pitchFamily="18" charset="0"/>
              </a:rPr>
              <a:t>Drop Missing, Forward Fill, Mean Fill</a:t>
            </a:r>
            <a:r>
              <a:rPr lang="en-US" sz="800" dirty="0">
                <a:latin typeface="Times" panose="02020603050405020304" pitchFamily="18" charset="0"/>
                <a:cs typeface="Times" panose="02020603050405020304" pitchFamily="18" charset="0"/>
              </a:rPr>
              <a:t>) to compare their performance consistently.</a:t>
            </a:r>
          </a:p>
          <a:p>
            <a:pPr algn="just"/>
            <a:r>
              <a:rPr lang="en-US" sz="800" b="1" dirty="0">
                <a:latin typeface="Times" panose="02020603050405020304" pitchFamily="18" charset="0"/>
                <a:cs typeface="Times" panose="02020603050405020304" pitchFamily="18" charset="0"/>
              </a:rPr>
              <a:t>Data Split: </a:t>
            </a:r>
            <a:r>
              <a:rPr lang="en-US" sz="800" dirty="0">
                <a:latin typeface="Times" panose="02020603050405020304" pitchFamily="18" charset="0"/>
                <a:cs typeface="Times" panose="02020603050405020304" pitchFamily="18" charset="0"/>
              </a:rPr>
              <a:t>80% training, 20% testing split, ensuring reliable evaluation of the model's performance.</a:t>
            </a:r>
          </a:p>
          <a:p>
            <a:pPr algn="just"/>
            <a:endParaRPr lang="en-US" sz="800" dirty="0">
              <a:latin typeface="Times" panose="02020603050405020304" pitchFamily="18" charset="0"/>
              <a:cs typeface="Times" panose="02020603050405020304" pitchFamily="18" charset="0"/>
            </a:endParaRPr>
          </a:p>
        </p:txBody>
      </p:sp>
      <p:pic>
        <p:nvPicPr>
          <p:cNvPr id="41" name="Picture 7" descr="Wind Turbine Efficiency: How Has It Improved Over Time? - Lumify Energy">
            <a:extLst>
              <a:ext uri="{FF2B5EF4-FFF2-40B4-BE49-F238E27FC236}">
                <a16:creationId xmlns:a16="http://schemas.microsoft.com/office/drawing/2014/main" id="{1BDC676C-0230-E75B-BE1E-EDF708EDC82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54354" y="502992"/>
            <a:ext cx="1252254" cy="83397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4DBFE47-443C-9637-E6B8-78685AA0A7F2}"/>
              </a:ext>
            </a:extLst>
          </p:cNvPr>
          <p:cNvSpPr txBox="1"/>
          <p:nvPr/>
        </p:nvSpPr>
        <p:spPr>
          <a:xfrm>
            <a:off x="163975" y="4349953"/>
            <a:ext cx="8610600" cy="461665"/>
          </a:xfrm>
          <a:prstGeom prst="rect">
            <a:avLst/>
          </a:prstGeom>
          <a:noFill/>
        </p:spPr>
        <p:txBody>
          <a:bodyPr wrap="square">
            <a:spAutoFit/>
          </a:bodyPr>
          <a:lstStyle/>
          <a:p>
            <a:pPr marL="171450" indent="-171450" algn="just">
              <a:buFont typeface="Arial" panose="020B0604020202020204" pitchFamily="34" charset="0"/>
              <a:buChar char="•"/>
            </a:pPr>
            <a:r>
              <a:rPr lang="en-US" sz="800" b="1" dirty="0">
                <a:latin typeface="Times" panose="02020603050405020304" pitchFamily="18" charset="0"/>
                <a:cs typeface="Times" panose="02020603050405020304" pitchFamily="18" charset="0"/>
              </a:rPr>
              <a:t>Multiple models </a:t>
            </a:r>
            <a:r>
              <a:rPr lang="en-US" sz="800" dirty="0">
                <a:latin typeface="Times" panose="02020603050405020304" pitchFamily="18" charset="0"/>
                <a:cs typeface="Times" panose="02020603050405020304" pitchFamily="18" charset="0"/>
              </a:rPr>
              <a:t>were implemented to predict wind speed, including Linear Regression (1-variable/2-variable/Multi-variables), Random Forest, KNN, and LSTM (Long Short-Term Memory). </a:t>
            </a:r>
          </a:p>
          <a:p>
            <a:pPr marL="171450" indent="-171450" algn="just">
              <a:buFont typeface="Arial" panose="020B0604020202020204" pitchFamily="34" charset="0"/>
              <a:buChar char="•"/>
            </a:pPr>
            <a:r>
              <a:rPr lang="en-US" sz="800" dirty="0">
                <a:latin typeface="Times" panose="02020603050405020304" pitchFamily="18" charset="0"/>
                <a:cs typeface="Times" panose="02020603050405020304" pitchFamily="18" charset="0"/>
              </a:rPr>
              <a:t>These models were evaluated across three different versions of the dataset, preprocessed using </a:t>
            </a:r>
            <a:r>
              <a:rPr lang="en-US" sz="800" b="1" dirty="0">
                <a:latin typeface="Times" panose="02020603050405020304" pitchFamily="18" charset="0"/>
                <a:cs typeface="Times" panose="02020603050405020304" pitchFamily="18" charset="0"/>
              </a:rPr>
              <a:t>Drop Missing, Forward Fill, and Mean Fill</a:t>
            </a:r>
            <a:r>
              <a:rPr lang="en-US" sz="800" dirty="0">
                <a:latin typeface="Times" panose="02020603050405020304" pitchFamily="18" charset="0"/>
                <a:cs typeface="Times" panose="02020603050405020304" pitchFamily="18" charset="0"/>
              </a:rPr>
              <a:t> methods. </a:t>
            </a:r>
          </a:p>
          <a:p>
            <a:pPr marL="171450" indent="-171450" algn="just">
              <a:buFont typeface="Arial" panose="020B0604020202020204" pitchFamily="34" charset="0"/>
              <a:buChar char="•"/>
            </a:pPr>
            <a:r>
              <a:rPr lang="en-US" sz="800" dirty="0">
                <a:latin typeface="Times" panose="02020603050405020304" pitchFamily="18" charset="0"/>
                <a:cs typeface="Times" panose="02020603050405020304" pitchFamily="18" charset="0"/>
              </a:rPr>
              <a:t>Each model was assessed using metrics such as </a:t>
            </a:r>
            <a:r>
              <a:rPr lang="en-US" sz="800" b="1" dirty="0">
                <a:latin typeface="Times" panose="02020603050405020304" pitchFamily="18" charset="0"/>
                <a:cs typeface="Times" panose="02020603050405020304" pitchFamily="18" charset="0"/>
              </a:rPr>
              <a:t>MSE, RMSE, and MAE </a:t>
            </a:r>
            <a:r>
              <a:rPr lang="en-US" sz="800" dirty="0">
                <a:latin typeface="Times" panose="02020603050405020304" pitchFamily="18" charset="0"/>
                <a:cs typeface="Times" panose="02020603050405020304" pitchFamily="18" charset="0"/>
              </a:rPr>
              <a:t>to compare their performance objectively.</a:t>
            </a:r>
          </a:p>
        </p:txBody>
      </p:sp>
    </p:spTree>
    <p:extLst>
      <p:ext uri="{BB962C8B-B14F-4D97-AF65-F5344CB8AC3E}">
        <p14:creationId xmlns:p14="http://schemas.microsoft.com/office/powerpoint/2010/main" val="5728417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958C135-138E-8DBF-E6D6-AC5E4ED7AFF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8</a:t>
            </a:fld>
            <a:endParaRPr lang="en"/>
          </a:p>
        </p:txBody>
      </p:sp>
      <p:sp>
        <p:nvSpPr>
          <p:cNvPr id="4" name="Title 3">
            <a:extLst>
              <a:ext uri="{FF2B5EF4-FFF2-40B4-BE49-F238E27FC236}">
                <a16:creationId xmlns:a16="http://schemas.microsoft.com/office/drawing/2014/main" id="{1B830CCE-2933-3758-5B52-5E86AAB96610}"/>
              </a:ext>
            </a:extLst>
          </p:cNvPr>
          <p:cNvSpPr>
            <a:spLocks noGrp="1"/>
          </p:cNvSpPr>
          <p:nvPr>
            <p:ph type="title"/>
          </p:nvPr>
        </p:nvSpPr>
        <p:spPr/>
        <p:txBody>
          <a:bodyPr/>
          <a:lstStyle/>
          <a:p>
            <a:pPr algn="ctr"/>
            <a:r>
              <a:rPr lang="en-US" sz="1400" b="1" dirty="0">
                <a:latin typeface="Times" panose="02020603050405020304" pitchFamily="18" charset="0"/>
                <a:cs typeface="Times" panose="02020603050405020304" pitchFamily="18" charset="0"/>
              </a:rPr>
              <a:t>LINEAR REGRESSION </a:t>
            </a:r>
            <a:br>
              <a:rPr lang="en-US" sz="1400" b="1" dirty="0">
                <a:latin typeface="Times" panose="02020603050405020304" pitchFamily="18" charset="0"/>
                <a:cs typeface="Times" panose="02020603050405020304" pitchFamily="18" charset="0"/>
              </a:rPr>
            </a:br>
            <a:r>
              <a:rPr lang="en-US" sz="1400" b="1" dirty="0">
                <a:latin typeface="Times" panose="02020603050405020304" pitchFamily="18" charset="0"/>
                <a:cs typeface="Times" panose="02020603050405020304" pitchFamily="18" charset="0"/>
              </a:rPr>
              <a:t>(1-VARIABLE/2-VARIABLES/MULTI-VARIABLES)</a:t>
            </a:r>
            <a:br>
              <a:rPr lang="en-US" sz="1400" b="1" dirty="0">
                <a:latin typeface="Times" panose="02020603050405020304" pitchFamily="18" charset="0"/>
                <a:cs typeface="Times" panose="02020603050405020304" pitchFamily="18" charset="0"/>
              </a:rPr>
            </a:br>
            <a:r>
              <a:rPr lang="en-US" sz="1400" b="1" dirty="0">
                <a:latin typeface="Times" panose="02020603050405020304" pitchFamily="18" charset="0"/>
                <a:cs typeface="Times" panose="02020603050405020304" pitchFamily="18" charset="0"/>
              </a:rPr>
              <a:t>OBSERVATIONS</a:t>
            </a:r>
            <a:endParaRPr lang="en-US" sz="1400" dirty="0"/>
          </a:p>
        </p:txBody>
      </p:sp>
      <p:graphicFrame>
        <p:nvGraphicFramePr>
          <p:cNvPr id="5" name="Table 4">
            <a:extLst>
              <a:ext uri="{FF2B5EF4-FFF2-40B4-BE49-F238E27FC236}">
                <a16:creationId xmlns:a16="http://schemas.microsoft.com/office/drawing/2014/main" id="{5906AEC0-C4CD-F087-56EC-10E99F085ADE}"/>
              </a:ext>
            </a:extLst>
          </p:cNvPr>
          <p:cNvGraphicFramePr>
            <a:graphicFrameLocks noGrp="1"/>
          </p:cNvGraphicFramePr>
          <p:nvPr>
            <p:extLst>
              <p:ext uri="{D42A27DB-BD31-4B8C-83A1-F6EECF244321}">
                <p14:modId xmlns:p14="http://schemas.microsoft.com/office/powerpoint/2010/main" val="24978977"/>
              </p:ext>
            </p:extLst>
          </p:nvPr>
        </p:nvGraphicFramePr>
        <p:xfrm>
          <a:off x="335436" y="1593895"/>
          <a:ext cx="4541364" cy="2983351"/>
        </p:xfrm>
        <a:graphic>
          <a:graphicData uri="http://schemas.openxmlformats.org/drawingml/2006/table">
            <a:tbl>
              <a:tblPr firstRow="1" firstCol="1" bandRow="1">
                <a:tableStyleId>{AD84D997-8D4E-4861-8B80-C6579219E408}</a:tableStyleId>
              </a:tblPr>
              <a:tblGrid>
                <a:gridCol w="1312917">
                  <a:extLst>
                    <a:ext uri="{9D8B030D-6E8A-4147-A177-3AD203B41FA5}">
                      <a16:colId xmlns:a16="http://schemas.microsoft.com/office/drawing/2014/main" val="66059076"/>
                    </a:ext>
                  </a:extLst>
                </a:gridCol>
                <a:gridCol w="1049246">
                  <a:extLst>
                    <a:ext uri="{9D8B030D-6E8A-4147-A177-3AD203B41FA5}">
                      <a16:colId xmlns:a16="http://schemas.microsoft.com/office/drawing/2014/main" val="2063104056"/>
                    </a:ext>
                  </a:extLst>
                </a:gridCol>
                <a:gridCol w="807112">
                  <a:extLst>
                    <a:ext uri="{9D8B030D-6E8A-4147-A177-3AD203B41FA5}">
                      <a16:colId xmlns:a16="http://schemas.microsoft.com/office/drawing/2014/main" val="3535858811"/>
                    </a:ext>
                  </a:extLst>
                </a:gridCol>
                <a:gridCol w="726400">
                  <a:extLst>
                    <a:ext uri="{9D8B030D-6E8A-4147-A177-3AD203B41FA5}">
                      <a16:colId xmlns:a16="http://schemas.microsoft.com/office/drawing/2014/main" val="1754815385"/>
                    </a:ext>
                  </a:extLst>
                </a:gridCol>
                <a:gridCol w="645689">
                  <a:extLst>
                    <a:ext uri="{9D8B030D-6E8A-4147-A177-3AD203B41FA5}">
                      <a16:colId xmlns:a16="http://schemas.microsoft.com/office/drawing/2014/main" val="3977132757"/>
                    </a:ext>
                  </a:extLst>
                </a:gridCol>
              </a:tblGrid>
              <a:tr h="245122">
                <a:tc>
                  <a:txBody>
                    <a:bodyPr/>
                    <a:lstStyle/>
                    <a:p>
                      <a:pPr marL="0" marR="0" algn="ctr">
                        <a:lnSpc>
                          <a:spcPct val="115000"/>
                        </a:lnSpc>
                        <a:spcAft>
                          <a:spcPts val="800"/>
                        </a:spcAft>
                        <a:buNone/>
                      </a:pPr>
                      <a:r>
                        <a:rPr lang="en-US" sz="1000" b="1" kern="100" dirty="0">
                          <a:effectLst/>
                          <a:latin typeface="Times" panose="02020603050405020304" pitchFamily="18" charset="0"/>
                          <a:cs typeface="Times" panose="02020603050405020304" pitchFamily="18" charset="0"/>
                        </a:rPr>
                        <a:t>Model Type</a:t>
                      </a:r>
                      <a:endParaRPr lang="en-US" sz="1000" b="1" kern="100" dirty="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000" b="1" kern="100">
                          <a:effectLst/>
                          <a:latin typeface="Times" panose="02020603050405020304" pitchFamily="18" charset="0"/>
                          <a:cs typeface="Times" panose="02020603050405020304" pitchFamily="18" charset="0"/>
                        </a:rPr>
                        <a:t>Method Used</a:t>
                      </a:r>
                      <a:endParaRPr lang="en-US" sz="1000" b="1" kern="10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000" b="1" kern="100">
                          <a:effectLst/>
                          <a:latin typeface="Times" panose="02020603050405020304" pitchFamily="18" charset="0"/>
                          <a:cs typeface="Times" panose="02020603050405020304" pitchFamily="18" charset="0"/>
                        </a:rPr>
                        <a:t>MSE</a:t>
                      </a:r>
                      <a:endParaRPr lang="en-US" sz="1000" b="1" kern="10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000" b="1" kern="100">
                          <a:effectLst/>
                          <a:latin typeface="Times" panose="02020603050405020304" pitchFamily="18" charset="0"/>
                          <a:cs typeface="Times" panose="02020603050405020304" pitchFamily="18" charset="0"/>
                        </a:rPr>
                        <a:t>RMSE</a:t>
                      </a:r>
                      <a:endParaRPr lang="en-US" sz="1000" b="1" kern="10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000" b="1" kern="100" dirty="0">
                          <a:effectLst/>
                          <a:latin typeface="Times" panose="02020603050405020304" pitchFamily="18" charset="0"/>
                          <a:cs typeface="Times" panose="02020603050405020304" pitchFamily="18" charset="0"/>
                        </a:rPr>
                        <a:t>MAE</a:t>
                      </a:r>
                      <a:endParaRPr lang="en-US" sz="1000" b="1" kern="100" dirty="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1391246256"/>
                  </a:ext>
                </a:extLst>
              </a:tr>
              <a:tr h="398040">
                <a:tc rowSpan="3">
                  <a:txBody>
                    <a:bodyPr/>
                    <a:lstStyle/>
                    <a:p>
                      <a:pPr marL="0" marR="0" algn="ctr">
                        <a:lnSpc>
                          <a:spcPct val="115000"/>
                        </a:lnSpc>
                        <a:spcAft>
                          <a:spcPts val="800"/>
                        </a:spcAft>
                        <a:buNone/>
                      </a:pPr>
                      <a:r>
                        <a:rPr lang="en-US" sz="1000" b="1" kern="100" dirty="0">
                          <a:effectLst/>
                          <a:latin typeface="Times" panose="02020603050405020304" pitchFamily="18" charset="0"/>
                          <a:cs typeface="Times" panose="02020603050405020304" pitchFamily="18" charset="0"/>
                        </a:rPr>
                        <a:t>1-Variable</a:t>
                      </a:r>
                      <a:endParaRPr lang="en-US" sz="1000" b="1" kern="100" dirty="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000" kern="100">
                          <a:effectLst/>
                          <a:latin typeface="Times" panose="02020603050405020304" pitchFamily="18" charset="0"/>
                          <a:cs typeface="Times" panose="02020603050405020304" pitchFamily="18" charset="0"/>
                        </a:rPr>
                        <a:t>Remove Missing</a:t>
                      </a:r>
                      <a:endParaRPr lang="en-US" sz="1000" kern="10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000" kern="100">
                          <a:effectLst/>
                          <a:latin typeface="Times" panose="02020603050405020304" pitchFamily="18" charset="0"/>
                          <a:cs typeface="Times" panose="02020603050405020304" pitchFamily="18" charset="0"/>
                        </a:rPr>
                        <a:t>22.8577</a:t>
                      </a:r>
                      <a:endParaRPr lang="en-US" sz="1000" kern="10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000" kern="100">
                          <a:effectLst/>
                          <a:latin typeface="Times" panose="02020603050405020304" pitchFamily="18" charset="0"/>
                          <a:cs typeface="Times" panose="02020603050405020304" pitchFamily="18" charset="0"/>
                        </a:rPr>
                        <a:t>4.7810</a:t>
                      </a:r>
                      <a:endParaRPr lang="en-US" sz="1000" kern="10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000" kern="100" dirty="0">
                          <a:effectLst/>
                          <a:latin typeface="Times" panose="02020603050405020304" pitchFamily="18" charset="0"/>
                          <a:cs typeface="Times" panose="02020603050405020304" pitchFamily="18" charset="0"/>
                        </a:rPr>
                        <a:t>3.8775</a:t>
                      </a:r>
                      <a:endParaRPr lang="en-US" sz="1000" kern="100" dirty="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3404786230"/>
                  </a:ext>
                </a:extLst>
              </a:tr>
              <a:tr h="245122">
                <a:tc vMerge="1">
                  <a:txBody>
                    <a:bodyPr/>
                    <a:lstStyle/>
                    <a:p>
                      <a:pPr marL="0" marR="0" algn="ctr">
                        <a:lnSpc>
                          <a:spcPct val="115000"/>
                        </a:lnSpc>
                        <a:spcAft>
                          <a:spcPts val="800"/>
                        </a:spcAft>
                        <a:buNone/>
                      </a:pPr>
                      <a:endParaRPr lang="en-US" sz="1000" b="1" kern="100" dirty="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000" kern="100">
                          <a:effectLst/>
                          <a:latin typeface="Times" panose="02020603050405020304" pitchFamily="18" charset="0"/>
                          <a:cs typeface="Times" panose="02020603050405020304" pitchFamily="18" charset="0"/>
                        </a:rPr>
                        <a:t>Forward Fill</a:t>
                      </a:r>
                      <a:endParaRPr lang="en-US" sz="1000" kern="10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000" kern="100">
                          <a:effectLst/>
                          <a:latin typeface="Times" panose="02020603050405020304" pitchFamily="18" charset="0"/>
                          <a:cs typeface="Times" panose="02020603050405020304" pitchFamily="18" charset="0"/>
                        </a:rPr>
                        <a:t>23.7905</a:t>
                      </a:r>
                      <a:endParaRPr lang="en-US" sz="1000" kern="10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000" kern="100">
                          <a:effectLst/>
                          <a:latin typeface="Times" panose="02020603050405020304" pitchFamily="18" charset="0"/>
                          <a:cs typeface="Times" panose="02020603050405020304" pitchFamily="18" charset="0"/>
                        </a:rPr>
                        <a:t>4.8776</a:t>
                      </a:r>
                      <a:endParaRPr lang="en-US" sz="1000" kern="10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000" kern="100">
                          <a:effectLst/>
                          <a:latin typeface="Times" panose="02020603050405020304" pitchFamily="18" charset="0"/>
                          <a:cs typeface="Times" panose="02020603050405020304" pitchFamily="18" charset="0"/>
                        </a:rPr>
                        <a:t>3.9192</a:t>
                      </a:r>
                      <a:endParaRPr lang="en-US" sz="1000" kern="10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1438514029"/>
                  </a:ext>
                </a:extLst>
              </a:tr>
              <a:tr h="245122">
                <a:tc vMerge="1">
                  <a:txBody>
                    <a:bodyPr/>
                    <a:lstStyle/>
                    <a:p>
                      <a:pPr marL="0" marR="0" algn="ctr">
                        <a:lnSpc>
                          <a:spcPct val="115000"/>
                        </a:lnSpc>
                        <a:spcAft>
                          <a:spcPts val="800"/>
                        </a:spcAft>
                        <a:buNone/>
                      </a:pPr>
                      <a:endParaRPr lang="en-US" sz="1000" b="1" kern="100" dirty="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000" kern="100" dirty="0">
                          <a:solidFill>
                            <a:srgbClr val="7030A0"/>
                          </a:solidFill>
                          <a:effectLst/>
                          <a:latin typeface="Times" panose="02020603050405020304" pitchFamily="18" charset="0"/>
                          <a:cs typeface="Times" panose="02020603050405020304" pitchFamily="18" charset="0"/>
                        </a:rPr>
                        <a:t>Mean Fill</a:t>
                      </a:r>
                      <a:endParaRPr lang="en-US" sz="1000" kern="100" dirty="0">
                        <a:solidFill>
                          <a:srgbClr val="7030A0"/>
                        </a:solidFill>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000" kern="100" dirty="0">
                          <a:solidFill>
                            <a:srgbClr val="7030A0"/>
                          </a:solidFill>
                          <a:effectLst/>
                          <a:latin typeface="Times" panose="02020603050405020304" pitchFamily="18" charset="0"/>
                          <a:cs typeface="Times" panose="02020603050405020304" pitchFamily="18" charset="0"/>
                        </a:rPr>
                        <a:t>23.7367</a:t>
                      </a:r>
                      <a:endParaRPr lang="en-US" sz="1000" kern="100" dirty="0">
                        <a:solidFill>
                          <a:srgbClr val="7030A0"/>
                        </a:solidFill>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000" kern="100" dirty="0">
                          <a:solidFill>
                            <a:srgbClr val="7030A0"/>
                          </a:solidFill>
                          <a:effectLst/>
                          <a:latin typeface="Times" panose="02020603050405020304" pitchFamily="18" charset="0"/>
                          <a:cs typeface="Times" panose="02020603050405020304" pitchFamily="18" charset="0"/>
                        </a:rPr>
                        <a:t>4.8720</a:t>
                      </a:r>
                      <a:endParaRPr lang="en-US" sz="1000" kern="100" dirty="0">
                        <a:solidFill>
                          <a:srgbClr val="7030A0"/>
                        </a:solidFill>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000" kern="100" dirty="0">
                          <a:solidFill>
                            <a:srgbClr val="7030A0"/>
                          </a:solidFill>
                          <a:effectLst/>
                          <a:latin typeface="Times" panose="02020603050405020304" pitchFamily="18" charset="0"/>
                          <a:cs typeface="Times" panose="02020603050405020304" pitchFamily="18" charset="0"/>
                        </a:rPr>
                        <a:t>3.9026</a:t>
                      </a:r>
                      <a:endParaRPr lang="en-US" sz="1000" kern="100" dirty="0">
                        <a:solidFill>
                          <a:srgbClr val="7030A0"/>
                        </a:solidFill>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1126961424"/>
                  </a:ext>
                </a:extLst>
              </a:tr>
              <a:tr h="398040">
                <a:tc rowSpan="3">
                  <a:txBody>
                    <a:bodyPr/>
                    <a:lstStyle/>
                    <a:p>
                      <a:pPr marL="0" marR="0" algn="ctr">
                        <a:lnSpc>
                          <a:spcPct val="115000"/>
                        </a:lnSpc>
                        <a:spcAft>
                          <a:spcPts val="800"/>
                        </a:spcAft>
                        <a:buNone/>
                      </a:pPr>
                      <a:r>
                        <a:rPr lang="en-US" sz="1000" b="1" kern="100" dirty="0">
                          <a:effectLst/>
                          <a:latin typeface="Times" panose="02020603050405020304" pitchFamily="18" charset="0"/>
                          <a:cs typeface="Times" panose="02020603050405020304" pitchFamily="18" charset="0"/>
                        </a:rPr>
                        <a:t>2-Variable</a:t>
                      </a:r>
                    </a:p>
                  </a:txBody>
                  <a:tcPr marL="9525" marR="9525" marT="9525" marB="9525" anchor="ctr"/>
                </a:tc>
                <a:tc>
                  <a:txBody>
                    <a:bodyPr/>
                    <a:lstStyle/>
                    <a:p>
                      <a:pPr marL="0" marR="0" algn="ctr">
                        <a:lnSpc>
                          <a:spcPct val="115000"/>
                        </a:lnSpc>
                        <a:spcAft>
                          <a:spcPts val="800"/>
                        </a:spcAft>
                        <a:buNone/>
                      </a:pPr>
                      <a:r>
                        <a:rPr lang="en-US" sz="1000" kern="100">
                          <a:effectLst/>
                          <a:latin typeface="Times" panose="02020603050405020304" pitchFamily="18" charset="0"/>
                          <a:cs typeface="Times" panose="02020603050405020304" pitchFamily="18" charset="0"/>
                        </a:rPr>
                        <a:t>Remove Missing</a:t>
                      </a:r>
                      <a:endParaRPr lang="en-US" sz="1000" kern="10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000" kern="100" dirty="0">
                          <a:effectLst/>
                          <a:latin typeface="Times" panose="02020603050405020304" pitchFamily="18" charset="0"/>
                          <a:cs typeface="Times" panose="02020603050405020304" pitchFamily="18" charset="0"/>
                        </a:rPr>
                        <a:t>22.3561</a:t>
                      </a:r>
                      <a:endParaRPr lang="en-US" sz="1000" kern="100" dirty="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000" kern="100">
                          <a:effectLst/>
                          <a:latin typeface="Times" panose="02020603050405020304" pitchFamily="18" charset="0"/>
                          <a:cs typeface="Times" panose="02020603050405020304" pitchFamily="18" charset="0"/>
                        </a:rPr>
                        <a:t>4.7282</a:t>
                      </a:r>
                      <a:endParaRPr lang="en-US" sz="1000" kern="10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000" kern="100" dirty="0">
                          <a:effectLst/>
                          <a:latin typeface="Times" panose="02020603050405020304" pitchFamily="18" charset="0"/>
                          <a:cs typeface="Times" panose="02020603050405020304" pitchFamily="18" charset="0"/>
                        </a:rPr>
                        <a:t>3.8331</a:t>
                      </a:r>
                      <a:endParaRPr lang="en-US" sz="1000" kern="100" dirty="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743134264"/>
                  </a:ext>
                </a:extLst>
              </a:tr>
              <a:tr h="245122">
                <a:tc vMerge="1">
                  <a:txBody>
                    <a:bodyPr/>
                    <a:lstStyle/>
                    <a:p>
                      <a:endParaRPr/>
                    </a:p>
                  </a:txBody>
                  <a:tcPr marL="9525" marR="9525" marT="9525" marB="9525" anchor="ctr"/>
                </a:tc>
                <a:tc>
                  <a:txBody>
                    <a:bodyPr/>
                    <a:lstStyle/>
                    <a:p>
                      <a:pPr marL="0" marR="0" algn="ctr">
                        <a:lnSpc>
                          <a:spcPct val="115000"/>
                        </a:lnSpc>
                        <a:spcAft>
                          <a:spcPts val="800"/>
                        </a:spcAft>
                        <a:buNone/>
                      </a:pPr>
                      <a:r>
                        <a:rPr lang="en-US" sz="1000" kern="100">
                          <a:effectLst/>
                          <a:latin typeface="Times" panose="02020603050405020304" pitchFamily="18" charset="0"/>
                          <a:cs typeface="Times" panose="02020603050405020304" pitchFamily="18" charset="0"/>
                        </a:rPr>
                        <a:t>Forward Fill</a:t>
                      </a:r>
                      <a:endParaRPr lang="en-US" sz="1000" kern="10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000" kern="100" dirty="0">
                          <a:effectLst/>
                          <a:latin typeface="Times" panose="02020603050405020304" pitchFamily="18" charset="0"/>
                          <a:cs typeface="Times" panose="02020603050405020304" pitchFamily="18" charset="0"/>
                        </a:rPr>
                        <a:t>23.3594</a:t>
                      </a:r>
                      <a:endParaRPr lang="en-US" sz="1000" kern="100" dirty="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000" kern="100" dirty="0">
                          <a:effectLst/>
                          <a:latin typeface="Times" panose="02020603050405020304" pitchFamily="18" charset="0"/>
                          <a:cs typeface="Times" panose="02020603050405020304" pitchFamily="18" charset="0"/>
                        </a:rPr>
                        <a:t>4.8332</a:t>
                      </a:r>
                      <a:endParaRPr lang="en-US" sz="1000" kern="100" dirty="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000" kern="100">
                          <a:effectLst/>
                          <a:latin typeface="Times" panose="02020603050405020304" pitchFamily="18" charset="0"/>
                          <a:cs typeface="Times" panose="02020603050405020304" pitchFamily="18" charset="0"/>
                        </a:rPr>
                        <a:t>3.8802</a:t>
                      </a:r>
                      <a:endParaRPr lang="en-US" sz="1000" kern="10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2525399235"/>
                  </a:ext>
                </a:extLst>
              </a:tr>
              <a:tr h="245122">
                <a:tc vMerge="1">
                  <a:txBody>
                    <a:bodyPr/>
                    <a:lstStyle/>
                    <a:p>
                      <a:endParaRPr dirty="0"/>
                    </a:p>
                  </a:txBody>
                  <a:tcPr marL="9525" marR="9525" marT="9525" marB="9525" anchor="ctr"/>
                </a:tc>
                <a:tc>
                  <a:txBody>
                    <a:bodyPr/>
                    <a:lstStyle/>
                    <a:p>
                      <a:pPr marL="0" marR="0" algn="ctr">
                        <a:lnSpc>
                          <a:spcPct val="115000"/>
                        </a:lnSpc>
                        <a:spcAft>
                          <a:spcPts val="800"/>
                        </a:spcAft>
                        <a:buNone/>
                      </a:pPr>
                      <a:r>
                        <a:rPr lang="en-US" sz="1000" kern="100" dirty="0">
                          <a:solidFill>
                            <a:srgbClr val="7030A0"/>
                          </a:solidFill>
                          <a:effectLst/>
                          <a:latin typeface="Times" panose="02020603050405020304" pitchFamily="18" charset="0"/>
                          <a:cs typeface="Times" panose="02020603050405020304" pitchFamily="18" charset="0"/>
                        </a:rPr>
                        <a:t>Mean Fill</a:t>
                      </a:r>
                      <a:endParaRPr lang="en-US" sz="1000" kern="100" dirty="0">
                        <a:solidFill>
                          <a:srgbClr val="7030A0"/>
                        </a:solidFill>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000" kern="100" dirty="0">
                          <a:solidFill>
                            <a:srgbClr val="7030A0"/>
                          </a:solidFill>
                          <a:effectLst/>
                          <a:latin typeface="Times" panose="02020603050405020304" pitchFamily="18" charset="0"/>
                          <a:cs typeface="Times" panose="02020603050405020304" pitchFamily="18" charset="0"/>
                        </a:rPr>
                        <a:t>23.3231</a:t>
                      </a:r>
                      <a:endParaRPr lang="en-US" sz="1000" kern="100" dirty="0">
                        <a:solidFill>
                          <a:srgbClr val="7030A0"/>
                        </a:solidFill>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000" kern="100" dirty="0">
                          <a:solidFill>
                            <a:srgbClr val="7030A0"/>
                          </a:solidFill>
                          <a:effectLst/>
                          <a:latin typeface="Times" panose="02020603050405020304" pitchFamily="18" charset="0"/>
                          <a:cs typeface="Times" panose="02020603050405020304" pitchFamily="18" charset="0"/>
                        </a:rPr>
                        <a:t>4.8294</a:t>
                      </a:r>
                      <a:endParaRPr lang="en-US" sz="1000" kern="100" dirty="0">
                        <a:solidFill>
                          <a:srgbClr val="7030A0"/>
                        </a:solidFill>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000" kern="100" dirty="0">
                          <a:solidFill>
                            <a:srgbClr val="7030A0"/>
                          </a:solidFill>
                          <a:effectLst/>
                          <a:latin typeface="Times" panose="02020603050405020304" pitchFamily="18" charset="0"/>
                          <a:cs typeface="Times" panose="02020603050405020304" pitchFamily="18" charset="0"/>
                        </a:rPr>
                        <a:t>3.8653</a:t>
                      </a:r>
                      <a:endParaRPr lang="en-US" sz="1000" kern="100" dirty="0">
                        <a:solidFill>
                          <a:srgbClr val="7030A0"/>
                        </a:solidFill>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751508327"/>
                  </a:ext>
                </a:extLst>
              </a:tr>
              <a:tr h="398040">
                <a:tc rowSpan="3">
                  <a:txBody>
                    <a:bodyPr/>
                    <a:lstStyle/>
                    <a:p>
                      <a:pPr marL="0" marR="0" algn="ctr">
                        <a:lnSpc>
                          <a:spcPct val="115000"/>
                        </a:lnSpc>
                        <a:spcAft>
                          <a:spcPts val="800"/>
                        </a:spcAft>
                        <a:buNone/>
                      </a:pPr>
                      <a:r>
                        <a:rPr lang="en-US" sz="1000" b="1" kern="100" dirty="0">
                          <a:solidFill>
                            <a:schemeClr val="tx1"/>
                          </a:solidFill>
                          <a:effectLst/>
                          <a:latin typeface="Times" panose="02020603050405020304" pitchFamily="18" charset="0"/>
                          <a:cs typeface="Times" panose="02020603050405020304" pitchFamily="18" charset="0"/>
                        </a:rPr>
                        <a:t>Multi-Variables</a:t>
                      </a:r>
                    </a:p>
                  </a:txBody>
                  <a:tcPr marL="9525" marR="9525" marT="9525" marB="9525" anchor="ctr">
                    <a:solidFill>
                      <a:schemeClr val="accent1">
                        <a:lumMod val="20000"/>
                        <a:lumOff val="80000"/>
                      </a:schemeClr>
                    </a:solidFill>
                  </a:tcPr>
                </a:tc>
                <a:tc>
                  <a:txBody>
                    <a:bodyPr/>
                    <a:lstStyle/>
                    <a:p>
                      <a:pPr marL="0" marR="0" algn="ctr">
                        <a:lnSpc>
                          <a:spcPct val="115000"/>
                        </a:lnSpc>
                        <a:spcAft>
                          <a:spcPts val="800"/>
                        </a:spcAft>
                        <a:buNone/>
                      </a:pPr>
                      <a:r>
                        <a:rPr lang="en-US" sz="1000" kern="100" dirty="0">
                          <a:solidFill>
                            <a:schemeClr val="tx1"/>
                          </a:solidFill>
                          <a:effectLst/>
                          <a:latin typeface="Times" panose="02020603050405020304" pitchFamily="18" charset="0"/>
                          <a:cs typeface="Times" panose="02020603050405020304" pitchFamily="18" charset="0"/>
                        </a:rPr>
                        <a:t>Remove Missing</a:t>
                      </a:r>
                      <a:endParaRPr lang="en-US" sz="1000" kern="100" dirty="0">
                        <a:solidFill>
                          <a:schemeClr val="tx1"/>
                        </a:solidFill>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solidFill>
                      <a:schemeClr val="accent1">
                        <a:lumMod val="20000"/>
                        <a:lumOff val="80000"/>
                      </a:schemeClr>
                    </a:solidFill>
                  </a:tcPr>
                </a:tc>
                <a:tc>
                  <a:txBody>
                    <a:bodyPr/>
                    <a:lstStyle/>
                    <a:p>
                      <a:pPr marL="0" marR="0" algn="ctr">
                        <a:lnSpc>
                          <a:spcPct val="115000"/>
                        </a:lnSpc>
                        <a:spcAft>
                          <a:spcPts val="800"/>
                        </a:spcAft>
                        <a:buNone/>
                      </a:pPr>
                      <a:r>
                        <a:rPr lang="en-US" sz="1000" kern="100" dirty="0">
                          <a:solidFill>
                            <a:schemeClr val="tx1"/>
                          </a:solidFill>
                          <a:effectLst/>
                          <a:latin typeface="Times" panose="02020603050405020304" pitchFamily="18" charset="0"/>
                          <a:cs typeface="Times" panose="02020603050405020304" pitchFamily="18" charset="0"/>
                        </a:rPr>
                        <a:t>22.1276</a:t>
                      </a:r>
                      <a:endParaRPr lang="en-US" sz="1000" kern="100" dirty="0">
                        <a:solidFill>
                          <a:schemeClr val="tx1"/>
                        </a:solidFill>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solidFill>
                      <a:schemeClr val="accent1">
                        <a:lumMod val="20000"/>
                        <a:lumOff val="80000"/>
                      </a:schemeClr>
                    </a:solidFill>
                  </a:tcPr>
                </a:tc>
                <a:tc>
                  <a:txBody>
                    <a:bodyPr/>
                    <a:lstStyle/>
                    <a:p>
                      <a:pPr marL="0" marR="0" algn="ctr">
                        <a:lnSpc>
                          <a:spcPct val="115000"/>
                        </a:lnSpc>
                        <a:spcAft>
                          <a:spcPts val="800"/>
                        </a:spcAft>
                        <a:buNone/>
                      </a:pPr>
                      <a:r>
                        <a:rPr lang="en-US" sz="1000" kern="100" dirty="0">
                          <a:solidFill>
                            <a:schemeClr val="tx1"/>
                          </a:solidFill>
                          <a:effectLst/>
                          <a:latin typeface="Times" panose="02020603050405020304" pitchFamily="18" charset="0"/>
                          <a:cs typeface="Times" panose="02020603050405020304" pitchFamily="18" charset="0"/>
                        </a:rPr>
                        <a:t>4.7040</a:t>
                      </a:r>
                      <a:endParaRPr lang="en-US" sz="1000" kern="100" dirty="0">
                        <a:solidFill>
                          <a:schemeClr val="tx1"/>
                        </a:solidFill>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solidFill>
                      <a:schemeClr val="accent1">
                        <a:lumMod val="20000"/>
                        <a:lumOff val="80000"/>
                      </a:schemeClr>
                    </a:solidFill>
                  </a:tcPr>
                </a:tc>
                <a:tc>
                  <a:txBody>
                    <a:bodyPr/>
                    <a:lstStyle/>
                    <a:p>
                      <a:pPr marL="0" marR="0" algn="ctr">
                        <a:lnSpc>
                          <a:spcPct val="115000"/>
                        </a:lnSpc>
                        <a:spcAft>
                          <a:spcPts val="800"/>
                        </a:spcAft>
                        <a:buNone/>
                      </a:pPr>
                      <a:r>
                        <a:rPr lang="en-US" sz="1000" kern="100" dirty="0">
                          <a:solidFill>
                            <a:schemeClr val="tx1"/>
                          </a:solidFill>
                          <a:effectLst/>
                          <a:latin typeface="Times" panose="02020603050405020304" pitchFamily="18" charset="0"/>
                          <a:cs typeface="Times" panose="02020603050405020304" pitchFamily="18" charset="0"/>
                        </a:rPr>
                        <a:t>3.8037</a:t>
                      </a:r>
                      <a:endParaRPr lang="en-US" sz="1000" kern="100" dirty="0">
                        <a:solidFill>
                          <a:schemeClr val="tx1"/>
                        </a:solidFill>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solidFill>
                      <a:schemeClr val="bg1"/>
                    </a:solidFill>
                  </a:tcPr>
                </a:tc>
                <a:extLst>
                  <a:ext uri="{0D108BD9-81ED-4DB2-BD59-A6C34878D82A}">
                    <a16:rowId xmlns:a16="http://schemas.microsoft.com/office/drawing/2014/main" val="383156150"/>
                  </a:ext>
                </a:extLst>
              </a:tr>
              <a:tr h="255735">
                <a:tc vMerge="1">
                  <a:txBody>
                    <a:bodyPr/>
                    <a:lstStyle/>
                    <a:p>
                      <a:endParaRPr/>
                    </a:p>
                  </a:txBody>
                  <a:tcPr marL="9525" marR="9525" marT="9525" marB="9525" anchor="ctr"/>
                </a:tc>
                <a:tc>
                  <a:txBody>
                    <a:bodyPr/>
                    <a:lstStyle/>
                    <a:p>
                      <a:pPr marL="0" marR="0" algn="ctr">
                        <a:lnSpc>
                          <a:spcPct val="115000"/>
                        </a:lnSpc>
                        <a:spcAft>
                          <a:spcPts val="800"/>
                        </a:spcAft>
                        <a:buNone/>
                      </a:pPr>
                      <a:r>
                        <a:rPr lang="en-US" sz="1000" kern="100" dirty="0">
                          <a:effectLst/>
                          <a:latin typeface="Times" panose="02020603050405020304" pitchFamily="18" charset="0"/>
                          <a:cs typeface="Times" panose="02020603050405020304" pitchFamily="18" charset="0"/>
                        </a:rPr>
                        <a:t>Forward Fill</a:t>
                      </a:r>
                      <a:endParaRPr lang="en-US" sz="1000" kern="100" dirty="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000" kern="100">
                          <a:effectLst/>
                          <a:latin typeface="Times" panose="02020603050405020304" pitchFamily="18" charset="0"/>
                          <a:cs typeface="Times" panose="02020603050405020304" pitchFamily="18" charset="0"/>
                        </a:rPr>
                        <a:t>22.7181</a:t>
                      </a:r>
                      <a:endParaRPr lang="en-US" sz="1000" kern="10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000" kern="100" dirty="0">
                          <a:effectLst/>
                          <a:latin typeface="Times" panose="02020603050405020304" pitchFamily="18" charset="0"/>
                          <a:cs typeface="Times" panose="02020603050405020304" pitchFamily="18" charset="0"/>
                        </a:rPr>
                        <a:t>4.7663</a:t>
                      </a:r>
                      <a:endParaRPr lang="en-US" sz="1000" kern="100" dirty="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000" kern="100" dirty="0">
                          <a:effectLst/>
                          <a:latin typeface="Times" panose="02020603050405020304" pitchFamily="18" charset="0"/>
                          <a:cs typeface="Times" panose="02020603050405020304" pitchFamily="18" charset="0"/>
                        </a:rPr>
                        <a:t>3.8310</a:t>
                      </a:r>
                      <a:endParaRPr lang="en-US" sz="1000" kern="100" dirty="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3088415074"/>
                  </a:ext>
                </a:extLst>
              </a:tr>
              <a:tr h="307886">
                <a:tc vMerge="1">
                  <a:txBody>
                    <a:bodyPr/>
                    <a:lstStyle/>
                    <a:p>
                      <a:endParaRPr dirty="0"/>
                    </a:p>
                  </a:txBody>
                  <a:tcPr marL="9525" marR="9525" marT="9525" marB="9525" anchor="ctr"/>
                </a:tc>
                <a:tc>
                  <a:txBody>
                    <a:bodyPr/>
                    <a:lstStyle/>
                    <a:p>
                      <a:pPr marL="0" marR="0" algn="ctr">
                        <a:lnSpc>
                          <a:spcPct val="115000"/>
                        </a:lnSpc>
                        <a:spcAft>
                          <a:spcPts val="800"/>
                        </a:spcAft>
                        <a:buNone/>
                      </a:pPr>
                      <a:r>
                        <a:rPr lang="en-US" sz="1000" kern="100" dirty="0">
                          <a:solidFill>
                            <a:srgbClr val="7030A0"/>
                          </a:solidFill>
                          <a:effectLst/>
                          <a:latin typeface="Times" panose="02020603050405020304" pitchFamily="18" charset="0"/>
                          <a:cs typeface="Times" panose="02020603050405020304" pitchFamily="18" charset="0"/>
                        </a:rPr>
                        <a:t>Mean Fill</a:t>
                      </a:r>
                      <a:endParaRPr lang="en-US" sz="1000" kern="100" dirty="0">
                        <a:solidFill>
                          <a:srgbClr val="7030A0"/>
                        </a:solidFill>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000" kern="100" dirty="0">
                          <a:solidFill>
                            <a:srgbClr val="7030A0"/>
                          </a:solidFill>
                          <a:effectLst/>
                          <a:latin typeface="Times" panose="02020603050405020304" pitchFamily="18" charset="0"/>
                          <a:cs typeface="Times" panose="02020603050405020304" pitchFamily="18" charset="0"/>
                        </a:rPr>
                        <a:t>22.4957</a:t>
                      </a:r>
                      <a:endParaRPr lang="en-US" sz="1000" kern="100" dirty="0">
                        <a:solidFill>
                          <a:srgbClr val="7030A0"/>
                        </a:solidFill>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000" kern="100" dirty="0">
                          <a:solidFill>
                            <a:srgbClr val="7030A0"/>
                          </a:solidFill>
                          <a:effectLst/>
                          <a:latin typeface="Times" panose="02020603050405020304" pitchFamily="18" charset="0"/>
                          <a:cs typeface="Times" panose="02020603050405020304" pitchFamily="18" charset="0"/>
                        </a:rPr>
                        <a:t>4.7430</a:t>
                      </a:r>
                      <a:endParaRPr lang="en-US" sz="1000" kern="100" dirty="0">
                        <a:solidFill>
                          <a:srgbClr val="7030A0"/>
                        </a:solidFill>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000" kern="100" dirty="0">
                          <a:solidFill>
                            <a:srgbClr val="7030A0"/>
                          </a:solidFill>
                          <a:effectLst/>
                          <a:latin typeface="Times" panose="02020603050405020304" pitchFamily="18" charset="0"/>
                          <a:cs typeface="Times" panose="02020603050405020304" pitchFamily="18" charset="0"/>
                        </a:rPr>
                        <a:t>3.7985</a:t>
                      </a:r>
                      <a:endParaRPr lang="en-US" sz="1000" kern="100" dirty="0">
                        <a:solidFill>
                          <a:srgbClr val="7030A0"/>
                        </a:solidFill>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solidFill>
                      <a:schemeClr val="accent1">
                        <a:lumMod val="20000"/>
                        <a:lumOff val="80000"/>
                      </a:schemeClr>
                    </a:solidFill>
                  </a:tcPr>
                </a:tc>
                <a:extLst>
                  <a:ext uri="{0D108BD9-81ED-4DB2-BD59-A6C34878D82A}">
                    <a16:rowId xmlns:a16="http://schemas.microsoft.com/office/drawing/2014/main" val="3839776573"/>
                  </a:ext>
                </a:extLst>
              </a:tr>
            </a:tbl>
          </a:graphicData>
        </a:graphic>
      </p:graphicFrame>
      <p:sp>
        <p:nvSpPr>
          <p:cNvPr id="7" name="TextBox 6">
            <a:extLst>
              <a:ext uri="{FF2B5EF4-FFF2-40B4-BE49-F238E27FC236}">
                <a16:creationId xmlns:a16="http://schemas.microsoft.com/office/drawing/2014/main" id="{2E06C9C2-C6A8-FD37-4EBC-E7E320330184}"/>
              </a:ext>
            </a:extLst>
          </p:cNvPr>
          <p:cNvSpPr txBox="1"/>
          <p:nvPr/>
        </p:nvSpPr>
        <p:spPr>
          <a:xfrm>
            <a:off x="4899239" y="1446661"/>
            <a:ext cx="3909325" cy="3277820"/>
          </a:xfrm>
          <a:prstGeom prst="rect">
            <a:avLst/>
          </a:prstGeom>
          <a:noFill/>
        </p:spPr>
        <p:txBody>
          <a:bodyPr wrap="square">
            <a:spAutoFit/>
          </a:bodyPr>
          <a:lstStyle/>
          <a:p>
            <a:pPr marL="171450" indent="-171450" algn="just">
              <a:buFont typeface="Arial" panose="020B0604020202020204" pitchFamily="34" charset="0"/>
              <a:buChar char="•"/>
            </a:pPr>
            <a:r>
              <a:rPr lang="en-US" sz="900" b="1" dirty="0">
                <a:latin typeface="Times" panose="02020603050405020304" pitchFamily="18" charset="0"/>
                <a:cs typeface="Times" panose="02020603050405020304" pitchFamily="18" charset="0"/>
              </a:rPr>
              <a:t>Three Models Evaluated: </a:t>
            </a:r>
            <a:r>
              <a:rPr lang="en-US" sz="900" dirty="0">
                <a:latin typeface="Times" panose="02020603050405020304" pitchFamily="18" charset="0"/>
                <a:cs typeface="Times" panose="02020603050405020304" pitchFamily="18" charset="0"/>
              </a:rPr>
              <a:t>1-Variable (T.MAX), 2-Variable (T.MAX, RAIN) and Multi-Variable (T.MAX, RAIN, other features)</a:t>
            </a:r>
          </a:p>
          <a:p>
            <a:pPr algn="just"/>
            <a:endParaRPr lang="en-US" sz="900" dirty="0">
              <a:latin typeface="Times" panose="02020603050405020304" pitchFamily="18" charset="0"/>
              <a:cs typeface="Times" panose="02020603050405020304" pitchFamily="18" charset="0"/>
            </a:endParaRPr>
          </a:p>
          <a:p>
            <a:pPr marL="171450" indent="-171450" algn="just">
              <a:buFont typeface="Arial" panose="020B0604020202020204" pitchFamily="34" charset="0"/>
              <a:buChar char="•"/>
            </a:pPr>
            <a:r>
              <a:rPr lang="en-US" sz="900" b="1" dirty="0">
                <a:latin typeface="Times" panose="02020603050405020304" pitchFamily="18" charset="0"/>
                <a:cs typeface="Times" panose="02020603050405020304" pitchFamily="18" charset="0"/>
              </a:rPr>
              <a:t>Three Data Handling Methods: </a:t>
            </a:r>
            <a:r>
              <a:rPr lang="en-US" sz="900" dirty="0">
                <a:latin typeface="Times" panose="02020603050405020304" pitchFamily="18" charset="0"/>
                <a:cs typeface="Times" panose="02020603050405020304" pitchFamily="18" charset="0"/>
              </a:rPr>
              <a:t>Remove Missing Values, Forward Fill, Mean Fill.</a:t>
            </a:r>
          </a:p>
          <a:p>
            <a:pPr marL="171450" indent="-171450" algn="just">
              <a:buFont typeface="Arial" panose="020B0604020202020204" pitchFamily="34" charset="0"/>
              <a:buChar char="•"/>
            </a:pPr>
            <a:endParaRPr lang="en-US" sz="900" dirty="0">
              <a:latin typeface="Times" panose="02020603050405020304" pitchFamily="18" charset="0"/>
              <a:cs typeface="Times" panose="02020603050405020304" pitchFamily="18" charset="0"/>
            </a:endParaRPr>
          </a:p>
          <a:p>
            <a:pPr marL="171450" indent="-171450" algn="just">
              <a:buFont typeface="Arial" panose="020B0604020202020204" pitchFamily="34" charset="0"/>
              <a:buChar char="•"/>
            </a:pPr>
            <a:r>
              <a:rPr lang="en-US" sz="900" b="1" dirty="0">
                <a:latin typeface="Times" panose="02020603050405020304" pitchFamily="18" charset="0"/>
                <a:cs typeface="Times" panose="02020603050405020304" pitchFamily="18" charset="0"/>
              </a:rPr>
              <a:t>Evaluation Metrics Used: </a:t>
            </a:r>
          </a:p>
          <a:p>
            <a:pPr algn="just"/>
            <a:r>
              <a:rPr lang="en-US" sz="900" b="1" dirty="0">
                <a:latin typeface="Times" panose="02020603050405020304" pitchFamily="18" charset="0"/>
                <a:cs typeface="Times" panose="02020603050405020304" pitchFamily="18" charset="0"/>
              </a:rPr>
              <a:t>     </a:t>
            </a:r>
            <a:r>
              <a:rPr lang="en-US" sz="900" dirty="0">
                <a:latin typeface="Times" panose="02020603050405020304" pitchFamily="18" charset="0"/>
                <a:cs typeface="Times" panose="02020603050405020304" pitchFamily="18" charset="0"/>
              </a:rPr>
              <a:t>MSE (Mean Squared Error): Penalizes large errors.</a:t>
            </a:r>
          </a:p>
          <a:p>
            <a:pPr algn="just">
              <a:buNone/>
            </a:pPr>
            <a:r>
              <a:rPr lang="en-US" sz="900" dirty="0">
                <a:latin typeface="Times" panose="02020603050405020304" pitchFamily="18" charset="0"/>
                <a:cs typeface="Times" panose="02020603050405020304" pitchFamily="18" charset="0"/>
              </a:rPr>
              <a:t>     RMSE (Root MSE): Interpretable in original units.</a:t>
            </a:r>
          </a:p>
          <a:p>
            <a:pPr algn="just">
              <a:buNone/>
            </a:pPr>
            <a:r>
              <a:rPr lang="en-US" sz="900" dirty="0">
                <a:latin typeface="Times" panose="02020603050405020304" pitchFamily="18" charset="0"/>
                <a:cs typeface="Times" panose="02020603050405020304" pitchFamily="18" charset="0"/>
              </a:rPr>
              <a:t>     MAE (Mean Absolute Error): Measures average absolute error.</a:t>
            </a:r>
          </a:p>
          <a:p>
            <a:pPr algn="just">
              <a:buNone/>
            </a:pPr>
            <a:endParaRPr lang="en-US" sz="900" dirty="0">
              <a:latin typeface="Times" panose="02020603050405020304" pitchFamily="18" charset="0"/>
              <a:cs typeface="Times" panose="02020603050405020304" pitchFamily="18" charset="0"/>
            </a:endParaRPr>
          </a:p>
          <a:p>
            <a:pPr marL="171450" indent="-171450" algn="just">
              <a:buFont typeface="Arial" panose="020B0604020202020204" pitchFamily="34" charset="0"/>
              <a:buChar char="•"/>
            </a:pPr>
            <a:r>
              <a:rPr lang="en-US" sz="900" b="1" dirty="0">
                <a:latin typeface="Times" panose="02020603050405020304" pitchFamily="18" charset="0"/>
                <a:cs typeface="Times" panose="02020603050405020304" pitchFamily="18" charset="0"/>
              </a:rPr>
              <a:t>Best Model: </a:t>
            </a:r>
            <a:r>
              <a:rPr lang="en-US" sz="900" dirty="0">
                <a:latin typeface="Times" panose="02020603050405020304" pitchFamily="18" charset="0"/>
                <a:cs typeface="Times" panose="02020603050405020304" pitchFamily="18" charset="0"/>
              </a:rPr>
              <a:t>✅ Multi-Variable Regression with 'Remove Missing' method</a:t>
            </a:r>
          </a:p>
          <a:p>
            <a:pPr algn="just">
              <a:buNone/>
            </a:pPr>
            <a:r>
              <a:rPr lang="en-US" sz="900" dirty="0">
                <a:latin typeface="Times" panose="02020603050405020304" pitchFamily="18" charset="0"/>
                <a:cs typeface="Times" panose="02020603050405020304" pitchFamily="18" charset="0"/>
              </a:rPr>
              <a:t>     MSE: </a:t>
            </a:r>
            <a:r>
              <a:rPr lang="en-US" sz="900" b="1" dirty="0">
                <a:latin typeface="Times" panose="02020603050405020304" pitchFamily="18" charset="0"/>
                <a:cs typeface="Times" panose="02020603050405020304" pitchFamily="18" charset="0"/>
              </a:rPr>
              <a:t>22.13</a:t>
            </a:r>
            <a:r>
              <a:rPr lang="en-US" sz="900" dirty="0">
                <a:latin typeface="Times" panose="02020603050405020304" pitchFamily="18" charset="0"/>
                <a:cs typeface="Times" panose="02020603050405020304" pitchFamily="18" charset="0"/>
              </a:rPr>
              <a:t>, RMSE: </a:t>
            </a:r>
            <a:r>
              <a:rPr lang="en-US" sz="900" b="1" dirty="0">
                <a:latin typeface="Times" panose="02020603050405020304" pitchFamily="18" charset="0"/>
                <a:cs typeface="Times" panose="02020603050405020304" pitchFamily="18" charset="0"/>
              </a:rPr>
              <a:t>4.70 and </a:t>
            </a:r>
            <a:r>
              <a:rPr lang="en-US" sz="900" dirty="0">
                <a:latin typeface="Times" panose="02020603050405020304" pitchFamily="18" charset="0"/>
                <a:cs typeface="Times" panose="02020603050405020304" pitchFamily="18" charset="0"/>
              </a:rPr>
              <a:t>mean fill </a:t>
            </a:r>
            <a:r>
              <a:rPr lang="en-US" sz="900" b="1" dirty="0">
                <a:latin typeface="Times" panose="02020603050405020304" pitchFamily="18" charset="0"/>
                <a:cs typeface="Times" panose="02020603050405020304" pitchFamily="18" charset="0"/>
              </a:rPr>
              <a:t>- </a:t>
            </a:r>
            <a:r>
              <a:rPr lang="en-US" sz="900" dirty="0">
                <a:latin typeface="Times" panose="02020603050405020304" pitchFamily="18" charset="0"/>
                <a:cs typeface="Times" panose="02020603050405020304" pitchFamily="18" charset="0"/>
              </a:rPr>
              <a:t>MAE: </a:t>
            </a:r>
            <a:r>
              <a:rPr lang="en-US" sz="900" b="1" dirty="0">
                <a:latin typeface="Times" panose="02020603050405020304" pitchFamily="18" charset="0"/>
                <a:cs typeface="Times" panose="02020603050405020304" pitchFamily="18" charset="0"/>
              </a:rPr>
              <a:t>3.79</a:t>
            </a:r>
          </a:p>
          <a:p>
            <a:pPr marL="171450" indent="-171450" algn="just">
              <a:buFont typeface="Arial" panose="020B0604020202020204" pitchFamily="34" charset="0"/>
              <a:buChar char="•"/>
            </a:pPr>
            <a:r>
              <a:rPr lang="en-US" sz="900" b="1" dirty="0">
                <a:latin typeface="Times" panose="02020603050405020304" pitchFamily="18" charset="0"/>
                <a:cs typeface="Times" panose="02020603050405020304" pitchFamily="18" charset="0"/>
              </a:rPr>
              <a:t>Impact of Feature Addition: </a:t>
            </a:r>
            <a:r>
              <a:rPr lang="en-US" sz="900" dirty="0">
                <a:latin typeface="Times" panose="02020603050405020304" pitchFamily="18" charset="0"/>
                <a:cs typeface="Times" panose="02020603050405020304" pitchFamily="18" charset="0"/>
              </a:rPr>
              <a:t>Errors decrease as more features are included → </a:t>
            </a:r>
            <a:r>
              <a:rPr lang="en-US" sz="900" b="1" dirty="0">
                <a:latin typeface="Times" panose="02020603050405020304" pitchFamily="18" charset="0"/>
                <a:cs typeface="Times" panose="02020603050405020304" pitchFamily="18" charset="0"/>
              </a:rPr>
              <a:t>better predictions</a:t>
            </a:r>
            <a:r>
              <a:rPr lang="en-US" sz="900" dirty="0">
                <a:latin typeface="Times" panose="02020603050405020304" pitchFamily="18" charset="0"/>
                <a:cs typeface="Times" panose="02020603050405020304" pitchFamily="18" charset="0"/>
              </a:rPr>
              <a:t>.</a:t>
            </a:r>
          </a:p>
          <a:p>
            <a:pPr marL="171450" indent="-171450" algn="just">
              <a:buFont typeface="Arial" panose="020B0604020202020204" pitchFamily="34" charset="0"/>
              <a:buChar char="•"/>
            </a:pPr>
            <a:r>
              <a:rPr lang="en-US" sz="900" b="1" dirty="0">
                <a:latin typeface="Times" panose="02020603050405020304" pitchFamily="18" charset="0"/>
                <a:cs typeface="Times" panose="02020603050405020304" pitchFamily="18" charset="0"/>
              </a:rPr>
              <a:t>Imputation Comparison:</a:t>
            </a:r>
            <a:r>
              <a:rPr lang="en-US" sz="900" dirty="0">
                <a:latin typeface="Times" panose="02020603050405020304" pitchFamily="18" charset="0"/>
                <a:cs typeface="Times" panose="02020603050405020304" pitchFamily="18" charset="0"/>
              </a:rPr>
              <a:t> Removing missing values gives consistently better results than forward/mean fill.</a:t>
            </a:r>
          </a:p>
          <a:p>
            <a:pPr marL="171450" indent="-171450" algn="just">
              <a:buFont typeface="Arial" panose="020B0604020202020204" pitchFamily="34" charset="0"/>
              <a:buChar char="•"/>
            </a:pPr>
            <a:r>
              <a:rPr lang="en-US" sz="900" dirty="0">
                <a:latin typeface="Times" panose="02020603050405020304" pitchFamily="18" charset="0"/>
                <a:cs typeface="Times" panose="02020603050405020304" pitchFamily="18" charset="0"/>
              </a:rPr>
              <a:t>Remove Missing gives the best overall performance across all models.</a:t>
            </a:r>
          </a:p>
          <a:p>
            <a:pPr algn="just"/>
            <a:endParaRPr lang="en-US" sz="900" dirty="0">
              <a:latin typeface="Times" panose="02020603050405020304" pitchFamily="18" charset="0"/>
              <a:cs typeface="Times" panose="02020603050405020304" pitchFamily="18" charset="0"/>
            </a:endParaRPr>
          </a:p>
          <a:p>
            <a:pPr marL="171450" indent="-171450" algn="just">
              <a:buFont typeface="Arial" panose="020B0604020202020204" pitchFamily="34" charset="0"/>
              <a:buChar char="•"/>
            </a:pPr>
            <a:r>
              <a:rPr lang="en-US" sz="900" b="1" dirty="0">
                <a:latin typeface="Times" panose="02020603050405020304" pitchFamily="18" charset="0"/>
                <a:cs typeface="Times" panose="02020603050405020304" pitchFamily="18" charset="0"/>
              </a:rPr>
              <a:t>Mean Fill </a:t>
            </a:r>
            <a:r>
              <a:rPr lang="en-US" sz="900" dirty="0">
                <a:latin typeface="Times" panose="02020603050405020304" pitchFamily="18" charset="0"/>
                <a:cs typeface="Times" panose="02020603050405020304" pitchFamily="18" charset="0"/>
              </a:rPr>
              <a:t>performs </a:t>
            </a:r>
            <a:r>
              <a:rPr lang="en-US" sz="900" b="1" dirty="0">
                <a:latin typeface="Times" panose="02020603050405020304" pitchFamily="18" charset="0"/>
                <a:cs typeface="Times" panose="02020603050405020304" pitchFamily="18" charset="0"/>
              </a:rPr>
              <a:t>better than </a:t>
            </a:r>
            <a:r>
              <a:rPr lang="en-US" sz="900" dirty="0">
                <a:latin typeface="Times" panose="02020603050405020304" pitchFamily="18" charset="0"/>
                <a:cs typeface="Times" panose="02020603050405020304" pitchFamily="18" charset="0"/>
              </a:rPr>
              <a:t>Forward Fill in most models:</a:t>
            </a:r>
          </a:p>
          <a:p>
            <a:pPr algn="just">
              <a:buNone/>
            </a:pPr>
            <a:r>
              <a:rPr lang="en-US" sz="900" dirty="0">
                <a:latin typeface="Times" panose="02020603050405020304" pitchFamily="18" charset="0"/>
                <a:cs typeface="Times" panose="02020603050405020304" pitchFamily="18" charset="0"/>
              </a:rPr>
              <a:t>      Slightly </a:t>
            </a:r>
            <a:r>
              <a:rPr lang="en-US" sz="900" b="1" dirty="0">
                <a:latin typeface="Times" panose="02020603050405020304" pitchFamily="18" charset="0"/>
                <a:cs typeface="Times" panose="02020603050405020304" pitchFamily="18" charset="0"/>
              </a:rPr>
              <a:t>lower MSE, RMSE, and MAE values.</a:t>
            </a:r>
          </a:p>
          <a:p>
            <a:pPr marL="171450" indent="-171450" algn="just">
              <a:buFont typeface="Arial" panose="020B0604020202020204" pitchFamily="34" charset="0"/>
              <a:buChar char="•"/>
            </a:pPr>
            <a:r>
              <a:rPr lang="en-US" sz="900" dirty="0">
                <a:latin typeface="Times" panose="02020603050405020304" pitchFamily="18" charset="0"/>
                <a:cs typeface="Times" panose="02020603050405020304" pitchFamily="18" charset="0"/>
              </a:rPr>
              <a:t>Mean Fill is especially useful when we can't afford to lose data by removing rows.</a:t>
            </a:r>
          </a:p>
        </p:txBody>
      </p:sp>
      <p:pic>
        <p:nvPicPr>
          <p:cNvPr id="11" name="Picture 7" descr="Wind Turbine Efficiency: How Has It Improved Over Time? - Lumify Energy">
            <a:extLst>
              <a:ext uri="{FF2B5EF4-FFF2-40B4-BE49-F238E27FC236}">
                <a16:creationId xmlns:a16="http://schemas.microsoft.com/office/drawing/2014/main" id="{E3F5717B-C161-3810-4968-A9998002C6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54354" y="502992"/>
            <a:ext cx="1252254" cy="8339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6540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502AD-29E7-B26A-4054-B7B369D92993}"/>
              </a:ext>
            </a:extLst>
          </p:cNvPr>
          <p:cNvSpPr>
            <a:spLocks noGrp="1"/>
          </p:cNvSpPr>
          <p:nvPr>
            <p:ph type="title"/>
          </p:nvPr>
        </p:nvSpPr>
        <p:spPr>
          <a:xfrm>
            <a:off x="990600" y="691766"/>
            <a:ext cx="5714825" cy="628075"/>
          </a:xfrm>
        </p:spPr>
        <p:txBody>
          <a:bodyPr/>
          <a:lstStyle/>
          <a:p>
            <a:pPr algn="ctr"/>
            <a:r>
              <a:rPr lang="en-US" sz="1400" b="1" dirty="0">
                <a:latin typeface="Times" panose="02020603050405020304" pitchFamily="18" charset="0"/>
                <a:cs typeface="Times" panose="02020603050405020304" pitchFamily="18" charset="0"/>
              </a:rPr>
              <a:t>LINEAR REGRESSION </a:t>
            </a:r>
            <a:br>
              <a:rPr lang="en-US" sz="1400" b="1" dirty="0">
                <a:latin typeface="Times" panose="02020603050405020304" pitchFamily="18" charset="0"/>
                <a:cs typeface="Times" panose="02020603050405020304" pitchFamily="18" charset="0"/>
              </a:rPr>
            </a:br>
            <a:r>
              <a:rPr lang="en-US" sz="1400" b="1" dirty="0">
                <a:latin typeface="Times" panose="02020603050405020304" pitchFamily="18" charset="0"/>
                <a:cs typeface="Times" panose="02020603050405020304" pitchFamily="18" charset="0"/>
              </a:rPr>
              <a:t>(1-VARIABLE/2-VARIABLES/MULTI-VARIABLES)</a:t>
            </a:r>
            <a:br>
              <a:rPr lang="en-US" sz="1400" b="1" dirty="0">
                <a:latin typeface="Times" panose="02020603050405020304" pitchFamily="18" charset="0"/>
                <a:cs typeface="Times" panose="02020603050405020304" pitchFamily="18" charset="0"/>
              </a:rPr>
            </a:br>
            <a:r>
              <a:rPr lang="en-US" sz="1400" b="1" dirty="0">
                <a:latin typeface="Times" panose="02020603050405020304" pitchFamily="18" charset="0"/>
                <a:cs typeface="Times" panose="02020603050405020304" pitchFamily="18" charset="0"/>
              </a:rPr>
              <a:t>GRAPHICAL REPRESENTATION AND RESULTS</a:t>
            </a:r>
            <a:br>
              <a:rPr lang="en-US" sz="1400" b="1" dirty="0">
                <a:latin typeface="Times" panose="02020603050405020304" pitchFamily="18" charset="0"/>
                <a:cs typeface="Times" panose="02020603050405020304" pitchFamily="18" charset="0"/>
              </a:rPr>
            </a:br>
            <a:endParaRPr lang="en-US" sz="1400" dirty="0"/>
          </a:p>
        </p:txBody>
      </p:sp>
      <p:sp>
        <p:nvSpPr>
          <p:cNvPr id="5" name="Slide Number Placeholder 4">
            <a:extLst>
              <a:ext uri="{FF2B5EF4-FFF2-40B4-BE49-F238E27FC236}">
                <a16:creationId xmlns:a16="http://schemas.microsoft.com/office/drawing/2014/main" id="{F6378F85-05D8-6AA1-BEDD-BD49EA54991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9</a:t>
            </a:fld>
            <a:endParaRPr lang="en"/>
          </a:p>
        </p:txBody>
      </p:sp>
      <p:pic>
        <p:nvPicPr>
          <p:cNvPr id="7" name="Picture 6">
            <a:extLst>
              <a:ext uri="{FF2B5EF4-FFF2-40B4-BE49-F238E27FC236}">
                <a16:creationId xmlns:a16="http://schemas.microsoft.com/office/drawing/2014/main" id="{BE77F4AA-178F-E3EF-977B-32AE7802A9BD}"/>
              </a:ext>
            </a:extLst>
          </p:cNvPr>
          <p:cNvPicPr>
            <a:picLocks noChangeAspect="1"/>
          </p:cNvPicPr>
          <p:nvPr/>
        </p:nvPicPr>
        <p:blipFill>
          <a:blip r:embed="rId2"/>
          <a:stretch>
            <a:fillRect/>
          </a:stretch>
        </p:blipFill>
        <p:spPr>
          <a:xfrm>
            <a:off x="349455" y="1737677"/>
            <a:ext cx="2796259" cy="1668142"/>
          </a:xfrm>
          <a:prstGeom prst="rect">
            <a:avLst/>
          </a:prstGeom>
          <a:effectLst>
            <a:outerShdw blurRad="63500" sx="102000" sy="102000" algn="ctr" rotWithShape="0">
              <a:prstClr val="black">
                <a:alpha val="40000"/>
              </a:prstClr>
            </a:outerShdw>
          </a:effectLst>
        </p:spPr>
      </p:pic>
      <p:pic>
        <p:nvPicPr>
          <p:cNvPr id="9" name="Picture 8">
            <a:extLst>
              <a:ext uri="{FF2B5EF4-FFF2-40B4-BE49-F238E27FC236}">
                <a16:creationId xmlns:a16="http://schemas.microsoft.com/office/drawing/2014/main" id="{C284C6E6-2B64-AB6E-A6C0-07F737CEB2ED}"/>
              </a:ext>
            </a:extLst>
          </p:cNvPr>
          <p:cNvPicPr>
            <a:picLocks noChangeAspect="1"/>
          </p:cNvPicPr>
          <p:nvPr/>
        </p:nvPicPr>
        <p:blipFill>
          <a:blip r:embed="rId3"/>
          <a:stretch>
            <a:fillRect/>
          </a:stretch>
        </p:blipFill>
        <p:spPr>
          <a:xfrm>
            <a:off x="680785" y="3562350"/>
            <a:ext cx="2133600" cy="1381817"/>
          </a:xfrm>
          <a:prstGeom prst="rect">
            <a:avLst/>
          </a:prstGeom>
        </p:spPr>
      </p:pic>
      <p:pic>
        <p:nvPicPr>
          <p:cNvPr id="11" name="Picture 10">
            <a:extLst>
              <a:ext uri="{FF2B5EF4-FFF2-40B4-BE49-F238E27FC236}">
                <a16:creationId xmlns:a16="http://schemas.microsoft.com/office/drawing/2014/main" id="{95B444D0-B6BC-87FE-426B-160B2D53E359}"/>
              </a:ext>
            </a:extLst>
          </p:cNvPr>
          <p:cNvPicPr>
            <a:picLocks noChangeAspect="1"/>
          </p:cNvPicPr>
          <p:nvPr/>
        </p:nvPicPr>
        <p:blipFill>
          <a:blip r:embed="rId4"/>
          <a:stretch>
            <a:fillRect/>
          </a:stretch>
        </p:blipFill>
        <p:spPr>
          <a:xfrm>
            <a:off x="3278771" y="1737678"/>
            <a:ext cx="2796259" cy="1668143"/>
          </a:xfrm>
          <a:prstGeom prst="rect">
            <a:avLst/>
          </a:prstGeom>
          <a:effectLst>
            <a:outerShdw blurRad="63500" sx="102000" sy="102000" algn="ctr" rotWithShape="0">
              <a:prstClr val="black">
                <a:alpha val="40000"/>
              </a:prstClr>
            </a:outerShdw>
          </a:effectLst>
        </p:spPr>
      </p:pic>
      <p:pic>
        <p:nvPicPr>
          <p:cNvPr id="13" name="Picture 12">
            <a:extLst>
              <a:ext uri="{FF2B5EF4-FFF2-40B4-BE49-F238E27FC236}">
                <a16:creationId xmlns:a16="http://schemas.microsoft.com/office/drawing/2014/main" id="{0FBB2654-AF64-B092-2013-904BABD39295}"/>
              </a:ext>
            </a:extLst>
          </p:cNvPr>
          <p:cNvPicPr>
            <a:picLocks noChangeAspect="1"/>
          </p:cNvPicPr>
          <p:nvPr/>
        </p:nvPicPr>
        <p:blipFill>
          <a:blip r:embed="rId5"/>
          <a:stretch>
            <a:fillRect/>
          </a:stretch>
        </p:blipFill>
        <p:spPr>
          <a:xfrm>
            <a:off x="3513904" y="3562349"/>
            <a:ext cx="2133600" cy="1381817"/>
          </a:xfrm>
          <a:prstGeom prst="rect">
            <a:avLst/>
          </a:prstGeom>
        </p:spPr>
      </p:pic>
      <p:pic>
        <p:nvPicPr>
          <p:cNvPr id="15" name="Picture 14">
            <a:extLst>
              <a:ext uri="{FF2B5EF4-FFF2-40B4-BE49-F238E27FC236}">
                <a16:creationId xmlns:a16="http://schemas.microsoft.com/office/drawing/2014/main" id="{5382CC4C-71EC-880D-25C2-E61805A67E0C}"/>
              </a:ext>
            </a:extLst>
          </p:cNvPr>
          <p:cNvPicPr>
            <a:picLocks noChangeAspect="1"/>
          </p:cNvPicPr>
          <p:nvPr/>
        </p:nvPicPr>
        <p:blipFill>
          <a:blip r:embed="rId6"/>
          <a:stretch>
            <a:fillRect/>
          </a:stretch>
        </p:blipFill>
        <p:spPr>
          <a:xfrm>
            <a:off x="6208086" y="1737677"/>
            <a:ext cx="2796259" cy="1668143"/>
          </a:xfrm>
          <a:prstGeom prst="rect">
            <a:avLst/>
          </a:prstGeom>
          <a:effectLst>
            <a:outerShdw blurRad="50800" dist="38100" dir="5400000" algn="t" rotWithShape="0">
              <a:prstClr val="black">
                <a:alpha val="40000"/>
              </a:prstClr>
            </a:outerShdw>
          </a:effectLst>
        </p:spPr>
      </p:pic>
      <p:pic>
        <p:nvPicPr>
          <p:cNvPr id="17" name="Picture 16">
            <a:extLst>
              <a:ext uri="{FF2B5EF4-FFF2-40B4-BE49-F238E27FC236}">
                <a16:creationId xmlns:a16="http://schemas.microsoft.com/office/drawing/2014/main" id="{F9BBFC4D-3474-E21F-3392-5F9F9404662A}"/>
              </a:ext>
            </a:extLst>
          </p:cNvPr>
          <p:cNvPicPr>
            <a:picLocks noChangeAspect="1"/>
          </p:cNvPicPr>
          <p:nvPr/>
        </p:nvPicPr>
        <p:blipFill>
          <a:blip r:embed="rId7"/>
          <a:stretch>
            <a:fillRect/>
          </a:stretch>
        </p:blipFill>
        <p:spPr>
          <a:xfrm>
            <a:off x="6503233" y="3557004"/>
            <a:ext cx="2133600" cy="1381817"/>
          </a:xfrm>
          <a:prstGeom prst="rect">
            <a:avLst/>
          </a:prstGeom>
        </p:spPr>
      </p:pic>
      <p:sp>
        <p:nvSpPr>
          <p:cNvPr id="20" name="TextBox 19">
            <a:extLst>
              <a:ext uri="{FF2B5EF4-FFF2-40B4-BE49-F238E27FC236}">
                <a16:creationId xmlns:a16="http://schemas.microsoft.com/office/drawing/2014/main" id="{81475D53-B513-A9D6-F1A2-F7E3C289BAAE}"/>
              </a:ext>
            </a:extLst>
          </p:cNvPr>
          <p:cNvSpPr txBox="1"/>
          <p:nvPr/>
        </p:nvSpPr>
        <p:spPr>
          <a:xfrm>
            <a:off x="2529842" y="1347914"/>
            <a:ext cx="4101723" cy="246221"/>
          </a:xfrm>
          <a:prstGeom prst="rect">
            <a:avLst/>
          </a:prstGeom>
          <a:noFill/>
        </p:spPr>
        <p:txBody>
          <a:bodyPr wrap="square">
            <a:spAutoFit/>
          </a:bodyPr>
          <a:lstStyle/>
          <a:p>
            <a:r>
              <a:rPr lang="en-US" sz="1000" b="1" dirty="0">
                <a:latin typeface="Times" panose="02020603050405020304" pitchFamily="18" charset="0"/>
                <a:cs typeface="Times" panose="02020603050405020304" pitchFamily="18" charset="0"/>
              </a:rPr>
              <a:t>Conclusion: </a:t>
            </a:r>
            <a:r>
              <a:rPr lang="en-US" sz="1000" dirty="0">
                <a:latin typeface="Times" panose="02020603050405020304" pitchFamily="18" charset="0"/>
                <a:cs typeface="Times" panose="02020603050405020304" pitchFamily="18" charset="0"/>
              </a:rPr>
              <a:t>More features + proper data cleaning → better model accuracy.</a:t>
            </a:r>
          </a:p>
        </p:txBody>
      </p:sp>
      <p:pic>
        <p:nvPicPr>
          <p:cNvPr id="21" name="Picture 7" descr="Wind Turbine Efficiency: How Has It Improved Over Time? - Lumify Energy">
            <a:extLst>
              <a:ext uri="{FF2B5EF4-FFF2-40B4-BE49-F238E27FC236}">
                <a16:creationId xmlns:a16="http://schemas.microsoft.com/office/drawing/2014/main" id="{8ED692D8-F1BE-9B9F-D2B0-17504B85327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54354" y="502992"/>
            <a:ext cx="1252254" cy="8339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29229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26C1139-A6A5-A344-798A-9DF5D5D8E1D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10</a:t>
            </a:fld>
            <a:endParaRPr lang="en"/>
          </a:p>
        </p:txBody>
      </p:sp>
      <p:sp>
        <p:nvSpPr>
          <p:cNvPr id="4" name="Title 3">
            <a:extLst>
              <a:ext uri="{FF2B5EF4-FFF2-40B4-BE49-F238E27FC236}">
                <a16:creationId xmlns:a16="http://schemas.microsoft.com/office/drawing/2014/main" id="{41F08EDC-107A-A804-04F7-8E532523F0CB}"/>
              </a:ext>
            </a:extLst>
          </p:cNvPr>
          <p:cNvSpPr>
            <a:spLocks noGrp="1"/>
          </p:cNvSpPr>
          <p:nvPr>
            <p:ph type="title"/>
          </p:nvPr>
        </p:nvSpPr>
        <p:spPr/>
        <p:txBody>
          <a:bodyPr/>
          <a:lstStyle/>
          <a:p>
            <a:pPr algn="ctr"/>
            <a:r>
              <a:rPr lang="en-US" sz="1400" b="1" dirty="0">
                <a:latin typeface="Times" panose="02020603050405020304" pitchFamily="18" charset="0"/>
                <a:cs typeface="Times" panose="02020603050405020304" pitchFamily="18" charset="0"/>
              </a:rPr>
              <a:t>KNN </a:t>
            </a:r>
            <a:r>
              <a:rPr lang="en-US" sz="1400" dirty="0">
                <a:latin typeface="Times" panose="02020603050405020304" pitchFamily="18" charset="0"/>
                <a:cs typeface="Times" panose="02020603050405020304" pitchFamily="18" charset="0"/>
              </a:rPr>
              <a:t>&amp; </a:t>
            </a:r>
            <a:r>
              <a:rPr lang="en-US" sz="1400" b="1" dirty="0">
                <a:latin typeface="Times" panose="02020603050405020304" pitchFamily="18" charset="0"/>
                <a:cs typeface="Times" panose="02020603050405020304" pitchFamily="18" charset="0"/>
              </a:rPr>
              <a:t>RANDOM FOREST REGRESSION</a:t>
            </a:r>
            <a:br>
              <a:rPr lang="en-US" sz="1400" b="1" dirty="0">
                <a:latin typeface="Times" panose="02020603050405020304" pitchFamily="18" charset="0"/>
                <a:cs typeface="Times" panose="02020603050405020304" pitchFamily="18" charset="0"/>
              </a:rPr>
            </a:br>
            <a:r>
              <a:rPr lang="en-US" sz="1400" b="1" dirty="0">
                <a:latin typeface="Times" panose="02020603050405020304" pitchFamily="18" charset="0"/>
                <a:cs typeface="Times" panose="02020603050405020304" pitchFamily="18" charset="0"/>
              </a:rPr>
              <a:t>OBSERVATIONS</a:t>
            </a:r>
            <a:endParaRPr lang="en-US" sz="1400" dirty="0"/>
          </a:p>
        </p:txBody>
      </p:sp>
      <p:graphicFrame>
        <p:nvGraphicFramePr>
          <p:cNvPr id="5" name="Table 4">
            <a:extLst>
              <a:ext uri="{FF2B5EF4-FFF2-40B4-BE49-F238E27FC236}">
                <a16:creationId xmlns:a16="http://schemas.microsoft.com/office/drawing/2014/main" id="{39F13333-8914-04AC-2D84-0D0A6B776B5D}"/>
              </a:ext>
            </a:extLst>
          </p:cNvPr>
          <p:cNvGraphicFramePr>
            <a:graphicFrameLocks noGrp="1"/>
          </p:cNvGraphicFramePr>
          <p:nvPr>
            <p:extLst>
              <p:ext uri="{D42A27DB-BD31-4B8C-83A1-F6EECF244321}">
                <p14:modId xmlns:p14="http://schemas.microsoft.com/office/powerpoint/2010/main" val="2226547533"/>
              </p:ext>
            </p:extLst>
          </p:nvPr>
        </p:nvGraphicFramePr>
        <p:xfrm>
          <a:off x="381000" y="1863626"/>
          <a:ext cx="3962399" cy="2606147"/>
        </p:xfrm>
        <a:graphic>
          <a:graphicData uri="http://schemas.openxmlformats.org/drawingml/2006/table">
            <a:tbl>
              <a:tblPr firstRow="1" firstCol="1" bandRow="1">
                <a:tableStyleId>{AD84D997-8D4E-4861-8B80-C6579219E408}</a:tableStyleId>
              </a:tblPr>
              <a:tblGrid>
                <a:gridCol w="802367">
                  <a:extLst>
                    <a:ext uri="{9D8B030D-6E8A-4147-A177-3AD203B41FA5}">
                      <a16:colId xmlns:a16="http://schemas.microsoft.com/office/drawing/2014/main" val="794467312"/>
                    </a:ext>
                  </a:extLst>
                </a:gridCol>
                <a:gridCol w="1069820">
                  <a:extLst>
                    <a:ext uri="{9D8B030D-6E8A-4147-A177-3AD203B41FA5}">
                      <a16:colId xmlns:a16="http://schemas.microsoft.com/office/drawing/2014/main" val="565242951"/>
                    </a:ext>
                  </a:extLst>
                </a:gridCol>
                <a:gridCol w="668638">
                  <a:extLst>
                    <a:ext uri="{9D8B030D-6E8A-4147-A177-3AD203B41FA5}">
                      <a16:colId xmlns:a16="http://schemas.microsoft.com/office/drawing/2014/main" val="3145105647"/>
                    </a:ext>
                  </a:extLst>
                </a:gridCol>
                <a:gridCol w="668638">
                  <a:extLst>
                    <a:ext uri="{9D8B030D-6E8A-4147-A177-3AD203B41FA5}">
                      <a16:colId xmlns:a16="http://schemas.microsoft.com/office/drawing/2014/main" val="4195878642"/>
                    </a:ext>
                  </a:extLst>
                </a:gridCol>
                <a:gridCol w="752936">
                  <a:extLst>
                    <a:ext uri="{9D8B030D-6E8A-4147-A177-3AD203B41FA5}">
                      <a16:colId xmlns:a16="http://schemas.microsoft.com/office/drawing/2014/main" val="3277700687"/>
                    </a:ext>
                  </a:extLst>
                </a:gridCol>
              </a:tblGrid>
              <a:tr h="341842">
                <a:tc>
                  <a:txBody>
                    <a:bodyPr/>
                    <a:lstStyle/>
                    <a:p>
                      <a:pPr marL="0" marR="0" algn="ctr">
                        <a:lnSpc>
                          <a:spcPct val="115000"/>
                        </a:lnSpc>
                        <a:spcAft>
                          <a:spcPts val="800"/>
                        </a:spcAft>
                        <a:buNone/>
                      </a:pPr>
                      <a:r>
                        <a:rPr lang="en-US" sz="1000" b="1" kern="100" dirty="0">
                          <a:effectLst/>
                          <a:latin typeface="Times" panose="02020603050405020304" pitchFamily="18" charset="0"/>
                          <a:cs typeface="Times" panose="02020603050405020304" pitchFamily="18" charset="0"/>
                        </a:rPr>
                        <a:t>Model</a:t>
                      </a:r>
                      <a:endParaRPr lang="en-US" sz="1000" b="1" kern="100" dirty="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000" b="1" kern="100" dirty="0">
                          <a:effectLst/>
                          <a:latin typeface="Times" panose="02020603050405020304" pitchFamily="18" charset="0"/>
                          <a:cs typeface="Times" panose="02020603050405020304" pitchFamily="18" charset="0"/>
                        </a:rPr>
                        <a:t>Method</a:t>
                      </a:r>
                      <a:endParaRPr lang="en-US" sz="1000" b="1" kern="100" dirty="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000" b="1" kern="100" dirty="0">
                          <a:effectLst/>
                          <a:latin typeface="Times" panose="02020603050405020304" pitchFamily="18" charset="0"/>
                          <a:cs typeface="Times" panose="02020603050405020304" pitchFamily="18" charset="0"/>
                        </a:rPr>
                        <a:t>MSE</a:t>
                      </a:r>
                      <a:endParaRPr lang="en-US" sz="1000" b="1" kern="100" dirty="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000" b="1" kern="100" dirty="0">
                          <a:effectLst/>
                          <a:latin typeface="Times" panose="02020603050405020304" pitchFamily="18" charset="0"/>
                          <a:cs typeface="Times" panose="02020603050405020304" pitchFamily="18" charset="0"/>
                        </a:rPr>
                        <a:t>RMSE</a:t>
                      </a:r>
                      <a:endParaRPr lang="en-US" sz="1000" b="1" kern="100" dirty="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000" b="1" kern="100" dirty="0">
                          <a:effectLst/>
                          <a:latin typeface="Times" panose="02020603050405020304" pitchFamily="18" charset="0"/>
                          <a:cs typeface="Times" panose="02020603050405020304" pitchFamily="18" charset="0"/>
                        </a:rPr>
                        <a:t>MAE</a:t>
                      </a:r>
                      <a:endParaRPr lang="en-US" sz="1000" b="1" kern="100" dirty="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1980116734"/>
                  </a:ext>
                </a:extLst>
              </a:tr>
              <a:tr h="341842">
                <a:tc rowSpan="3">
                  <a:txBody>
                    <a:bodyPr/>
                    <a:lstStyle/>
                    <a:p>
                      <a:pPr algn="ctr"/>
                      <a:r>
                        <a:rPr lang="en-US" sz="1000" dirty="0">
                          <a:latin typeface="Times" panose="02020603050405020304" pitchFamily="18" charset="0"/>
                          <a:cs typeface="Times" panose="02020603050405020304" pitchFamily="18" charset="0"/>
                        </a:rPr>
                        <a:t>KNN</a:t>
                      </a:r>
                    </a:p>
                  </a:txBody>
                  <a:tcPr anchor="ctr"/>
                </a:tc>
                <a:tc>
                  <a:txBody>
                    <a:bodyPr/>
                    <a:lstStyle/>
                    <a:p>
                      <a:pPr marL="0" marR="0" algn="ctr">
                        <a:lnSpc>
                          <a:spcPct val="115000"/>
                        </a:lnSpc>
                        <a:spcAft>
                          <a:spcPts val="800"/>
                        </a:spcAft>
                        <a:buNone/>
                      </a:pPr>
                      <a:r>
                        <a:rPr lang="en-US" sz="1000" kern="100" dirty="0">
                          <a:effectLst/>
                          <a:latin typeface="Times" panose="02020603050405020304" pitchFamily="18" charset="0"/>
                          <a:cs typeface="Times" panose="02020603050405020304" pitchFamily="18" charset="0"/>
                        </a:rPr>
                        <a:t>Remove Missing</a:t>
                      </a:r>
                      <a:endParaRPr lang="en-US" sz="1000" kern="100" dirty="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000" kern="100" dirty="0">
                          <a:effectLst/>
                          <a:latin typeface="Times" panose="02020603050405020304" pitchFamily="18" charset="0"/>
                          <a:cs typeface="Times" panose="02020603050405020304" pitchFamily="18" charset="0"/>
                        </a:rPr>
                        <a:t>22.0425</a:t>
                      </a:r>
                      <a:endParaRPr lang="en-US" sz="1000" kern="100" dirty="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000" kern="100" dirty="0">
                          <a:effectLst/>
                          <a:latin typeface="Times" panose="02020603050405020304" pitchFamily="18" charset="0"/>
                          <a:cs typeface="Times" panose="02020603050405020304" pitchFamily="18" charset="0"/>
                        </a:rPr>
                        <a:t>4.6949</a:t>
                      </a:r>
                      <a:endParaRPr lang="en-US" sz="1000" kern="100" dirty="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000" kern="100" dirty="0">
                          <a:effectLst/>
                          <a:latin typeface="Times" panose="02020603050405020304" pitchFamily="18" charset="0"/>
                          <a:cs typeface="Times" panose="02020603050405020304" pitchFamily="18" charset="0"/>
                        </a:rPr>
                        <a:t>3.6591</a:t>
                      </a:r>
                      <a:endParaRPr lang="en-US" sz="1000" kern="100" dirty="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3281925586"/>
                  </a:ext>
                </a:extLst>
              </a:tr>
              <a:tr h="341842">
                <a:tc vMerge="1">
                  <a:txBody>
                    <a:bodyPr/>
                    <a:lstStyle/>
                    <a:p>
                      <a:endParaRPr lang="en-US"/>
                    </a:p>
                  </a:txBody>
                  <a:tcPr/>
                </a:tc>
                <a:tc>
                  <a:txBody>
                    <a:bodyPr/>
                    <a:lstStyle/>
                    <a:p>
                      <a:pPr marL="0" marR="0" algn="ctr">
                        <a:lnSpc>
                          <a:spcPct val="115000"/>
                        </a:lnSpc>
                        <a:spcAft>
                          <a:spcPts val="800"/>
                        </a:spcAft>
                        <a:buNone/>
                      </a:pPr>
                      <a:r>
                        <a:rPr lang="en-US" sz="1000" kern="100">
                          <a:effectLst/>
                          <a:latin typeface="Times" panose="02020603050405020304" pitchFamily="18" charset="0"/>
                          <a:cs typeface="Times" panose="02020603050405020304" pitchFamily="18" charset="0"/>
                        </a:rPr>
                        <a:t>Forward Fill</a:t>
                      </a:r>
                      <a:endParaRPr lang="en-US" sz="1000" kern="10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000" kern="100" dirty="0">
                          <a:solidFill>
                            <a:srgbClr val="7030A0"/>
                          </a:solidFill>
                          <a:effectLst/>
                          <a:latin typeface="Times" panose="02020603050405020304" pitchFamily="18" charset="0"/>
                          <a:cs typeface="Times" panose="02020603050405020304" pitchFamily="18" charset="0"/>
                        </a:rPr>
                        <a:t>21.9884</a:t>
                      </a:r>
                      <a:endParaRPr lang="en-US" sz="1000" kern="100" dirty="0">
                        <a:solidFill>
                          <a:srgbClr val="7030A0"/>
                        </a:solidFill>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000" kern="100" dirty="0">
                          <a:solidFill>
                            <a:srgbClr val="7030A0"/>
                          </a:solidFill>
                          <a:effectLst/>
                          <a:latin typeface="Times" panose="02020603050405020304" pitchFamily="18" charset="0"/>
                          <a:cs typeface="Times" panose="02020603050405020304" pitchFamily="18" charset="0"/>
                        </a:rPr>
                        <a:t>4.6892</a:t>
                      </a:r>
                      <a:endParaRPr lang="en-US" sz="1000" kern="100" dirty="0">
                        <a:solidFill>
                          <a:srgbClr val="7030A0"/>
                        </a:solidFill>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000" kern="100" dirty="0">
                          <a:solidFill>
                            <a:srgbClr val="7030A0"/>
                          </a:solidFill>
                          <a:effectLst/>
                          <a:latin typeface="Times" panose="02020603050405020304" pitchFamily="18" charset="0"/>
                          <a:cs typeface="Times" panose="02020603050405020304" pitchFamily="18" charset="0"/>
                        </a:rPr>
                        <a:t>3.6849</a:t>
                      </a:r>
                      <a:endParaRPr lang="en-US" sz="1000" kern="100" dirty="0">
                        <a:solidFill>
                          <a:srgbClr val="7030A0"/>
                        </a:solidFill>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1601844559"/>
                  </a:ext>
                </a:extLst>
              </a:tr>
              <a:tr h="341842">
                <a:tc vMerge="1">
                  <a:txBody>
                    <a:bodyPr/>
                    <a:lstStyle/>
                    <a:p>
                      <a:endParaRPr lang="en-US"/>
                    </a:p>
                  </a:txBody>
                  <a:tcPr/>
                </a:tc>
                <a:tc>
                  <a:txBody>
                    <a:bodyPr/>
                    <a:lstStyle/>
                    <a:p>
                      <a:pPr marL="0" marR="0" algn="ctr">
                        <a:lnSpc>
                          <a:spcPct val="115000"/>
                        </a:lnSpc>
                        <a:spcAft>
                          <a:spcPts val="800"/>
                        </a:spcAft>
                        <a:buNone/>
                      </a:pPr>
                      <a:r>
                        <a:rPr lang="en-US" sz="1000" kern="100">
                          <a:effectLst/>
                          <a:latin typeface="Times" panose="02020603050405020304" pitchFamily="18" charset="0"/>
                          <a:cs typeface="Times" panose="02020603050405020304" pitchFamily="18" charset="0"/>
                        </a:rPr>
                        <a:t>Mean Fill</a:t>
                      </a:r>
                      <a:endParaRPr lang="en-US" sz="1000" kern="10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000" kern="100">
                          <a:effectLst/>
                          <a:latin typeface="Times" panose="02020603050405020304" pitchFamily="18" charset="0"/>
                          <a:cs typeface="Times" panose="02020603050405020304" pitchFamily="18" charset="0"/>
                        </a:rPr>
                        <a:t>22.5459</a:t>
                      </a:r>
                      <a:endParaRPr lang="en-US" sz="1000" kern="10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000" kern="100" dirty="0">
                          <a:effectLst/>
                          <a:latin typeface="Times" panose="02020603050405020304" pitchFamily="18" charset="0"/>
                          <a:cs typeface="Times" panose="02020603050405020304" pitchFamily="18" charset="0"/>
                        </a:rPr>
                        <a:t>4.7482</a:t>
                      </a:r>
                      <a:endParaRPr lang="en-US" sz="1000" kern="100" dirty="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000" kern="100" dirty="0">
                          <a:effectLst/>
                          <a:latin typeface="Times" panose="02020603050405020304" pitchFamily="18" charset="0"/>
                          <a:cs typeface="Times" panose="02020603050405020304" pitchFamily="18" charset="0"/>
                        </a:rPr>
                        <a:t>3.7094</a:t>
                      </a:r>
                      <a:endParaRPr lang="en-US" sz="1000" kern="100" dirty="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1035410262"/>
                  </a:ext>
                </a:extLst>
              </a:tr>
              <a:tr h="555095">
                <a:tc rowSpan="3">
                  <a:txBody>
                    <a:bodyPr/>
                    <a:lstStyle/>
                    <a:p>
                      <a:pPr marL="0" marR="0" algn="ctr">
                        <a:lnSpc>
                          <a:spcPct val="115000"/>
                        </a:lnSpc>
                        <a:spcAft>
                          <a:spcPts val="800"/>
                        </a:spcAft>
                        <a:buNone/>
                      </a:pPr>
                      <a:r>
                        <a:rPr lang="en-US" sz="1000" b="1" kern="100" dirty="0">
                          <a:effectLst/>
                          <a:latin typeface="Times" panose="02020603050405020304" pitchFamily="18" charset="0"/>
                          <a:cs typeface="Times" panose="02020603050405020304" pitchFamily="18" charset="0"/>
                        </a:rPr>
                        <a:t>Random Forest</a:t>
                      </a:r>
                      <a:endParaRPr lang="en-US" sz="1000" b="1" kern="100" dirty="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solidFill>
                      <a:schemeClr val="accent1">
                        <a:lumMod val="20000"/>
                        <a:lumOff val="80000"/>
                      </a:schemeClr>
                    </a:solidFill>
                  </a:tcPr>
                </a:tc>
                <a:tc>
                  <a:txBody>
                    <a:bodyPr/>
                    <a:lstStyle/>
                    <a:p>
                      <a:pPr marL="0" marR="0" algn="ctr">
                        <a:lnSpc>
                          <a:spcPct val="115000"/>
                        </a:lnSpc>
                        <a:spcAft>
                          <a:spcPts val="800"/>
                        </a:spcAft>
                        <a:buNone/>
                      </a:pPr>
                      <a:r>
                        <a:rPr lang="en-US" sz="1000" kern="100" dirty="0">
                          <a:effectLst/>
                          <a:latin typeface="Times" panose="02020603050405020304" pitchFamily="18" charset="0"/>
                          <a:cs typeface="Times" panose="02020603050405020304" pitchFamily="18" charset="0"/>
                        </a:rPr>
                        <a:t>Remove Missing</a:t>
                      </a:r>
                      <a:endParaRPr lang="en-US" sz="1000" kern="100" dirty="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solidFill>
                      <a:schemeClr val="accent1">
                        <a:lumMod val="20000"/>
                        <a:lumOff val="80000"/>
                      </a:schemeClr>
                    </a:solidFill>
                  </a:tcPr>
                </a:tc>
                <a:tc>
                  <a:txBody>
                    <a:bodyPr/>
                    <a:lstStyle/>
                    <a:p>
                      <a:pPr marL="0" marR="0" algn="ctr">
                        <a:lnSpc>
                          <a:spcPct val="115000"/>
                        </a:lnSpc>
                        <a:spcAft>
                          <a:spcPts val="800"/>
                        </a:spcAft>
                        <a:buNone/>
                      </a:pPr>
                      <a:r>
                        <a:rPr lang="en-US" sz="1000" kern="100" dirty="0">
                          <a:effectLst/>
                          <a:latin typeface="Times" panose="02020603050405020304" pitchFamily="18" charset="0"/>
                          <a:cs typeface="Times" panose="02020603050405020304" pitchFamily="18" charset="0"/>
                        </a:rPr>
                        <a:t>19.5884</a:t>
                      </a:r>
                      <a:endParaRPr lang="en-US" sz="1000" kern="100" dirty="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solidFill>
                      <a:schemeClr val="accent1">
                        <a:lumMod val="20000"/>
                        <a:lumOff val="80000"/>
                      </a:schemeClr>
                    </a:solidFill>
                  </a:tcPr>
                </a:tc>
                <a:tc>
                  <a:txBody>
                    <a:bodyPr/>
                    <a:lstStyle/>
                    <a:p>
                      <a:pPr marL="0" marR="0" algn="ctr">
                        <a:lnSpc>
                          <a:spcPct val="115000"/>
                        </a:lnSpc>
                        <a:spcAft>
                          <a:spcPts val="800"/>
                        </a:spcAft>
                        <a:buNone/>
                      </a:pPr>
                      <a:r>
                        <a:rPr lang="en-US" sz="1000" kern="100" dirty="0">
                          <a:effectLst/>
                          <a:latin typeface="Times" panose="02020603050405020304" pitchFamily="18" charset="0"/>
                          <a:cs typeface="Times" panose="02020603050405020304" pitchFamily="18" charset="0"/>
                        </a:rPr>
                        <a:t>4.4259</a:t>
                      </a:r>
                      <a:endParaRPr lang="en-US" sz="1000" kern="100" dirty="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solidFill>
                      <a:schemeClr val="accent1">
                        <a:lumMod val="20000"/>
                        <a:lumOff val="80000"/>
                      </a:schemeClr>
                    </a:solidFill>
                  </a:tcPr>
                </a:tc>
                <a:tc>
                  <a:txBody>
                    <a:bodyPr/>
                    <a:lstStyle/>
                    <a:p>
                      <a:pPr marL="0" marR="0" algn="ctr">
                        <a:lnSpc>
                          <a:spcPct val="115000"/>
                        </a:lnSpc>
                        <a:spcAft>
                          <a:spcPts val="800"/>
                        </a:spcAft>
                        <a:buNone/>
                      </a:pPr>
                      <a:r>
                        <a:rPr lang="en-US" sz="1000" kern="100" dirty="0">
                          <a:effectLst/>
                          <a:latin typeface="Times" panose="02020603050405020304" pitchFamily="18" charset="0"/>
                          <a:cs typeface="Times" panose="02020603050405020304" pitchFamily="18" charset="0"/>
                        </a:rPr>
                        <a:t>3.4315</a:t>
                      </a:r>
                      <a:endParaRPr lang="en-US" sz="1000" kern="100" dirty="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solidFill>
                      <a:schemeClr val="accent1">
                        <a:lumMod val="20000"/>
                        <a:lumOff val="80000"/>
                      </a:schemeClr>
                    </a:solidFill>
                  </a:tcPr>
                </a:tc>
                <a:extLst>
                  <a:ext uri="{0D108BD9-81ED-4DB2-BD59-A6C34878D82A}">
                    <a16:rowId xmlns:a16="http://schemas.microsoft.com/office/drawing/2014/main" val="249276679"/>
                  </a:ext>
                </a:extLst>
              </a:tr>
              <a:tr h="341842">
                <a:tc vMerge="1">
                  <a:txBody>
                    <a:bodyPr/>
                    <a:lstStyle/>
                    <a:p>
                      <a:pPr algn="ctr">
                        <a:lnSpc>
                          <a:spcPct val="115000"/>
                        </a:lnSpc>
                      </a:pPr>
                      <a:endParaRPr lang="en-US" sz="1000" b="1" kern="100" dirty="0">
                        <a:effectLst/>
                        <a:latin typeface="Times" panose="02020603050405020304" pitchFamily="18" charset="0"/>
                        <a:cs typeface="Times"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000" kern="100" dirty="0">
                          <a:effectLst/>
                          <a:latin typeface="Times" panose="02020603050405020304" pitchFamily="18" charset="0"/>
                          <a:cs typeface="Times" panose="02020603050405020304" pitchFamily="18" charset="0"/>
                        </a:rPr>
                        <a:t>Forward Fill</a:t>
                      </a:r>
                      <a:endParaRPr lang="en-US" sz="1000" kern="100" dirty="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000" kern="100" dirty="0">
                          <a:solidFill>
                            <a:srgbClr val="7030A0"/>
                          </a:solidFill>
                          <a:effectLst/>
                          <a:latin typeface="Times" panose="02020603050405020304" pitchFamily="18" charset="0"/>
                          <a:cs typeface="Times" panose="02020603050405020304" pitchFamily="18" charset="0"/>
                        </a:rPr>
                        <a:t>21.0440</a:t>
                      </a:r>
                      <a:endParaRPr lang="en-US" sz="1000" kern="100" dirty="0">
                        <a:solidFill>
                          <a:srgbClr val="7030A0"/>
                        </a:solidFill>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000" kern="100" dirty="0">
                          <a:solidFill>
                            <a:srgbClr val="7030A0"/>
                          </a:solidFill>
                          <a:effectLst/>
                          <a:latin typeface="Times" panose="02020603050405020304" pitchFamily="18" charset="0"/>
                          <a:cs typeface="Times" panose="02020603050405020304" pitchFamily="18" charset="0"/>
                        </a:rPr>
                        <a:t>4.5874</a:t>
                      </a:r>
                      <a:endParaRPr lang="en-US" sz="1000" kern="100" dirty="0">
                        <a:solidFill>
                          <a:srgbClr val="7030A0"/>
                        </a:solidFill>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000" kern="100" dirty="0">
                          <a:solidFill>
                            <a:srgbClr val="7030A0"/>
                          </a:solidFill>
                          <a:effectLst/>
                          <a:latin typeface="Times" panose="02020603050405020304" pitchFamily="18" charset="0"/>
                          <a:cs typeface="Times" panose="02020603050405020304" pitchFamily="18" charset="0"/>
                        </a:rPr>
                        <a:t>3.6299</a:t>
                      </a:r>
                      <a:endParaRPr lang="en-US" sz="1000" kern="100" dirty="0">
                        <a:solidFill>
                          <a:srgbClr val="7030A0"/>
                        </a:solidFill>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3111229489"/>
                  </a:ext>
                </a:extLst>
              </a:tr>
              <a:tr h="341842">
                <a:tc vMerge="1">
                  <a:txBody>
                    <a:bodyPr/>
                    <a:lstStyle/>
                    <a:p>
                      <a:pPr algn="ctr">
                        <a:lnSpc>
                          <a:spcPct val="115000"/>
                        </a:lnSpc>
                      </a:pPr>
                      <a:endParaRPr lang="en-US" sz="1000" b="1" kern="100" dirty="0">
                        <a:effectLst/>
                        <a:latin typeface="Times" panose="02020603050405020304" pitchFamily="18" charset="0"/>
                        <a:cs typeface="Times"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000" kern="100" dirty="0">
                          <a:effectLst/>
                          <a:latin typeface="Times" panose="02020603050405020304" pitchFamily="18" charset="0"/>
                          <a:cs typeface="Times" panose="02020603050405020304" pitchFamily="18" charset="0"/>
                        </a:rPr>
                        <a:t>Mean Fill</a:t>
                      </a:r>
                      <a:endParaRPr lang="en-US" sz="1000" kern="100" dirty="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000" kern="100" dirty="0">
                          <a:effectLst/>
                          <a:latin typeface="Times" panose="02020603050405020304" pitchFamily="18" charset="0"/>
                          <a:cs typeface="Times" panose="02020603050405020304" pitchFamily="18" charset="0"/>
                        </a:rPr>
                        <a:t>21.4673</a:t>
                      </a:r>
                      <a:endParaRPr lang="en-US" sz="1000" kern="100" dirty="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000" kern="100" dirty="0">
                          <a:effectLst/>
                          <a:latin typeface="Times" panose="02020603050405020304" pitchFamily="18" charset="0"/>
                          <a:cs typeface="Times" panose="02020603050405020304" pitchFamily="18" charset="0"/>
                        </a:rPr>
                        <a:t>4.6333</a:t>
                      </a:r>
                      <a:endParaRPr lang="en-US" sz="1000" kern="100" dirty="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000" kern="100" dirty="0">
                          <a:effectLst/>
                          <a:latin typeface="Times" panose="02020603050405020304" pitchFamily="18" charset="0"/>
                          <a:cs typeface="Times" panose="02020603050405020304" pitchFamily="18" charset="0"/>
                        </a:rPr>
                        <a:t>3.6484</a:t>
                      </a:r>
                      <a:endParaRPr lang="en-US" sz="1000" kern="100" dirty="0">
                        <a:effectLst/>
                        <a:latin typeface="Times" panose="02020603050405020304" pitchFamily="18" charset="0"/>
                        <a:ea typeface="Aptos" panose="020B0004020202020204" pitchFamily="34" charset="0"/>
                        <a:cs typeface="Times" panose="02020603050405020304" pitchFamily="18" charset="0"/>
                      </a:endParaRPr>
                    </a:p>
                  </a:txBody>
                  <a:tcPr marL="9525" marR="9525" marT="9525" marB="9525" anchor="ctr"/>
                </a:tc>
                <a:extLst>
                  <a:ext uri="{0D108BD9-81ED-4DB2-BD59-A6C34878D82A}">
                    <a16:rowId xmlns:a16="http://schemas.microsoft.com/office/drawing/2014/main" val="3253959347"/>
                  </a:ext>
                </a:extLst>
              </a:tr>
            </a:tbl>
          </a:graphicData>
        </a:graphic>
      </p:graphicFrame>
      <p:sp>
        <p:nvSpPr>
          <p:cNvPr id="7" name="TextBox 6">
            <a:extLst>
              <a:ext uri="{FF2B5EF4-FFF2-40B4-BE49-F238E27FC236}">
                <a16:creationId xmlns:a16="http://schemas.microsoft.com/office/drawing/2014/main" id="{0BA4301B-3BF3-CE8E-C2B7-D2AFD11CE5A0}"/>
              </a:ext>
            </a:extLst>
          </p:cNvPr>
          <p:cNvSpPr txBox="1"/>
          <p:nvPr/>
        </p:nvSpPr>
        <p:spPr>
          <a:xfrm>
            <a:off x="4419600" y="1863626"/>
            <a:ext cx="4191000" cy="2308324"/>
          </a:xfrm>
          <a:prstGeom prst="rect">
            <a:avLst/>
          </a:prstGeom>
          <a:noFill/>
        </p:spPr>
        <p:txBody>
          <a:bodyPr wrap="square">
            <a:spAutoFit/>
          </a:bodyPr>
          <a:lstStyle/>
          <a:p>
            <a:pPr marL="171450" indent="-171450" algn="just">
              <a:buFont typeface="Arial" panose="020B0604020202020204" pitchFamily="34" charset="0"/>
              <a:buChar char="•"/>
            </a:pPr>
            <a:r>
              <a:rPr lang="en-US" sz="1200" dirty="0">
                <a:latin typeface="Times" panose="02020603050405020304" pitchFamily="18" charset="0"/>
                <a:cs typeface="Times" panose="02020603050405020304" pitchFamily="18" charset="0"/>
              </a:rPr>
              <a:t>Random Forest </a:t>
            </a:r>
            <a:r>
              <a:rPr lang="en-US" sz="1200" b="1" dirty="0">
                <a:latin typeface="Times" panose="02020603050405020304" pitchFamily="18" charset="0"/>
                <a:cs typeface="Times" panose="02020603050405020304" pitchFamily="18" charset="0"/>
              </a:rPr>
              <a:t>outperforms</a:t>
            </a:r>
            <a:r>
              <a:rPr lang="en-US" sz="1200" dirty="0">
                <a:latin typeface="Times" panose="02020603050405020304" pitchFamily="18" charset="0"/>
                <a:cs typeface="Times" panose="02020603050405020304" pitchFamily="18" charset="0"/>
              </a:rPr>
              <a:t> KNN in all evaluation metrics.</a:t>
            </a:r>
          </a:p>
          <a:p>
            <a:pPr marL="171450" indent="-171450" algn="just">
              <a:buFont typeface="Arial" panose="020B0604020202020204" pitchFamily="34" charset="0"/>
              <a:buChar char="•"/>
            </a:pPr>
            <a:r>
              <a:rPr lang="en-US" sz="1200" b="1" dirty="0">
                <a:latin typeface="Times" panose="02020603050405020304" pitchFamily="18" charset="0"/>
                <a:cs typeface="Times" panose="02020603050405020304" pitchFamily="18" charset="0"/>
              </a:rPr>
              <a:t>Remove Missing method</a:t>
            </a:r>
            <a:r>
              <a:rPr lang="en-US" sz="1200" dirty="0">
                <a:latin typeface="Times" panose="02020603050405020304" pitchFamily="18" charset="0"/>
                <a:cs typeface="Times" panose="02020603050405020304" pitchFamily="18" charset="0"/>
              </a:rPr>
              <a:t> consistently delivers the lowest error for both models.</a:t>
            </a:r>
          </a:p>
          <a:p>
            <a:pPr marL="171450" indent="-171450" algn="just">
              <a:buFont typeface="Arial" panose="020B0604020202020204" pitchFamily="34" charset="0"/>
              <a:buChar char="•"/>
            </a:pPr>
            <a:r>
              <a:rPr lang="en-US" sz="1200" b="1" dirty="0">
                <a:latin typeface="Times" panose="02020603050405020304" pitchFamily="18" charset="0"/>
                <a:cs typeface="Times" panose="02020603050405020304" pitchFamily="18" charset="0"/>
              </a:rPr>
              <a:t>Random Forest</a:t>
            </a:r>
            <a:r>
              <a:rPr lang="en-US" sz="1200" dirty="0">
                <a:latin typeface="Times" panose="02020603050405020304" pitchFamily="18" charset="0"/>
                <a:cs typeface="Times" panose="02020603050405020304" pitchFamily="18" charset="0"/>
              </a:rPr>
              <a:t>: </a:t>
            </a:r>
            <a:r>
              <a:rPr lang="en-US" sz="1200" b="1" dirty="0">
                <a:latin typeface="Times" panose="02020603050405020304" pitchFamily="18" charset="0"/>
                <a:cs typeface="Times" panose="02020603050405020304" pitchFamily="18" charset="0"/>
              </a:rPr>
              <a:t>Best MSE: </a:t>
            </a:r>
            <a:r>
              <a:rPr lang="en-US" sz="1200" dirty="0">
                <a:latin typeface="Times" panose="02020603050405020304" pitchFamily="18" charset="0"/>
                <a:cs typeface="Times" panose="02020603050405020304" pitchFamily="18" charset="0"/>
              </a:rPr>
              <a:t>19.5884, </a:t>
            </a:r>
            <a:r>
              <a:rPr lang="en-US" sz="1200" b="1" dirty="0">
                <a:latin typeface="Times" panose="02020603050405020304" pitchFamily="18" charset="0"/>
                <a:cs typeface="Times" panose="02020603050405020304" pitchFamily="18" charset="0"/>
              </a:rPr>
              <a:t>Best RMSE: </a:t>
            </a:r>
            <a:r>
              <a:rPr lang="en-US" sz="1200" dirty="0">
                <a:latin typeface="Times" panose="02020603050405020304" pitchFamily="18" charset="0"/>
                <a:cs typeface="Times" panose="02020603050405020304" pitchFamily="18" charset="0"/>
              </a:rPr>
              <a:t>4.4259, </a:t>
            </a:r>
            <a:r>
              <a:rPr lang="en-US" sz="1200" b="1" dirty="0">
                <a:latin typeface="Times" panose="02020603050405020304" pitchFamily="18" charset="0"/>
                <a:cs typeface="Times" panose="02020603050405020304" pitchFamily="18" charset="0"/>
              </a:rPr>
              <a:t>Best MAE: </a:t>
            </a:r>
            <a:r>
              <a:rPr lang="en-US" sz="1200" dirty="0">
                <a:latin typeface="Times" panose="02020603050405020304" pitchFamily="18" charset="0"/>
                <a:cs typeface="Times" panose="02020603050405020304" pitchFamily="18" charset="0"/>
              </a:rPr>
              <a:t>3.4315</a:t>
            </a:r>
          </a:p>
          <a:p>
            <a:pPr marL="171450" indent="-171450" algn="just">
              <a:buFont typeface="Arial" panose="020B0604020202020204" pitchFamily="34" charset="0"/>
              <a:buChar char="•"/>
            </a:pPr>
            <a:r>
              <a:rPr lang="en-US" sz="1200" b="1" dirty="0">
                <a:latin typeface="Times" panose="02020603050405020304" pitchFamily="18" charset="0"/>
                <a:cs typeface="Times" panose="02020603050405020304" pitchFamily="18" charset="0"/>
              </a:rPr>
              <a:t>KNN's performance </a:t>
            </a:r>
            <a:r>
              <a:rPr lang="en-US" sz="1200" dirty="0">
                <a:latin typeface="Times" panose="02020603050405020304" pitchFamily="18" charset="0"/>
                <a:cs typeface="Times" panose="02020603050405020304" pitchFamily="18" charset="0"/>
              </a:rPr>
              <a:t>is less stable, slightly worse across all imputation methods.</a:t>
            </a:r>
          </a:p>
          <a:p>
            <a:pPr marL="171450" indent="-171450" algn="just">
              <a:buFont typeface="Arial" panose="020B0604020202020204" pitchFamily="34" charset="0"/>
              <a:buChar char="•"/>
            </a:pPr>
            <a:r>
              <a:rPr lang="en-US" sz="1200" b="1" dirty="0">
                <a:latin typeface="Times" panose="02020603050405020304" pitchFamily="18" charset="0"/>
                <a:cs typeface="Times" panose="02020603050405020304" pitchFamily="18" charset="0"/>
              </a:rPr>
              <a:t>Forward Fill &gt; Mean Fill </a:t>
            </a:r>
            <a:r>
              <a:rPr lang="en-US" sz="1200" dirty="0">
                <a:latin typeface="Times" panose="02020603050405020304" pitchFamily="18" charset="0"/>
                <a:cs typeface="Times" panose="02020603050405020304" pitchFamily="18" charset="0"/>
              </a:rPr>
              <a:t>for both models across all metrics.</a:t>
            </a:r>
          </a:p>
          <a:p>
            <a:pPr marL="171450" indent="-171450" algn="just">
              <a:buFont typeface="Arial" panose="020B0604020202020204" pitchFamily="34" charset="0"/>
              <a:buChar char="•"/>
            </a:pPr>
            <a:r>
              <a:rPr lang="en-US" sz="1200" dirty="0">
                <a:latin typeface="Times" panose="02020603050405020304" pitchFamily="18" charset="0"/>
                <a:cs typeface="Times" panose="02020603050405020304" pitchFamily="18" charset="0"/>
              </a:rPr>
              <a:t>KNN has higher error and more sensitivity to missing data handling.</a:t>
            </a:r>
          </a:p>
          <a:p>
            <a:pPr marL="171450" indent="-171450" algn="just">
              <a:buFont typeface="Arial" panose="020B0604020202020204" pitchFamily="34" charset="0"/>
              <a:buChar char="•"/>
            </a:pPr>
            <a:r>
              <a:rPr lang="en-US" sz="1200" b="1" dirty="0">
                <a:latin typeface="Times" panose="02020603050405020304" pitchFamily="18" charset="0"/>
                <a:cs typeface="Times" panose="02020603050405020304" pitchFamily="18" charset="0"/>
              </a:rPr>
              <a:t>Random Forest with Remove Missing </a:t>
            </a:r>
            <a:r>
              <a:rPr lang="en-US" sz="1200" dirty="0">
                <a:latin typeface="Times" panose="02020603050405020304" pitchFamily="18" charset="0"/>
                <a:cs typeface="Times" panose="02020603050405020304" pitchFamily="18" charset="0"/>
              </a:rPr>
              <a:t>is the best performing setup in this study.</a:t>
            </a:r>
          </a:p>
        </p:txBody>
      </p:sp>
      <p:pic>
        <p:nvPicPr>
          <p:cNvPr id="9" name="Picture 7" descr="Wind Turbine Efficiency: How Has It Improved Over Time? - Lumify Energy">
            <a:extLst>
              <a:ext uri="{FF2B5EF4-FFF2-40B4-BE49-F238E27FC236}">
                <a16:creationId xmlns:a16="http://schemas.microsoft.com/office/drawing/2014/main" id="{346AD978-D999-73AA-18EA-284278B826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54354" y="502992"/>
            <a:ext cx="1252254" cy="8339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4677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D17655D-6CA6-6461-9169-94A36590202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11</a:t>
            </a:fld>
            <a:endParaRPr lang="en"/>
          </a:p>
        </p:txBody>
      </p:sp>
      <p:sp>
        <p:nvSpPr>
          <p:cNvPr id="4" name="Title 3">
            <a:extLst>
              <a:ext uri="{FF2B5EF4-FFF2-40B4-BE49-F238E27FC236}">
                <a16:creationId xmlns:a16="http://schemas.microsoft.com/office/drawing/2014/main" id="{B0C02D9A-3C03-6D38-B7B2-9062B2C4C935}"/>
              </a:ext>
            </a:extLst>
          </p:cNvPr>
          <p:cNvSpPr>
            <a:spLocks noGrp="1"/>
          </p:cNvSpPr>
          <p:nvPr>
            <p:ph type="title"/>
          </p:nvPr>
        </p:nvSpPr>
        <p:spPr/>
        <p:txBody>
          <a:bodyPr/>
          <a:lstStyle/>
          <a:p>
            <a:pPr algn="ctr"/>
            <a:r>
              <a:rPr lang="en-US" sz="1400" b="1" dirty="0">
                <a:latin typeface="Times" panose="02020603050405020304" pitchFamily="18" charset="0"/>
                <a:cs typeface="Times" panose="02020603050405020304" pitchFamily="18" charset="0"/>
              </a:rPr>
              <a:t>KNN </a:t>
            </a:r>
            <a:r>
              <a:rPr lang="en-US" sz="1400" dirty="0">
                <a:latin typeface="Times" panose="02020603050405020304" pitchFamily="18" charset="0"/>
                <a:cs typeface="Times" panose="02020603050405020304" pitchFamily="18" charset="0"/>
              </a:rPr>
              <a:t>&amp; </a:t>
            </a:r>
            <a:r>
              <a:rPr lang="en-US" sz="1400" b="1" dirty="0">
                <a:latin typeface="Times" panose="02020603050405020304" pitchFamily="18" charset="0"/>
                <a:cs typeface="Times" panose="02020603050405020304" pitchFamily="18" charset="0"/>
              </a:rPr>
              <a:t>RANDOM FOREST REGRESSION </a:t>
            </a:r>
            <a:br>
              <a:rPr lang="en-US" sz="1400" b="1" dirty="0">
                <a:latin typeface="Times" panose="02020603050405020304" pitchFamily="18" charset="0"/>
                <a:cs typeface="Times" panose="02020603050405020304" pitchFamily="18" charset="0"/>
              </a:rPr>
            </a:br>
            <a:r>
              <a:rPr lang="en-US" sz="1400" b="1" dirty="0">
                <a:latin typeface="Times" panose="02020603050405020304" pitchFamily="18" charset="0"/>
                <a:cs typeface="Times" panose="02020603050405020304" pitchFamily="18" charset="0"/>
              </a:rPr>
              <a:t>GRAPHICAL REPRESENTATION AND RESULTS</a:t>
            </a:r>
            <a:endParaRPr lang="en-US" sz="1400" dirty="0"/>
          </a:p>
        </p:txBody>
      </p:sp>
      <p:pic>
        <p:nvPicPr>
          <p:cNvPr id="6" name="Picture 5">
            <a:extLst>
              <a:ext uri="{FF2B5EF4-FFF2-40B4-BE49-F238E27FC236}">
                <a16:creationId xmlns:a16="http://schemas.microsoft.com/office/drawing/2014/main" id="{7A11AC1E-FBE7-1FEF-836A-8FE57E7E74B5}"/>
              </a:ext>
            </a:extLst>
          </p:cNvPr>
          <p:cNvPicPr>
            <a:picLocks noChangeAspect="1"/>
          </p:cNvPicPr>
          <p:nvPr/>
        </p:nvPicPr>
        <p:blipFill>
          <a:blip r:embed="rId2"/>
          <a:stretch>
            <a:fillRect/>
          </a:stretch>
        </p:blipFill>
        <p:spPr>
          <a:xfrm>
            <a:off x="4267200" y="1682881"/>
            <a:ext cx="3124200" cy="1660398"/>
          </a:xfrm>
          <a:prstGeom prst="rect">
            <a:avLst/>
          </a:prstGeom>
        </p:spPr>
      </p:pic>
      <p:pic>
        <p:nvPicPr>
          <p:cNvPr id="8" name="Picture 7">
            <a:extLst>
              <a:ext uri="{FF2B5EF4-FFF2-40B4-BE49-F238E27FC236}">
                <a16:creationId xmlns:a16="http://schemas.microsoft.com/office/drawing/2014/main" id="{98DDB580-D9F8-3BB5-4787-59FE630E9179}"/>
              </a:ext>
            </a:extLst>
          </p:cNvPr>
          <p:cNvPicPr>
            <a:picLocks noChangeAspect="1"/>
          </p:cNvPicPr>
          <p:nvPr/>
        </p:nvPicPr>
        <p:blipFill>
          <a:blip r:embed="rId3"/>
          <a:stretch>
            <a:fillRect/>
          </a:stretch>
        </p:blipFill>
        <p:spPr>
          <a:xfrm>
            <a:off x="926697" y="1690301"/>
            <a:ext cx="2971625" cy="1627075"/>
          </a:xfrm>
          <a:prstGeom prst="rect">
            <a:avLst/>
          </a:prstGeom>
        </p:spPr>
      </p:pic>
      <p:pic>
        <p:nvPicPr>
          <p:cNvPr id="10" name="Picture 9">
            <a:extLst>
              <a:ext uri="{FF2B5EF4-FFF2-40B4-BE49-F238E27FC236}">
                <a16:creationId xmlns:a16="http://schemas.microsoft.com/office/drawing/2014/main" id="{25EE674A-C69B-D981-7683-EEC829411ED8}"/>
              </a:ext>
            </a:extLst>
          </p:cNvPr>
          <p:cNvPicPr>
            <a:picLocks noChangeAspect="1"/>
          </p:cNvPicPr>
          <p:nvPr/>
        </p:nvPicPr>
        <p:blipFill>
          <a:blip r:embed="rId4"/>
          <a:stretch>
            <a:fillRect/>
          </a:stretch>
        </p:blipFill>
        <p:spPr>
          <a:xfrm>
            <a:off x="1524000" y="3430048"/>
            <a:ext cx="1752600" cy="1379418"/>
          </a:xfrm>
          <a:prstGeom prst="rect">
            <a:avLst/>
          </a:prstGeom>
        </p:spPr>
      </p:pic>
      <p:pic>
        <p:nvPicPr>
          <p:cNvPr id="12" name="Picture 11">
            <a:extLst>
              <a:ext uri="{FF2B5EF4-FFF2-40B4-BE49-F238E27FC236}">
                <a16:creationId xmlns:a16="http://schemas.microsoft.com/office/drawing/2014/main" id="{9436B7C8-488C-E853-909D-2FC12C137952}"/>
              </a:ext>
            </a:extLst>
          </p:cNvPr>
          <p:cNvPicPr>
            <a:picLocks noChangeAspect="1"/>
          </p:cNvPicPr>
          <p:nvPr/>
        </p:nvPicPr>
        <p:blipFill>
          <a:blip r:embed="rId5"/>
          <a:stretch>
            <a:fillRect/>
          </a:stretch>
        </p:blipFill>
        <p:spPr>
          <a:xfrm>
            <a:off x="5029200" y="3403234"/>
            <a:ext cx="1752600" cy="1370202"/>
          </a:xfrm>
          <a:prstGeom prst="rect">
            <a:avLst/>
          </a:prstGeom>
        </p:spPr>
      </p:pic>
      <p:sp>
        <p:nvSpPr>
          <p:cNvPr id="14" name="TextBox 13">
            <a:extLst>
              <a:ext uri="{FF2B5EF4-FFF2-40B4-BE49-F238E27FC236}">
                <a16:creationId xmlns:a16="http://schemas.microsoft.com/office/drawing/2014/main" id="{90400C83-EAB9-DDA4-9C94-9C86CBA80D31}"/>
              </a:ext>
            </a:extLst>
          </p:cNvPr>
          <p:cNvSpPr txBox="1"/>
          <p:nvPr/>
        </p:nvSpPr>
        <p:spPr>
          <a:xfrm>
            <a:off x="926697" y="1331178"/>
            <a:ext cx="7226703" cy="246221"/>
          </a:xfrm>
          <a:prstGeom prst="rect">
            <a:avLst/>
          </a:prstGeom>
          <a:noFill/>
        </p:spPr>
        <p:txBody>
          <a:bodyPr wrap="square">
            <a:spAutoFit/>
          </a:bodyPr>
          <a:lstStyle/>
          <a:p>
            <a:r>
              <a:rPr lang="en-US" sz="1000" dirty="0">
                <a:latin typeface="Times" panose="02020603050405020304" pitchFamily="18" charset="0"/>
                <a:cs typeface="Times" panose="02020603050405020304" pitchFamily="18" charset="0"/>
              </a:rPr>
              <a:t>"</a:t>
            </a:r>
            <a:r>
              <a:rPr lang="en-US" sz="1000" b="1" dirty="0">
                <a:latin typeface="Times" panose="02020603050405020304" pitchFamily="18" charset="0"/>
                <a:cs typeface="Times" panose="02020603050405020304" pitchFamily="18" charset="0"/>
              </a:rPr>
              <a:t>Random Forest </a:t>
            </a:r>
            <a:r>
              <a:rPr lang="en-US" sz="1000" dirty="0">
                <a:latin typeface="Times" panose="02020603050405020304" pitchFamily="18" charset="0"/>
                <a:cs typeface="Times" panose="02020603050405020304" pitchFamily="18" charset="0"/>
              </a:rPr>
              <a:t>outperforms KNN overall; more features combined with proper data cleaning significantly </a:t>
            </a:r>
            <a:r>
              <a:rPr lang="en-US" sz="1000" b="1" dirty="0">
                <a:latin typeface="Times" panose="02020603050405020304" pitchFamily="18" charset="0"/>
                <a:cs typeface="Times" panose="02020603050405020304" pitchFamily="18" charset="0"/>
              </a:rPr>
              <a:t>improve model accuracy</a:t>
            </a:r>
            <a:r>
              <a:rPr lang="en-US" sz="1000" dirty="0">
                <a:latin typeface="Times" panose="02020603050405020304" pitchFamily="18" charset="0"/>
                <a:cs typeface="Times" panose="02020603050405020304" pitchFamily="18" charset="0"/>
              </a:rPr>
              <a:t>."</a:t>
            </a:r>
          </a:p>
        </p:txBody>
      </p:sp>
      <p:pic>
        <p:nvPicPr>
          <p:cNvPr id="15" name="Picture 7" descr="Wind Turbine Efficiency: How Has It Improved Over Time? - Lumify Energy">
            <a:extLst>
              <a:ext uri="{FF2B5EF4-FFF2-40B4-BE49-F238E27FC236}">
                <a16:creationId xmlns:a16="http://schemas.microsoft.com/office/drawing/2014/main" id="{D1A906B6-B3DB-13F4-EC89-9DC056BF29C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54354" y="502992"/>
            <a:ext cx="1252254" cy="8339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03972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3D6873D-8559-ADFB-E696-4C9ABA1E276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12</a:t>
            </a:fld>
            <a:endParaRPr lang="en"/>
          </a:p>
        </p:txBody>
      </p:sp>
      <p:sp>
        <p:nvSpPr>
          <p:cNvPr id="4" name="Title 3">
            <a:extLst>
              <a:ext uri="{FF2B5EF4-FFF2-40B4-BE49-F238E27FC236}">
                <a16:creationId xmlns:a16="http://schemas.microsoft.com/office/drawing/2014/main" id="{FE77A0A3-FAC8-91E8-CA1E-339BC5DFB8A4}"/>
              </a:ext>
            </a:extLst>
          </p:cNvPr>
          <p:cNvSpPr>
            <a:spLocks noGrp="1"/>
          </p:cNvSpPr>
          <p:nvPr>
            <p:ph type="title"/>
          </p:nvPr>
        </p:nvSpPr>
        <p:spPr>
          <a:xfrm>
            <a:off x="914400" y="485048"/>
            <a:ext cx="6026700" cy="813000"/>
          </a:xfrm>
        </p:spPr>
        <p:txBody>
          <a:bodyPr/>
          <a:lstStyle/>
          <a:p>
            <a:pPr algn="ctr"/>
            <a:r>
              <a:rPr lang="en-US" sz="1400" dirty="0">
                <a:latin typeface="Times" panose="02020603050405020304" pitchFamily="18" charset="0"/>
                <a:cs typeface="Times" panose="02020603050405020304" pitchFamily="18" charset="0"/>
              </a:rPr>
              <a:t>ACTUAL VS PREDICTED (TEST DATA PREDICTIONS)</a:t>
            </a:r>
            <a:br>
              <a:rPr lang="en-US" sz="1400" dirty="0">
                <a:latin typeface="Times" panose="02020603050405020304" pitchFamily="18" charset="0"/>
                <a:cs typeface="Times" panose="02020603050405020304" pitchFamily="18" charset="0"/>
              </a:rPr>
            </a:br>
            <a:r>
              <a:rPr lang="en-US" sz="1400" dirty="0">
                <a:latin typeface="Times" panose="02020603050405020304" pitchFamily="18" charset="0"/>
                <a:cs typeface="Times" panose="02020603050405020304" pitchFamily="18" charset="0"/>
              </a:rPr>
              <a:t>MODEL-TO-MODEL COMPARISON</a:t>
            </a:r>
          </a:p>
        </p:txBody>
      </p:sp>
      <p:pic>
        <p:nvPicPr>
          <p:cNvPr id="8" name="Picture 7">
            <a:extLst>
              <a:ext uri="{FF2B5EF4-FFF2-40B4-BE49-F238E27FC236}">
                <a16:creationId xmlns:a16="http://schemas.microsoft.com/office/drawing/2014/main" id="{788C1B9A-AD91-AC23-7774-8FB7A486ADBA}"/>
              </a:ext>
            </a:extLst>
          </p:cNvPr>
          <p:cNvPicPr>
            <a:picLocks noChangeAspect="1"/>
          </p:cNvPicPr>
          <p:nvPr/>
        </p:nvPicPr>
        <p:blipFill>
          <a:blip r:embed="rId2"/>
          <a:stretch>
            <a:fillRect/>
          </a:stretch>
        </p:blipFill>
        <p:spPr>
          <a:xfrm>
            <a:off x="524709" y="2511326"/>
            <a:ext cx="3962400" cy="1095748"/>
          </a:xfrm>
          <a:prstGeom prst="rect">
            <a:avLst/>
          </a:prstGeom>
        </p:spPr>
      </p:pic>
      <p:pic>
        <p:nvPicPr>
          <p:cNvPr id="10" name="Picture 9">
            <a:extLst>
              <a:ext uri="{FF2B5EF4-FFF2-40B4-BE49-F238E27FC236}">
                <a16:creationId xmlns:a16="http://schemas.microsoft.com/office/drawing/2014/main" id="{3AA35141-3A83-EA62-2BB9-CBE022370368}"/>
              </a:ext>
            </a:extLst>
          </p:cNvPr>
          <p:cNvPicPr>
            <a:picLocks noChangeAspect="1"/>
          </p:cNvPicPr>
          <p:nvPr/>
        </p:nvPicPr>
        <p:blipFill>
          <a:blip r:embed="rId3"/>
          <a:stretch>
            <a:fillRect/>
          </a:stretch>
        </p:blipFill>
        <p:spPr>
          <a:xfrm>
            <a:off x="510924" y="3686080"/>
            <a:ext cx="3962400" cy="1095748"/>
          </a:xfrm>
          <a:prstGeom prst="rect">
            <a:avLst/>
          </a:prstGeom>
        </p:spPr>
      </p:pic>
      <p:pic>
        <p:nvPicPr>
          <p:cNvPr id="12" name="Picture 11">
            <a:extLst>
              <a:ext uri="{FF2B5EF4-FFF2-40B4-BE49-F238E27FC236}">
                <a16:creationId xmlns:a16="http://schemas.microsoft.com/office/drawing/2014/main" id="{E72AB95D-7073-D06C-9D0E-113DFB4A9DBD}"/>
              </a:ext>
            </a:extLst>
          </p:cNvPr>
          <p:cNvPicPr>
            <a:picLocks noChangeAspect="1"/>
          </p:cNvPicPr>
          <p:nvPr/>
        </p:nvPicPr>
        <p:blipFill>
          <a:blip r:embed="rId4"/>
          <a:stretch>
            <a:fillRect/>
          </a:stretch>
        </p:blipFill>
        <p:spPr>
          <a:xfrm>
            <a:off x="4496897" y="1298048"/>
            <a:ext cx="3962400" cy="1125960"/>
          </a:xfrm>
          <a:prstGeom prst="rect">
            <a:avLst/>
          </a:prstGeom>
        </p:spPr>
      </p:pic>
      <p:pic>
        <p:nvPicPr>
          <p:cNvPr id="14" name="Picture 13">
            <a:extLst>
              <a:ext uri="{FF2B5EF4-FFF2-40B4-BE49-F238E27FC236}">
                <a16:creationId xmlns:a16="http://schemas.microsoft.com/office/drawing/2014/main" id="{8B91304B-A389-FDC0-C4CF-25A2502CF81A}"/>
              </a:ext>
            </a:extLst>
          </p:cNvPr>
          <p:cNvPicPr>
            <a:picLocks noChangeAspect="1"/>
          </p:cNvPicPr>
          <p:nvPr/>
        </p:nvPicPr>
        <p:blipFill>
          <a:blip r:embed="rId5"/>
          <a:stretch>
            <a:fillRect/>
          </a:stretch>
        </p:blipFill>
        <p:spPr>
          <a:xfrm>
            <a:off x="4572000" y="3686080"/>
            <a:ext cx="3962400" cy="1095749"/>
          </a:xfrm>
          <a:prstGeom prst="rect">
            <a:avLst/>
          </a:prstGeom>
        </p:spPr>
      </p:pic>
      <p:pic>
        <p:nvPicPr>
          <p:cNvPr id="16" name="Picture 15">
            <a:extLst>
              <a:ext uri="{FF2B5EF4-FFF2-40B4-BE49-F238E27FC236}">
                <a16:creationId xmlns:a16="http://schemas.microsoft.com/office/drawing/2014/main" id="{E8763799-08C6-991A-1DD2-7854562D19AF}"/>
              </a:ext>
            </a:extLst>
          </p:cNvPr>
          <p:cNvPicPr>
            <a:picLocks noChangeAspect="1"/>
          </p:cNvPicPr>
          <p:nvPr/>
        </p:nvPicPr>
        <p:blipFill>
          <a:blip r:embed="rId6"/>
          <a:stretch>
            <a:fillRect/>
          </a:stretch>
        </p:blipFill>
        <p:spPr>
          <a:xfrm>
            <a:off x="4572000" y="2511326"/>
            <a:ext cx="3962400" cy="1125960"/>
          </a:xfrm>
          <a:prstGeom prst="rect">
            <a:avLst/>
          </a:prstGeom>
        </p:spPr>
      </p:pic>
      <p:pic>
        <p:nvPicPr>
          <p:cNvPr id="18" name="Picture 17">
            <a:extLst>
              <a:ext uri="{FF2B5EF4-FFF2-40B4-BE49-F238E27FC236}">
                <a16:creationId xmlns:a16="http://schemas.microsoft.com/office/drawing/2014/main" id="{8A7577F5-235E-D6A0-435F-27AC5A5B91D0}"/>
              </a:ext>
            </a:extLst>
          </p:cNvPr>
          <p:cNvPicPr>
            <a:picLocks noChangeAspect="1"/>
          </p:cNvPicPr>
          <p:nvPr/>
        </p:nvPicPr>
        <p:blipFill>
          <a:blip r:embed="rId7"/>
          <a:stretch>
            <a:fillRect/>
          </a:stretch>
        </p:blipFill>
        <p:spPr>
          <a:xfrm>
            <a:off x="457200" y="1504950"/>
            <a:ext cx="4029909" cy="919058"/>
          </a:xfrm>
          <a:prstGeom prst="rect">
            <a:avLst/>
          </a:prstGeom>
        </p:spPr>
      </p:pic>
      <p:pic>
        <p:nvPicPr>
          <p:cNvPr id="19" name="Picture 7" descr="Wind Turbine Efficiency: How Has It Improved Over Time? - Lumify Energy">
            <a:extLst>
              <a:ext uri="{FF2B5EF4-FFF2-40B4-BE49-F238E27FC236}">
                <a16:creationId xmlns:a16="http://schemas.microsoft.com/office/drawing/2014/main" id="{45E86E64-7990-4EFB-7663-8E3D8C21254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54354" y="502992"/>
            <a:ext cx="1252254" cy="8339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40286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98831E2-3A34-27B4-C66E-ECBFD6A6952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13</a:t>
            </a:fld>
            <a:endParaRPr lang="en"/>
          </a:p>
        </p:txBody>
      </p:sp>
      <p:sp>
        <p:nvSpPr>
          <p:cNvPr id="4" name="Title 3">
            <a:extLst>
              <a:ext uri="{FF2B5EF4-FFF2-40B4-BE49-F238E27FC236}">
                <a16:creationId xmlns:a16="http://schemas.microsoft.com/office/drawing/2014/main" id="{0319DC6B-D686-812D-9D3C-4C8E2B7F19AA}"/>
              </a:ext>
            </a:extLst>
          </p:cNvPr>
          <p:cNvSpPr>
            <a:spLocks noGrp="1"/>
          </p:cNvSpPr>
          <p:nvPr>
            <p:ph type="title"/>
          </p:nvPr>
        </p:nvSpPr>
        <p:spPr/>
        <p:txBody>
          <a:bodyPr/>
          <a:lstStyle/>
          <a:p>
            <a:pPr algn="ctr"/>
            <a:r>
              <a:rPr lang="en-US" sz="1400" dirty="0">
                <a:latin typeface="Times" panose="02020603050405020304" pitchFamily="18" charset="0"/>
                <a:cs typeface="Times" panose="02020603050405020304" pitchFamily="18" charset="0"/>
              </a:rPr>
              <a:t>LSTM(BEST MODEL)</a:t>
            </a:r>
          </a:p>
        </p:txBody>
      </p:sp>
      <p:pic>
        <p:nvPicPr>
          <p:cNvPr id="6" name="Picture 5">
            <a:extLst>
              <a:ext uri="{FF2B5EF4-FFF2-40B4-BE49-F238E27FC236}">
                <a16:creationId xmlns:a16="http://schemas.microsoft.com/office/drawing/2014/main" id="{B7076CA4-5918-3B77-0F4B-1127CD23D9BF}"/>
              </a:ext>
            </a:extLst>
          </p:cNvPr>
          <p:cNvPicPr>
            <a:picLocks noChangeAspect="1"/>
          </p:cNvPicPr>
          <p:nvPr/>
        </p:nvPicPr>
        <p:blipFill>
          <a:blip r:embed="rId2"/>
          <a:stretch>
            <a:fillRect/>
          </a:stretch>
        </p:blipFill>
        <p:spPr>
          <a:xfrm>
            <a:off x="5746388" y="1560558"/>
            <a:ext cx="1600200" cy="1022787"/>
          </a:xfrm>
          <a:prstGeom prst="rect">
            <a:avLst/>
          </a:prstGeom>
        </p:spPr>
      </p:pic>
      <p:pic>
        <p:nvPicPr>
          <p:cNvPr id="8" name="Picture 7">
            <a:extLst>
              <a:ext uri="{FF2B5EF4-FFF2-40B4-BE49-F238E27FC236}">
                <a16:creationId xmlns:a16="http://schemas.microsoft.com/office/drawing/2014/main" id="{CE9B3DE9-8440-116D-3F0D-EE076D01C360}"/>
              </a:ext>
            </a:extLst>
          </p:cNvPr>
          <p:cNvPicPr>
            <a:picLocks noChangeAspect="1"/>
          </p:cNvPicPr>
          <p:nvPr/>
        </p:nvPicPr>
        <p:blipFill>
          <a:blip r:embed="rId3"/>
          <a:stretch>
            <a:fillRect/>
          </a:stretch>
        </p:blipFill>
        <p:spPr>
          <a:xfrm>
            <a:off x="6172200" y="4095750"/>
            <a:ext cx="927824" cy="706020"/>
          </a:xfrm>
          <a:prstGeom prst="rect">
            <a:avLst/>
          </a:prstGeom>
        </p:spPr>
      </p:pic>
      <p:pic>
        <p:nvPicPr>
          <p:cNvPr id="11" name="Picture 7" descr="Wind Turbine Efficiency: How Has It Improved Over Time? - Lumify Energy">
            <a:extLst>
              <a:ext uri="{FF2B5EF4-FFF2-40B4-BE49-F238E27FC236}">
                <a16:creationId xmlns:a16="http://schemas.microsoft.com/office/drawing/2014/main" id="{F4452A63-69AD-8955-C09F-004D2138A8F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4354" y="502992"/>
            <a:ext cx="1252254" cy="83397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8F4AE0D-952D-C087-945F-EC6D675D868D}"/>
              </a:ext>
            </a:extLst>
          </p:cNvPr>
          <p:cNvSpPr txBox="1"/>
          <p:nvPr/>
        </p:nvSpPr>
        <p:spPr>
          <a:xfrm>
            <a:off x="304356" y="1621377"/>
            <a:ext cx="5442032" cy="2601097"/>
          </a:xfrm>
          <a:prstGeom prst="rect">
            <a:avLst/>
          </a:prstGeom>
          <a:noFill/>
        </p:spPr>
        <p:txBody>
          <a:bodyPr wrap="square">
            <a:spAutoFit/>
          </a:bodyPr>
          <a:lstStyle/>
          <a:p>
            <a:pPr marL="171450" indent="-171450" algn="just">
              <a:lnSpc>
                <a:spcPct val="150000"/>
              </a:lnSpc>
              <a:buFont typeface="Arial" panose="020B0604020202020204" pitchFamily="34" charset="0"/>
              <a:buChar char="•"/>
            </a:pPr>
            <a:r>
              <a:rPr lang="en-US" sz="1100" b="1" dirty="0">
                <a:latin typeface="Times" panose="02020603050405020304" pitchFamily="18" charset="0"/>
                <a:cs typeface="Times" panose="02020603050405020304" pitchFamily="18" charset="0"/>
              </a:rPr>
              <a:t>LSTM (Long Short-Term Memory)</a:t>
            </a:r>
            <a:r>
              <a:rPr lang="en-US" sz="1100" dirty="0">
                <a:latin typeface="Times" panose="02020603050405020304" pitchFamily="18" charset="0"/>
                <a:cs typeface="Times" panose="02020603050405020304" pitchFamily="18" charset="0"/>
              </a:rPr>
              <a:t> is a type of </a:t>
            </a:r>
            <a:r>
              <a:rPr lang="en-US" sz="1100" b="1" dirty="0">
                <a:latin typeface="Times" panose="02020603050405020304" pitchFamily="18" charset="0"/>
                <a:cs typeface="Times" panose="02020603050405020304" pitchFamily="18" charset="0"/>
              </a:rPr>
              <a:t>Recurrent Neural Network (RNN)</a:t>
            </a:r>
            <a:r>
              <a:rPr lang="en-US" sz="1100" dirty="0">
                <a:latin typeface="Times" panose="02020603050405020304" pitchFamily="18" charset="0"/>
                <a:cs typeface="Times" panose="02020603050405020304" pitchFamily="18" charset="0"/>
              </a:rPr>
              <a:t>, specifically designed to model sequential data or time-series data. </a:t>
            </a:r>
          </a:p>
          <a:p>
            <a:pPr marL="171450" indent="-171450" algn="just">
              <a:lnSpc>
                <a:spcPct val="150000"/>
              </a:lnSpc>
              <a:buFont typeface="Arial" panose="020B0604020202020204" pitchFamily="34" charset="0"/>
              <a:buChar char="•"/>
            </a:pPr>
            <a:r>
              <a:rPr lang="en-US" sz="1100" dirty="0">
                <a:latin typeface="Times" panose="02020603050405020304" pitchFamily="18" charset="0"/>
                <a:cs typeface="Times" panose="02020603050405020304" pitchFamily="18" charset="0"/>
              </a:rPr>
              <a:t>LSTMs have </a:t>
            </a:r>
            <a:r>
              <a:rPr lang="en-US" sz="1100" b="1" dirty="0">
                <a:latin typeface="Times" panose="02020603050405020304" pitchFamily="18" charset="0"/>
                <a:cs typeface="Times" panose="02020603050405020304" pitchFamily="18" charset="0"/>
              </a:rPr>
              <a:t>memory cells</a:t>
            </a:r>
            <a:r>
              <a:rPr lang="en-US" sz="1100" dirty="0">
                <a:latin typeface="Times" panose="02020603050405020304" pitchFamily="18" charset="0"/>
                <a:cs typeface="Times" panose="02020603050405020304" pitchFamily="18" charset="0"/>
              </a:rPr>
              <a:t> that store information over time. These cells help the model </a:t>
            </a:r>
            <a:r>
              <a:rPr lang="en-US" sz="1100" b="1" dirty="0">
                <a:latin typeface="Times" panose="02020603050405020304" pitchFamily="18" charset="0"/>
                <a:cs typeface="Times" panose="02020603050405020304" pitchFamily="18" charset="0"/>
              </a:rPr>
              <a:t>retain important data</a:t>
            </a:r>
            <a:r>
              <a:rPr lang="en-US" sz="1100" dirty="0">
                <a:latin typeface="Times" panose="02020603050405020304" pitchFamily="18" charset="0"/>
                <a:cs typeface="Times" panose="02020603050405020304" pitchFamily="18" charset="0"/>
              </a:rPr>
              <a:t> and "forget" irrelevant information, allowing it to learn patterns that span across long sequences.</a:t>
            </a:r>
          </a:p>
          <a:p>
            <a:pPr marL="171450" indent="-171450" algn="just">
              <a:lnSpc>
                <a:spcPct val="150000"/>
              </a:lnSpc>
              <a:buFont typeface="Arial" panose="020B0604020202020204" pitchFamily="34" charset="0"/>
              <a:buChar char="•"/>
            </a:pPr>
            <a:r>
              <a:rPr lang="en-US" sz="1100" dirty="0">
                <a:latin typeface="Times" panose="02020603050405020304" pitchFamily="18" charset="0"/>
                <a:cs typeface="Times" panose="02020603050405020304" pitchFamily="18" charset="0"/>
              </a:rPr>
              <a:t>LSTM outperforms traditional models like </a:t>
            </a:r>
            <a:r>
              <a:rPr lang="en-US" sz="1100" b="1" dirty="0">
                <a:latin typeface="Times" panose="02020603050405020304" pitchFamily="18" charset="0"/>
                <a:cs typeface="Times" panose="02020603050405020304" pitchFamily="18" charset="0"/>
              </a:rPr>
              <a:t>Linear Regression, KNN and Random Forest Regression</a:t>
            </a:r>
            <a:r>
              <a:rPr lang="en-US" sz="1100" dirty="0">
                <a:latin typeface="Times" panose="02020603050405020304" pitchFamily="18" charset="0"/>
                <a:cs typeface="Times" panose="02020603050405020304" pitchFamily="18" charset="0"/>
              </a:rPr>
              <a:t> in terms metrics across all data imputation strategies.</a:t>
            </a:r>
          </a:p>
          <a:p>
            <a:pPr marL="171450" indent="-171450" algn="just">
              <a:lnSpc>
                <a:spcPct val="150000"/>
              </a:lnSpc>
              <a:buFont typeface="Arial" panose="020B0604020202020204" pitchFamily="34" charset="0"/>
              <a:buChar char="•"/>
            </a:pPr>
            <a:r>
              <a:rPr lang="en-US" sz="1100" b="1" dirty="0">
                <a:latin typeface="Times" panose="02020603050405020304" pitchFamily="18" charset="0"/>
                <a:cs typeface="Times" panose="02020603050405020304" pitchFamily="18" charset="0"/>
              </a:rPr>
              <a:t>Improved Prediction Accuracy</a:t>
            </a:r>
            <a:r>
              <a:rPr lang="en-US" sz="1100" dirty="0">
                <a:latin typeface="Times" panose="02020603050405020304" pitchFamily="18" charset="0"/>
                <a:cs typeface="Times" panose="02020603050405020304" pitchFamily="18" charset="0"/>
              </a:rPr>
              <a:t>: The LSTM model significantly reduces the error compared to linear models and KNN.</a:t>
            </a:r>
          </a:p>
          <a:p>
            <a:pPr marL="171450" indent="-171450" algn="just">
              <a:lnSpc>
                <a:spcPct val="150000"/>
              </a:lnSpc>
              <a:buFont typeface="Arial" panose="020B0604020202020204" pitchFamily="34" charset="0"/>
              <a:buChar char="•"/>
            </a:pPr>
            <a:r>
              <a:rPr lang="en-US" sz="1100" b="1" dirty="0">
                <a:latin typeface="Times" panose="02020603050405020304" pitchFamily="18" charset="0"/>
                <a:cs typeface="Times" panose="02020603050405020304" pitchFamily="18" charset="0"/>
              </a:rPr>
              <a:t>LSTM Performance</a:t>
            </a:r>
            <a:r>
              <a:rPr lang="en-US" sz="1100" dirty="0">
                <a:latin typeface="Times" panose="02020603050405020304" pitchFamily="18" charset="0"/>
                <a:cs typeface="Times" panose="02020603050405020304" pitchFamily="18" charset="0"/>
              </a:rPr>
              <a:t>: The predicted values closely track the actual values.</a:t>
            </a:r>
          </a:p>
        </p:txBody>
      </p:sp>
      <p:pic>
        <p:nvPicPr>
          <p:cNvPr id="4098" name="Picture 2" descr="Understanding Long Short-Term Memory (LSTM) Networks | Machine Learning  Archive">
            <a:extLst>
              <a:ext uri="{FF2B5EF4-FFF2-40B4-BE49-F238E27FC236}">
                <a16:creationId xmlns:a16="http://schemas.microsoft.com/office/drawing/2014/main" id="{6ADDDBD7-DBA9-C097-4C55-E40EF420ADEE}"/>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6250" t="10547" r="10959" b="10343"/>
          <a:stretch/>
        </p:blipFill>
        <p:spPr bwMode="auto">
          <a:xfrm>
            <a:off x="5697908" y="2728557"/>
            <a:ext cx="1725752" cy="121479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D6A9B886-F15D-DAAB-76BC-CAC3826183C7}"/>
              </a:ext>
            </a:extLst>
          </p:cNvPr>
          <p:cNvPicPr>
            <a:picLocks noChangeAspect="1"/>
          </p:cNvPicPr>
          <p:nvPr/>
        </p:nvPicPr>
        <p:blipFill>
          <a:blip r:embed="rId6"/>
          <a:stretch>
            <a:fillRect/>
          </a:stretch>
        </p:blipFill>
        <p:spPr>
          <a:xfrm>
            <a:off x="7447728" y="1733550"/>
            <a:ext cx="1543897" cy="2514600"/>
          </a:xfrm>
          <a:prstGeom prst="rect">
            <a:avLst/>
          </a:prstGeom>
        </p:spPr>
      </p:pic>
    </p:spTree>
    <p:extLst>
      <p:ext uri="{BB962C8B-B14F-4D97-AF65-F5344CB8AC3E}">
        <p14:creationId xmlns:p14="http://schemas.microsoft.com/office/powerpoint/2010/main" val="15468532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1B14ED4-9E5E-0BA8-4BA0-A06703EE52F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14</a:t>
            </a:fld>
            <a:endParaRPr lang="en"/>
          </a:p>
        </p:txBody>
      </p:sp>
      <p:pic>
        <p:nvPicPr>
          <p:cNvPr id="6" name="Picture 5">
            <a:extLst>
              <a:ext uri="{FF2B5EF4-FFF2-40B4-BE49-F238E27FC236}">
                <a16:creationId xmlns:a16="http://schemas.microsoft.com/office/drawing/2014/main" id="{DDB1ED28-1BDB-FD8F-EDBD-4819C1347D6A}"/>
              </a:ext>
            </a:extLst>
          </p:cNvPr>
          <p:cNvPicPr>
            <a:picLocks noChangeAspect="1"/>
          </p:cNvPicPr>
          <p:nvPr/>
        </p:nvPicPr>
        <p:blipFill>
          <a:blip r:embed="rId2"/>
          <a:stretch>
            <a:fillRect/>
          </a:stretch>
        </p:blipFill>
        <p:spPr>
          <a:xfrm>
            <a:off x="381000" y="1657350"/>
            <a:ext cx="8382000" cy="2590800"/>
          </a:xfrm>
          <a:prstGeom prst="rect">
            <a:avLst/>
          </a:prstGeom>
        </p:spPr>
      </p:pic>
      <p:pic>
        <p:nvPicPr>
          <p:cNvPr id="7" name="Picture 7" descr="Wind Turbine Efficiency: How Has It Improved Over Time? - Lumify Energy">
            <a:extLst>
              <a:ext uri="{FF2B5EF4-FFF2-40B4-BE49-F238E27FC236}">
                <a16:creationId xmlns:a16="http://schemas.microsoft.com/office/drawing/2014/main" id="{6C20C370-421A-9198-819D-F03C13D0D1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54354" y="502992"/>
            <a:ext cx="1252254" cy="83397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95D178A3-2D1C-1179-A019-9DCDE55B3687}"/>
              </a:ext>
            </a:extLst>
          </p:cNvPr>
          <p:cNvSpPr>
            <a:spLocks noGrp="1" noChangeArrowheads="1"/>
          </p:cNvSpPr>
          <p:nvPr>
            <p:ph type="title"/>
          </p:nvPr>
        </p:nvSpPr>
        <p:spPr bwMode="auto">
          <a:xfrm>
            <a:off x="1169451" y="748485"/>
            <a:ext cx="497123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chemeClr val="tx1">
                    <a:lumMod val="75000"/>
                    <a:lumOff val="25000"/>
                  </a:schemeClr>
                </a:solidFill>
                <a:effectLst/>
                <a:latin typeface="Times" panose="02020603050405020304" pitchFamily="18" charset="0"/>
                <a:cs typeface="Times" panose="02020603050405020304" pitchFamily="18" charset="0"/>
              </a:rPr>
              <a:t>LSTM MODEL EVALUATION: ACTUAL VS PREDICTED </a:t>
            </a:r>
            <a:endParaRPr kumimoji="0" lang="en-US" altLang="en-US" sz="1400" b="0" i="0" u="none" strike="noStrike" cap="none" normalizeH="0" baseline="0" dirty="0">
              <a:ln>
                <a:noFill/>
              </a:ln>
              <a:solidFill>
                <a:schemeClr val="tx1">
                  <a:lumMod val="75000"/>
                  <a:lumOff val="25000"/>
                </a:schemeClr>
              </a:solidFill>
              <a:effectLst/>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35351938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8D0CF-68DE-02CD-3010-C5CEEA528C0A}"/>
              </a:ext>
            </a:extLst>
          </p:cNvPr>
          <p:cNvSpPr>
            <a:spLocks noGrp="1"/>
          </p:cNvSpPr>
          <p:nvPr>
            <p:ph type="title"/>
          </p:nvPr>
        </p:nvSpPr>
        <p:spPr/>
        <p:txBody>
          <a:bodyPr/>
          <a:lstStyle/>
          <a:p>
            <a:pPr algn="ctr"/>
            <a:r>
              <a:rPr lang="en-US" sz="1400" dirty="0">
                <a:latin typeface="Times" panose="02020603050405020304" pitchFamily="18" charset="0"/>
                <a:cs typeface="Times" panose="02020603050405020304" pitchFamily="18" charset="0"/>
              </a:rPr>
              <a:t>STATISTICAL ERROR VALUES OF ALL APPROACHES</a:t>
            </a:r>
          </a:p>
        </p:txBody>
      </p:sp>
      <p:sp>
        <p:nvSpPr>
          <p:cNvPr id="5" name="Slide Number Placeholder 4">
            <a:extLst>
              <a:ext uri="{FF2B5EF4-FFF2-40B4-BE49-F238E27FC236}">
                <a16:creationId xmlns:a16="http://schemas.microsoft.com/office/drawing/2014/main" id="{BA7EB760-A999-4B88-3606-A2EB12852A3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15</a:t>
            </a:fld>
            <a:endParaRPr lang="en"/>
          </a:p>
        </p:txBody>
      </p:sp>
      <p:graphicFrame>
        <p:nvGraphicFramePr>
          <p:cNvPr id="6" name="Table 5">
            <a:extLst>
              <a:ext uri="{FF2B5EF4-FFF2-40B4-BE49-F238E27FC236}">
                <a16:creationId xmlns:a16="http://schemas.microsoft.com/office/drawing/2014/main" id="{8423F395-0680-702C-8069-35D009E08DCB}"/>
              </a:ext>
            </a:extLst>
          </p:cNvPr>
          <p:cNvGraphicFramePr>
            <a:graphicFrameLocks noGrp="1"/>
          </p:cNvGraphicFramePr>
          <p:nvPr>
            <p:extLst>
              <p:ext uri="{D42A27DB-BD31-4B8C-83A1-F6EECF244321}">
                <p14:modId xmlns:p14="http://schemas.microsoft.com/office/powerpoint/2010/main" val="3743358519"/>
              </p:ext>
            </p:extLst>
          </p:nvPr>
        </p:nvGraphicFramePr>
        <p:xfrm>
          <a:off x="457200" y="1548231"/>
          <a:ext cx="7924800" cy="3055166"/>
        </p:xfrm>
        <a:graphic>
          <a:graphicData uri="http://schemas.openxmlformats.org/drawingml/2006/table">
            <a:tbl>
              <a:tblPr firstRow="1" firstCol="1" bandRow="1">
                <a:tableStyleId>{AD84D997-8D4E-4861-8B80-C6579219E408}</a:tableStyleId>
              </a:tblPr>
              <a:tblGrid>
                <a:gridCol w="846418">
                  <a:extLst>
                    <a:ext uri="{9D8B030D-6E8A-4147-A177-3AD203B41FA5}">
                      <a16:colId xmlns:a16="http://schemas.microsoft.com/office/drawing/2014/main" val="2115460475"/>
                    </a:ext>
                  </a:extLst>
                </a:gridCol>
                <a:gridCol w="723302">
                  <a:extLst>
                    <a:ext uri="{9D8B030D-6E8A-4147-A177-3AD203B41FA5}">
                      <a16:colId xmlns:a16="http://schemas.microsoft.com/office/drawing/2014/main" val="651891330"/>
                    </a:ext>
                  </a:extLst>
                </a:gridCol>
                <a:gridCol w="868680">
                  <a:extLst>
                    <a:ext uri="{9D8B030D-6E8A-4147-A177-3AD203B41FA5}">
                      <a16:colId xmlns:a16="http://schemas.microsoft.com/office/drawing/2014/main" val="4261025215"/>
                    </a:ext>
                  </a:extLst>
                </a:gridCol>
                <a:gridCol w="685800">
                  <a:extLst>
                    <a:ext uri="{9D8B030D-6E8A-4147-A177-3AD203B41FA5}">
                      <a16:colId xmlns:a16="http://schemas.microsoft.com/office/drawing/2014/main" val="3985891857"/>
                    </a:ext>
                  </a:extLst>
                </a:gridCol>
                <a:gridCol w="800100">
                  <a:extLst>
                    <a:ext uri="{9D8B030D-6E8A-4147-A177-3AD203B41FA5}">
                      <a16:colId xmlns:a16="http://schemas.microsoft.com/office/drawing/2014/main" val="2577514110"/>
                    </a:ext>
                  </a:extLst>
                </a:gridCol>
                <a:gridCol w="876300">
                  <a:extLst>
                    <a:ext uri="{9D8B030D-6E8A-4147-A177-3AD203B41FA5}">
                      <a16:colId xmlns:a16="http://schemas.microsoft.com/office/drawing/2014/main" val="3978762418"/>
                    </a:ext>
                  </a:extLst>
                </a:gridCol>
                <a:gridCol w="762000">
                  <a:extLst>
                    <a:ext uri="{9D8B030D-6E8A-4147-A177-3AD203B41FA5}">
                      <a16:colId xmlns:a16="http://schemas.microsoft.com/office/drawing/2014/main" val="2238495034"/>
                    </a:ext>
                  </a:extLst>
                </a:gridCol>
                <a:gridCol w="716280">
                  <a:extLst>
                    <a:ext uri="{9D8B030D-6E8A-4147-A177-3AD203B41FA5}">
                      <a16:colId xmlns:a16="http://schemas.microsoft.com/office/drawing/2014/main" val="322357037"/>
                    </a:ext>
                  </a:extLst>
                </a:gridCol>
                <a:gridCol w="883920">
                  <a:extLst>
                    <a:ext uri="{9D8B030D-6E8A-4147-A177-3AD203B41FA5}">
                      <a16:colId xmlns:a16="http://schemas.microsoft.com/office/drawing/2014/main" val="73878781"/>
                    </a:ext>
                  </a:extLst>
                </a:gridCol>
                <a:gridCol w="762000">
                  <a:extLst>
                    <a:ext uri="{9D8B030D-6E8A-4147-A177-3AD203B41FA5}">
                      <a16:colId xmlns:a16="http://schemas.microsoft.com/office/drawing/2014/main" val="630319727"/>
                    </a:ext>
                  </a:extLst>
                </a:gridCol>
              </a:tblGrid>
              <a:tr h="632544">
                <a:tc>
                  <a:txBody>
                    <a:bodyPr/>
                    <a:lstStyle/>
                    <a:p>
                      <a:pPr marL="0" marR="0" algn="ctr">
                        <a:lnSpc>
                          <a:spcPct val="115000"/>
                        </a:lnSpc>
                        <a:spcAft>
                          <a:spcPts val="800"/>
                        </a:spcAft>
                        <a:buNone/>
                      </a:pPr>
                      <a:r>
                        <a:rPr lang="en-US" sz="1000" b="1" kern="100" dirty="0">
                          <a:effectLst/>
                          <a:latin typeface="Times" panose="02020603050405020304" pitchFamily="18" charset="0"/>
                          <a:cs typeface="Times" panose="02020603050405020304" pitchFamily="18" charset="0"/>
                        </a:rPr>
                        <a:t>Model</a:t>
                      </a:r>
                      <a:endParaRPr lang="en-US" sz="1000" b="1" kern="100" dirty="0">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b="1" kern="100" dirty="0">
                          <a:effectLst/>
                          <a:latin typeface="Times" panose="02020603050405020304" pitchFamily="18" charset="0"/>
                          <a:cs typeface="Times" panose="02020603050405020304" pitchFamily="18" charset="0"/>
                        </a:rPr>
                        <a:t>MSE (Remove)</a:t>
                      </a:r>
                      <a:endParaRPr lang="en-US" sz="1000" b="1" kern="100" dirty="0">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b="1" kern="100" dirty="0">
                          <a:effectLst/>
                          <a:latin typeface="Times" panose="02020603050405020304" pitchFamily="18" charset="0"/>
                          <a:cs typeface="Times" panose="02020603050405020304" pitchFamily="18" charset="0"/>
                        </a:rPr>
                        <a:t>MSE  (Forward Fill)</a:t>
                      </a:r>
                      <a:endParaRPr lang="en-US" sz="1000" b="1" kern="100" dirty="0">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b="1" kern="100" dirty="0">
                          <a:effectLst/>
                          <a:latin typeface="Times" panose="02020603050405020304" pitchFamily="18" charset="0"/>
                          <a:cs typeface="Times" panose="02020603050405020304" pitchFamily="18" charset="0"/>
                        </a:rPr>
                        <a:t>MSE  (Mean Fill)</a:t>
                      </a:r>
                      <a:endParaRPr lang="en-US" sz="1000" b="1" kern="100" dirty="0">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b="1" kern="100" dirty="0">
                          <a:effectLst/>
                          <a:latin typeface="Times" panose="02020603050405020304" pitchFamily="18" charset="0"/>
                          <a:cs typeface="Times" panose="02020603050405020304" pitchFamily="18" charset="0"/>
                        </a:rPr>
                        <a:t>MAE (Remove)</a:t>
                      </a:r>
                      <a:endParaRPr lang="en-US" sz="1000" b="1" kern="100" dirty="0">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b="1" kern="100" dirty="0">
                          <a:effectLst/>
                          <a:latin typeface="Times" panose="02020603050405020304" pitchFamily="18" charset="0"/>
                          <a:cs typeface="Times" panose="02020603050405020304" pitchFamily="18" charset="0"/>
                        </a:rPr>
                        <a:t>MAE  (Forward Fill)</a:t>
                      </a:r>
                      <a:endParaRPr lang="en-US" sz="1000" b="1" kern="100" dirty="0">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b="1" kern="100" dirty="0">
                          <a:effectLst/>
                          <a:latin typeface="Times" panose="02020603050405020304" pitchFamily="18" charset="0"/>
                          <a:cs typeface="Times" panose="02020603050405020304" pitchFamily="18" charset="0"/>
                        </a:rPr>
                        <a:t>MAE   (Mean Fill)</a:t>
                      </a:r>
                      <a:endParaRPr lang="en-US" sz="1000" b="1" kern="100" dirty="0">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b="1" kern="100" dirty="0">
                          <a:effectLst/>
                          <a:latin typeface="Times" panose="02020603050405020304" pitchFamily="18" charset="0"/>
                          <a:cs typeface="Times" panose="02020603050405020304" pitchFamily="18" charset="0"/>
                        </a:rPr>
                        <a:t>RMSE (Remove)</a:t>
                      </a:r>
                      <a:endParaRPr lang="en-US" sz="1000" b="1" kern="100" dirty="0">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b="1" kern="100" dirty="0">
                          <a:effectLst/>
                          <a:latin typeface="Times" panose="02020603050405020304" pitchFamily="18" charset="0"/>
                          <a:cs typeface="Times" panose="02020603050405020304" pitchFamily="18" charset="0"/>
                        </a:rPr>
                        <a:t>RMSE (Forward Fill)</a:t>
                      </a:r>
                      <a:endParaRPr lang="en-US" sz="1000" b="1" kern="100" dirty="0">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b="1" kern="100" dirty="0">
                          <a:effectLst/>
                          <a:latin typeface="Times" panose="02020603050405020304" pitchFamily="18" charset="0"/>
                          <a:cs typeface="Times" panose="02020603050405020304" pitchFamily="18" charset="0"/>
                        </a:rPr>
                        <a:t>RMSE (Mean Fill)</a:t>
                      </a:r>
                      <a:endParaRPr lang="en-US" sz="1000" b="1" kern="100" dirty="0">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extLst>
                  <a:ext uri="{0D108BD9-81ED-4DB2-BD59-A6C34878D82A}">
                    <a16:rowId xmlns:a16="http://schemas.microsoft.com/office/drawing/2014/main" val="2966282304"/>
                  </a:ext>
                </a:extLst>
              </a:tr>
              <a:tr h="424543">
                <a:tc>
                  <a:txBody>
                    <a:bodyPr/>
                    <a:lstStyle/>
                    <a:p>
                      <a:pPr marL="0" marR="0" algn="ctr">
                        <a:lnSpc>
                          <a:spcPct val="115000"/>
                        </a:lnSpc>
                        <a:spcAft>
                          <a:spcPts val="800"/>
                        </a:spcAft>
                        <a:buNone/>
                      </a:pPr>
                      <a:r>
                        <a:rPr lang="en-US" sz="1000" b="1" kern="100" dirty="0">
                          <a:effectLst/>
                          <a:latin typeface="Times" panose="02020603050405020304" pitchFamily="18" charset="0"/>
                          <a:cs typeface="Times" panose="02020603050405020304" pitchFamily="18" charset="0"/>
                        </a:rPr>
                        <a:t>Linear (1 Var)</a:t>
                      </a:r>
                      <a:endParaRPr lang="en-US" sz="1000" b="1" kern="100" dirty="0">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kern="100" dirty="0">
                          <a:solidFill>
                            <a:srgbClr val="00B0F0"/>
                          </a:solidFill>
                          <a:effectLst/>
                          <a:latin typeface="Times" panose="02020603050405020304" pitchFamily="18" charset="0"/>
                          <a:cs typeface="Times" panose="02020603050405020304" pitchFamily="18" charset="0"/>
                        </a:rPr>
                        <a:t>22.8577</a:t>
                      </a:r>
                      <a:endParaRPr lang="en-US" sz="1000" kern="100" dirty="0">
                        <a:solidFill>
                          <a:srgbClr val="00B0F0"/>
                        </a:solidFill>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kern="100" dirty="0">
                          <a:effectLst/>
                          <a:latin typeface="Times" panose="02020603050405020304" pitchFamily="18" charset="0"/>
                          <a:cs typeface="Times" panose="02020603050405020304" pitchFamily="18" charset="0"/>
                        </a:rPr>
                        <a:t>23.7905</a:t>
                      </a:r>
                      <a:endParaRPr lang="en-US" sz="1000" kern="100" dirty="0">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kern="100" dirty="0">
                          <a:effectLst/>
                          <a:latin typeface="Times" panose="02020603050405020304" pitchFamily="18" charset="0"/>
                          <a:cs typeface="Times" panose="02020603050405020304" pitchFamily="18" charset="0"/>
                        </a:rPr>
                        <a:t>23.7367</a:t>
                      </a:r>
                      <a:endParaRPr lang="en-US" sz="1000" kern="100" dirty="0">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kern="100" dirty="0">
                          <a:solidFill>
                            <a:srgbClr val="FF0000"/>
                          </a:solidFill>
                          <a:effectLst/>
                          <a:latin typeface="Times" panose="02020603050405020304" pitchFamily="18" charset="0"/>
                          <a:cs typeface="Times" panose="02020603050405020304" pitchFamily="18" charset="0"/>
                        </a:rPr>
                        <a:t>3.8775</a:t>
                      </a:r>
                      <a:endParaRPr lang="en-US" sz="1000" kern="100" dirty="0">
                        <a:solidFill>
                          <a:srgbClr val="FF0000"/>
                        </a:solidFill>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kern="100" dirty="0">
                          <a:effectLst/>
                          <a:latin typeface="Times" panose="02020603050405020304" pitchFamily="18" charset="0"/>
                          <a:cs typeface="Times" panose="02020603050405020304" pitchFamily="18" charset="0"/>
                        </a:rPr>
                        <a:t>3.9192</a:t>
                      </a:r>
                      <a:endParaRPr lang="en-US" sz="1000" kern="100" dirty="0">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kern="100" dirty="0">
                          <a:effectLst/>
                          <a:latin typeface="Times" panose="02020603050405020304" pitchFamily="18" charset="0"/>
                          <a:cs typeface="Times" panose="02020603050405020304" pitchFamily="18" charset="0"/>
                        </a:rPr>
                        <a:t>3.9026</a:t>
                      </a:r>
                      <a:endParaRPr lang="en-US" sz="1000" kern="100" dirty="0">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kern="100" dirty="0">
                          <a:solidFill>
                            <a:srgbClr val="7030A0"/>
                          </a:solidFill>
                          <a:effectLst/>
                          <a:latin typeface="Times" panose="02020603050405020304" pitchFamily="18" charset="0"/>
                          <a:cs typeface="Times" panose="02020603050405020304" pitchFamily="18" charset="0"/>
                        </a:rPr>
                        <a:t>4.7810</a:t>
                      </a:r>
                      <a:endParaRPr lang="en-US" sz="1000" kern="100" dirty="0">
                        <a:solidFill>
                          <a:srgbClr val="7030A0"/>
                        </a:solidFill>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kern="100" dirty="0">
                          <a:effectLst/>
                          <a:latin typeface="Times" panose="02020603050405020304" pitchFamily="18" charset="0"/>
                          <a:cs typeface="Times" panose="02020603050405020304" pitchFamily="18" charset="0"/>
                        </a:rPr>
                        <a:t>4.8776</a:t>
                      </a:r>
                      <a:endParaRPr lang="en-US" sz="1000" kern="100" dirty="0">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kern="100">
                          <a:effectLst/>
                          <a:latin typeface="Times" panose="02020603050405020304" pitchFamily="18" charset="0"/>
                          <a:cs typeface="Times" panose="02020603050405020304" pitchFamily="18" charset="0"/>
                        </a:rPr>
                        <a:t>4.8720</a:t>
                      </a:r>
                      <a:endParaRPr lang="en-US" sz="1000" kern="100">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extLst>
                  <a:ext uri="{0D108BD9-81ED-4DB2-BD59-A6C34878D82A}">
                    <a16:rowId xmlns:a16="http://schemas.microsoft.com/office/drawing/2014/main" val="2239850783"/>
                  </a:ext>
                </a:extLst>
              </a:tr>
              <a:tr h="424543">
                <a:tc>
                  <a:txBody>
                    <a:bodyPr/>
                    <a:lstStyle/>
                    <a:p>
                      <a:pPr marL="0" marR="0" algn="ctr">
                        <a:lnSpc>
                          <a:spcPct val="115000"/>
                        </a:lnSpc>
                        <a:spcAft>
                          <a:spcPts val="800"/>
                        </a:spcAft>
                        <a:buNone/>
                      </a:pPr>
                      <a:r>
                        <a:rPr lang="en-US" sz="1000" b="1" kern="100" dirty="0">
                          <a:effectLst/>
                          <a:latin typeface="Times" panose="02020603050405020304" pitchFamily="18" charset="0"/>
                          <a:cs typeface="Times" panose="02020603050405020304" pitchFamily="18" charset="0"/>
                        </a:rPr>
                        <a:t>Linear (2 Var)</a:t>
                      </a:r>
                      <a:endParaRPr lang="en-US" sz="1000" b="1" kern="100" dirty="0">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kern="100" dirty="0">
                          <a:solidFill>
                            <a:srgbClr val="00B0F0"/>
                          </a:solidFill>
                          <a:effectLst/>
                          <a:latin typeface="Times" panose="02020603050405020304" pitchFamily="18" charset="0"/>
                          <a:cs typeface="Times" panose="02020603050405020304" pitchFamily="18" charset="0"/>
                        </a:rPr>
                        <a:t>22.3561</a:t>
                      </a:r>
                      <a:endParaRPr lang="en-US" sz="1000" kern="100" dirty="0">
                        <a:solidFill>
                          <a:srgbClr val="00B0F0"/>
                        </a:solidFill>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kern="100" dirty="0">
                          <a:effectLst/>
                          <a:latin typeface="Times" panose="02020603050405020304" pitchFamily="18" charset="0"/>
                          <a:cs typeface="Times" panose="02020603050405020304" pitchFamily="18" charset="0"/>
                        </a:rPr>
                        <a:t>23.3594</a:t>
                      </a:r>
                      <a:endParaRPr lang="en-US" sz="1000" kern="100" dirty="0">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kern="100" dirty="0">
                          <a:effectLst/>
                          <a:latin typeface="Times" panose="02020603050405020304" pitchFamily="18" charset="0"/>
                          <a:cs typeface="Times" panose="02020603050405020304" pitchFamily="18" charset="0"/>
                        </a:rPr>
                        <a:t>23.3231</a:t>
                      </a:r>
                      <a:endParaRPr lang="en-US" sz="1000" kern="100" dirty="0">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kern="100" dirty="0">
                          <a:solidFill>
                            <a:srgbClr val="FF0000"/>
                          </a:solidFill>
                          <a:effectLst/>
                          <a:latin typeface="Times" panose="02020603050405020304" pitchFamily="18" charset="0"/>
                          <a:cs typeface="Times" panose="02020603050405020304" pitchFamily="18" charset="0"/>
                        </a:rPr>
                        <a:t>3.8331</a:t>
                      </a:r>
                      <a:endParaRPr lang="en-US" sz="1000" kern="100" dirty="0">
                        <a:solidFill>
                          <a:srgbClr val="FF0000"/>
                        </a:solidFill>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kern="100" dirty="0">
                          <a:effectLst/>
                          <a:latin typeface="Times" panose="02020603050405020304" pitchFamily="18" charset="0"/>
                          <a:cs typeface="Times" panose="02020603050405020304" pitchFamily="18" charset="0"/>
                        </a:rPr>
                        <a:t>3.8802</a:t>
                      </a:r>
                      <a:endParaRPr lang="en-US" sz="1000" kern="100" dirty="0">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kern="100" dirty="0">
                          <a:effectLst/>
                          <a:latin typeface="Times" panose="02020603050405020304" pitchFamily="18" charset="0"/>
                          <a:cs typeface="Times" panose="02020603050405020304" pitchFamily="18" charset="0"/>
                        </a:rPr>
                        <a:t>3.8653</a:t>
                      </a:r>
                      <a:endParaRPr lang="en-US" sz="1000" kern="100" dirty="0">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kern="100" dirty="0">
                          <a:solidFill>
                            <a:srgbClr val="7030A0"/>
                          </a:solidFill>
                          <a:effectLst/>
                          <a:latin typeface="Times" panose="02020603050405020304" pitchFamily="18" charset="0"/>
                          <a:cs typeface="Times" panose="02020603050405020304" pitchFamily="18" charset="0"/>
                        </a:rPr>
                        <a:t>4.7282</a:t>
                      </a:r>
                      <a:endParaRPr lang="en-US" sz="1000" kern="100" dirty="0">
                        <a:solidFill>
                          <a:srgbClr val="7030A0"/>
                        </a:solidFill>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kern="100" dirty="0">
                          <a:effectLst/>
                          <a:latin typeface="Times" panose="02020603050405020304" pitchFamily="18" charset="0"/>
                          <a:cs typeface="Times" panose="02020603050405020304" pitchFamily="18" charset="0"/>
                        </a:rPr>
                        <a:t>4.8332</a:t>
                      </a:r>
                      <a:endParaRPr lang="en-US" sz="1000" kern="100" dirty="0">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kern="100" dirty="0">
                          <a:effectLst/>
                          <a:latin typeface="Times" panose="02020603050405020304" pitchFamily="18" charset="0"/>
                          <a:cs typeface="Times" panose="02020603050405020304" pitchFamily="18" charset="0"/>
                        </a:rPr>
                        <a:t>4.8294</a:t>
                      </a:r>
                      <a:endParaRPr lang="en-US" sz="1000" kern="100" dirty="0">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extLst>
                  <a:ext uri="{0D108BD9-81ED-4DB2-BD59-A6C34878D82A}">
                    <a16:rowId xmlns:a16="http://schemas.microsoft.com/office/drawing/2014/main" val="898889093"/>
                  </a:ext>
                </a:extLst>
              </a:tr>
              <a:tr h="632544">
                <a:tc>
                  <a:txBody>
                    <a:bodyPr/>
                    <a:lstStyle/>
                    <a:p>
                      <a:pPr marL="0" marR="0" algn="ctr">
                        <a:lnSpc>
                          <a:spcPct val="115000"/>
                        </a:lnSpc>
                        <a:spcAft>
                          <a:spcPts val="800"/>
                        </a:spcAft>
                        <a:buNone/>
                      </a:pPr>
                      <a:r>
                        <a:rPr lang="en-US" sz="1000" b="1" kern="100" dirty="0">
                          <a:effectLst/>
                          <a:latin typeface="Times" panose="02020603050405020304" pitchFamily="18" charset="0"/>
                          <a:cs typeface="Times" panose="02020603050405020304" pitchFamily="18" charset="0"/>
                        </a:rPr>
                        <a:t>Linear (Multi Var)</a:t>
                      </a:r>
                      <a:endParaRPr lang="en-US" sz="1000" b="1" kern="100" dirty="0">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kern="100" dirty="0">
                          <a:solidFill>
                            <a:srgbClr val="00B0F0"/>
                          </a:solidFill>
                          <a:effectLst/>
                          <a:latin typeface="Times" panose="02020603050405020304" pitchFamily="18" charset="0"/>
                          <a:cs typeface="Times" panose="02020603050405020304" pitchFamily="18" charset="0"/>
                        </a:rPr>
                        <a:t>22.1276</a:t>
                      </a:r>
                      <a:endParaRPr lang="en-US" sz="1000" kern="100" dirty="0">
                        <a:solidFill>
                          <a:srgbClr val="00B0F0"/>
                        </a:solidFill>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kern="100" dirty="0">
                          <a:effectLst/>
                          <a:latin typeface="Times" panose="02020603050405020304" pitchFamily="18" charset="0"/>
                          <a:cs typeface="Times" panose="02020603050405020304" pitchFamily="18" charset="0"/>
                        </a:rPr>
                        <a:t>22.7181</a:t>
                      </a:r>
                      <a:endParaRPr lang="en-US" sz="1000" kern="100" dirty="0">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kern="100" dirty="0">
                          <a:effectLst/>
                          <a:latin typeface="Times" panose="02020603050405020304" pitchFamily="18" charset="0"/>
                          <a:cs typeface="Times" panose="02020603050405020304" pitchFamily="18" charset="0"/>
                        </a:rPr>
                        <a:t>22.4957</a:t>
                      </a:r>
                      <a:endParaRPr lang="en-US" sz="1000" kern="100" dirty="0">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kern="100" dirty="0">
                          <a:effectLst/>
                          <a:latin typeface="Times" panose="02020603050405020304" pitchFamily="18" charset="0"/>
                          <a:cs typeface="Times" panose="02020603050405020304" pitchFamily="18" charset="0"/>
                        </a:rPr>
                        <a:t>3.8037</a:t>
                      </a:r>
                      <a:endParaRPr lang="en-US" sz="1000" kern="100" dirty="0">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kern="100" dirty="0">
                          <a:effectLst/>
                          <a:latin typeface="Times" panose="02020603050405020304" pitchFamily="18" charset="0"/>
                          <a:cs typeface="Times" panose="02020603050405020304" pitchFamily="18" charset="0"/>
                        </a:rPr>
                        <a:t>3.8310</a:t>
                      </a:r>
                      <a:endParaRPr lang="en-US" sz="1000" kern="100" dirty="0">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kern="100" dirty="0">
                          <a:solidFill>
                            <a:srgbClr val="FF0000"/>
                          </a:solidFill>
                          <a:effectLst/>
                          <a:latin typeface="Times" panose="02020603050405020304" pitchFamily="18" charset="0"/>
                          <a:cs typeface="Times" panose="02020603050405020304" pitchFamily="18" charset="0"/>
                        </a:rPr>
                        <a:t>3.7985</a:t>
                      </a:r>
                      <a:endParaRPr lang="en-US" sz="1000" kern="100" dirty="0">
                        <a:solidFill>
                          <a:srgbClr val="FF0000"/>
                        </a:solidFill>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kern="100" dirty="0">
                          <a:solidFill>
                            <a:srgbClr val="7030A0"/>
                          </a:solidFill>
                          <a:effectLst/>
                          <a:latin typeface="Times" panose="02020603050405020304" pitchFamily="18" charset="0"/>
                          <a:cs typeface="Times" panose="02020603050405020304" pitchFamily="18" charset="0"/>
                        </a:rPr>
                        <a:t>4.7040</a:t>
                      </a:r>
                      <a:endParaRPr lang="en-US" sz="1000" kern="100" dirty="0">
                        <a:solidFill>
                          <a:srgbClr val="7030A0"/>
                        </a:solidFill>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kern="100" dirty="0">
                          <a:effectLst/>
                          <a:latin typeface="Times" panose="02020603050405020304" pitchFamily="18" charset="0"/>
                          <a:cs typeface="Times" panose="02020603050405020304" pitchFamily="18" charset="0"/>
                        </a:rPr>
                        <a:t>4.7663</a:t>
                      </a:r>
                      <a:endParaRPr lang="en-US" sz="1000" kern="100" dirty="0">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kern="100" dirty="0">
                          <a:effectLst/>
                          <a:latin typeface="Times" panose="02020603050405020304" pitchFamily="18" charset="0"/>
                          <a:cs typeface="Times" panose="02020603050405020304" pitchFamily="18" charset="0"/>
                        </a:rPr>
                        <a:t>4.7430</a:t>
                      </a:r>
                      <a:endParaRPr lang="en-US" sz="1000" kern="100" dirty="0">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extLst>
                  <a:ext uri="{0D108BD9-81ED-4DB2-BD59-A6C34878D82A}">
                    <a16:rowId xmlns:a16="http://schemas.microsoft.com/office/drawing/2014/main" val="2032512613"/>
                  </a:ext>
                </a:extLst>
              </a:tr>
              <a:tr h="280683">
                <a:tc>
                  <a:txBody>
                    <a:bodyPr/>
                    <a:lstStyle/>
                    <a:p>
                      <a:pPr marL="0" marR="0" algn="ctr">
                        <a:lnSpc>
                          <a:spcPct val="115000"/>
                        </a:lnSpc>
                        <a:spcAft>
                          <a:spcPts val="800"/>
                        </a:spcAft>
                        <a:buNone/>
                      </a:pPr>
                      <a:r>
                        <a:rPr lang="en-US" sz="1000" b="1" kern="100" dirty="0">
                          <a:effectLst/>
                          <a:latin typeface="Times" panose="02020603050405020304" pitchFamily="18" charset="0"/>
                          <a:cs typeface="Times" panose="02020603050405020304" pitchFamily="18" charset="0"/>
                        </a:rPr>
                        <a:t>KNN</a:t>
                      </a:r>
                      <a:endParaRPr lang="en-US" sz="1000" b="1" kern="100" dirty="0">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kern="100" dirty="0">
                          <a:effectLst/>
                          <a:latin typeface="Times" panose="02020603050405020304" pitchFamily="18" charset="0"/>
                          <a:cs typeface="Times" panose="02020603050405020304" pitchFamily="18" charset="0"/>
                        </a:rPr>
                        <a:t>22.0425</a:t>
                      </a:r>
                      <a:endParaRPr lang="en-US" sz="1000" kern="100" dirty="0">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kern="100" dirty="0">
                          <a:solidFill>
                            <a:srgbClr val="00B0F0"/>
                          </a:solidFill>
                          <a:effectLst/>
                          <a:latin typeface="Times" panose="02020603050405020304" pitchFamily="18" charset="0"/>
                          <a:cs typeface="Times" panose="02020603050405020304" pitchFamily="18" charset="0"/>
                        </a:rPr>
                        <a:t>21.9884</a:t>
                      </a:r>
                      <a:endParaRPr lang="en-US" sz="1000" kern="100" dirty="0">
                        <a:solidFill>
                          <a:srgbClr val="00B0F0"/>
                        </a:solidFill>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kern="100" dirty="0">
                          <a:effectLst/>
                          <a:latin typeface="Times" panose="02020603050405020304" pitchFamily="18" charset="0"/>
                          <a:cs typeface="Times" panose="02020603050405020304" pitchFamily="18" charset="0"/>
                        </a:rPr>
                        <a:t>22.5459</a:t>
                      </a:r>
                      <a:endParaRPr lang="en-US" sz="1000" kern="100" dirty="0">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kern="100" dirty="0">
                          <a:solidFill>
                            <a:srgbClr val="FF0000"/>
                          </a:solidFill>
                          <a:effectLst/>
                          <a:latin typeface="Times" panose="02020603050405020304" pitchFamily="18" charset="0"/>
                          <a:cs typeface="Times" panose="02020603050405020304" pitchFamily="18" charset="0"/>
                        </a:rPr>
                        <a:t>3.6591</a:t>
                      </a:r>
                      <a:endParaRPr lang="en-US" sz="1000" kern="100" dirty="0">
                        <a:solidFill>
                          <a:srgbClr val="FF0000"/>
                        </a:solidFill>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kern="100" dirty="0">
                          <a:effectLst/>
                          <a:latin typeface="Times" panose="02020603050405020304" pitchFamily="18" charset="0"/>
                          <a:cs typeface="Times" panose="02020603050405020304" pitchFamily="18" charset="0"/>
                        </a:rPr>
                        <a:t>3.6849</a:t>
                      </a:r>
                      <a:endParaRPr lang="en-US" sz="1000" kern="100" dirty="0">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kern="100" dirty="0">
                          <a:effectLst/>
                          <a:latin typeface="Times" panose="02020603050405020304" pitchFamily="18" charset="0"/>
                          <a:cs typeface="Times" panose="02020603050405020304" pitchFamily="18" charset="0"/>
                        </a:rPr>
                        <a:t>3.7094</a:t>
                      </a:r>
                      <a:endParaRPr lang="en-US" sz="1000" kern="100" dirty="0">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kern="100" dirty="0">
                          <a:effectLst/>
                          <a:latin typeface="Times" panose="02020603050405020304" pitchFamily="18" charset="0"/>
                          <a:cs typeface="Times" panose="02020603050405020304" pitchFamily="18" charset="0"/>
                        </a:rPr>
                        <a:t>4.6949</a:t>
                      </a:r>
                      <a:endParaRPr lang="en-US" sz="1000" kern="100" dirty="0">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kern="100" dirty="0">
                          <a:solidFill>
                            <a:srgbClr val="7030A0"/>
                          </a:solidFill>
                          <a:effectLst/>
                          <a:latin typeface="Times" panose="02020603050405020304" pitchFamily="18" charset="0"/>
                          <a:cs typeface="Times" panose="02020603050405020304" pitchFamily="18" charset="0"/>
                        </a:rPr>
                        <a:t>4.6892</a:t>
                      </a:r>
                      <a:endParaRPr lang="en-US" sz="1000" kern="100" dirty="0">
                        <a:solidFill>
                          <a:srgbClr val="7030A0"/>
                        </a:solidFill>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kern="100" dirty="0">
                          <a:effectLst/>
                          <a:latin typeface="Times" panose="02020603050405020304" pitchFamily="18" charset="0"/>
                          <a:cs typeface="Times" panose="02020603050405020304" pitchFamily="18" charset="0"/>
                        </a:rPr>
                        <a:t>4.7482</a:t>
                      </a:r>
                      <a:endParaRPr lang="en-US" sz="1000" kern="100" dirty="0">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extLst>
                  <a:ext uri="{0D108BD9-81ED-4DB2-BD59-A6C34878D82A}">
                    <a16:rowId xmlns:a16="http://schemas.microsoft.com/office/drawing/2014/main" val="1812003678"/>
                  </a:ext>
                </a:extLst>
              </a:tr>
              <a:tr h="280683">
                <a:tc>
                  <a:txBody>
                    <a:bodyPr/>
                    <a:lstStyle/>
                    <a:p>
                      <a:pPr marL="0" marR="0" algn="ctr">
                        <a:lnSpc>
                          <a:spcPct val="115000"/>
                        </a:lnSpc>
                        <a:spcAft>
                          <a:spcPts val="800"/>
                        </a:spcAft>
                        <a:buNone/>
                      </a:pPr>
                      <a:r>
                        <a:rPr lang="en-US" sz="1000" b="1" kern="100" dirty="0">
                          <a:effectLst/>
                          <a:latin typeface="Times" panose="02020603050405020304" pitchFamily="18" charset="0"/>
                          <a:cs typeface="Times" panose="02020603050405020304" pitchFamily="18" charset="0"/>
                        </a:rPr>
                        <a:t>Random Forest</a:t>
                      </a:r>
                      <a:endParaRPr lang="en-US" sz="1000" b="1" kern="100" dirty="0">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kern="100" dirty="0">
                          <a:solidFill>
                            <a:srgbClr val="00B0F0"/>
                          </a:solidFill>
                          <a:effectLst/>
                          <a:latin typeface="Times" panose="02020603050405020304" pitchFamily="18" charset="0"/>
                          <a:cs typeface="Times" panose="02020603050405020304" pitchFamily="18" charset="0"/>
                        </a:rPr>
                        <a:t>19.5884</a:t>
                      </a:r>
                      <a:endParaRPr lang="en-US" sz="1000" kern="100" dirty="0">
                        <a:solidFill>
                          <a:srgbClr val="00B0F0"/>
                        </a:solidFill>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kern="100" dirty="0">
                          <a:effectLst/>
                          <a:latin typeface="Times" panose="02020603050405020304" pitchFamily="18" charset="0"/>
                          <a:cs typeface="Times" panose="02020603050405020304" pitchFamily="18" charset="0"/>
                        </a:rPr>
                        <a:t>21.0440</a:t>
                      </a:r>
                      <a:endParaRPr lang="en-US" sz="1000" kern="100" dirty="0">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kern="100" dirty="0">
                          <a:effectLst/>
                          <a:latin typeface="Times" panose="02020603050405020304" pitchFamily="18" charset="0"/>
                          <a:cs typeface="Times" panose="02020603050405020304" pitchFamily="18" charset="0"/>
                        </a:rPr>
                        <a:t>21.4673</a:t>
                      </a:r>
                      <a:endParaRPr lang="en-US" sz="1000" kern="100" dirty="0">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kern="100" dirty="0">
                          <a:solidFill>
                            <a:srgbClr val="FF0000"/>
                          </a:solidFill>
                          <a:effectLst/>
                          <a:latin typeface="Times" panose="02020603050405020304" pitchFamily="18" charset="0"/>
                          <a:cs typeface="Times" panose="02020603050405020304" pitchFamily="18" charset="0"/>
                        </a:rPr>
                        <a:t>3.4315</a:t>
                      </a:r>
                      <a:endParaRPr lang="en-US" sz="1000" kern="100" dirty="0">
                        <a:solidFill>
                          <a:srgbClr val="FF0000"/>
                        </a:solidFill>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kern="100" dirty="0">
                          <a:effectLst/>
                          <a:latin typeface="Times" panose="02020603050405020304" pitchFamily="18" charset="0"/>
                          <a:cs typeface="Times" panose="02020603050405020304" pitchFamily="18" charset="0"/>
                        </a:rPr>
                        <a:t>3.6299</a:t>
                      </a:r>
                      <a:endParaRPr lang="en-US" sz="1000" kern="100" dirty="0">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kern="100" dirty="0">
                          <a:effectLst/>
                          <a:latin typeface="Times" panose="02020603050405020304" pitchFamily="18" charset="0"/>
                          <a:cs typeface="Times" panose="02020603050405020304" pitchFamily="18" charset="0"/>
                        </a:rPr>
                        <a:t>3.6484</a:t>
                      </a:r>
                      <a:endParaRPr lang="en-US" sz="1000" kern="100" dirty="0">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kern="100" dirty="0">
                          <a:solidFill>
                            <a:srgbClr val="7030A0"/>
                          </a:solidFill>
                          <a:effectLst/>
                          <a:latin typeface="Times" panose="02020603050405020304" pitchFamily="18" charset="0"/>
                          <a:cs typeface="Times" panose="02020603050405020304" pitchFamily="18" charset="0"/>
                        </a:rPr>
                        <a:t>4.4259</a:t>
                      </a:r>
                      <a:endParaRPr lang="en-US" sz="1000" kern="100" dirty="0">
                        <a:solidFill>
                          <a:srgbClr val="7030A0"/>
                        </a:solidFill>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kern="100" dirty="0">
                          <a:effectLst/>
                          <a:latin typeface="Times" panose="02020603050405020304" pitchFamily="18" charset="0"/>
                          <a:cs typeface="Times" panose="02020603050405020304" pitchFamily="18" charset="0"/>
                        </a:rPr>
                        <a:t>4.5874</a:t>
                      </a:r>
                      <a:endParaRPr lang="en-US" sz="1000" kern="100" dirty="0">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kern="100" dirty="0">
                          <a:effectLst/>
                          <a:latin typeface="Times" panose="02020603050405020304" pitchFamily="18" charset="0"/>
                          <a:cs typeface="Times" panose="02020603050405020304" pitchFamily="18" charset="0"/>
                        </a:rPr>
                        <a:t>4.6333</a:t>
                      </a:r>
                      <a:endParaRPr lang="en-US" sz="1000" kern="100" dirty="0">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extLst>
                  <a:ext uri="{0D108BD9-81ED-4DB2-BD59-A6C34878D82A}">
                    <a16:rowId xmlns:a16="http://schemas.microsoft.com/office/drawing/2014/main" val="4112225437"/>
                  </a:ext>
                </a:extLst>
              </a:tr>
              <a:tr h="304800">
                <a:tc>
                  <a:txBody>
                    <a:bodyPr/>
                    <a:lstStyle/>
                    <a:p>
                      <a:pPr marL="0" marR="0" algn="ctr">
                        <a:lnSpc>
                          <a:spcPct val="115000"/>
                        </a:lnSpc>
                        <a:spcAft>
                          <a:spcPts val="800"/>
                        </a:spcAft>
                        <a:buNone/>
                      </a:pPr>
                      <a:r>
                        <a:rPr lang="en-US" sz="1000" b="1" kern="100" dirty="0">
                          <a:effectLst/>
                          <a:latin typeface="Times" panose="02020603050405020304" pitchFamily="18" charset="0"/>
                          <a:cs typeface="Times" panose="02020603050405020304" pitchFamily="18" charset="0"/>
                        </a:rPr>
                        <a:t>LSTM</a:t>
                      </a:r>
                      <a:endParaRPr lang="en-US" sz="1000" b="1" kern="100" dirty="0">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b="1" kern="100" dirty="0">
                          <a:effectLst/>
                          <a:latin typeface="Times" panose="02020603050405020304" pitchFamily="18" charset="0"/>
                          <a:cs typeface="Times" panose="02020603050405020304" pitchFamily="18" charset="0"/>
                        </a:rPr>
                        <a:t>0.0258</a:t>
                      </a:r>
                      <a:endParaRPr lang="en-US" sz="1000" b="1" kern="100" dirty="0">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b="1" kern="100" dirty="0">
                          <a:solidFill>
                            <a:schemeClr val="accent1">
                              <a:lumMod val="75000"/>
                            </a:schemeClr>
                          </a:solidFill>
                          <a:effectLst/>
                          <a:latin typeface="Times" panose="02020603050405020304" pitchFamily="18" charset="0"/>
                          <a:cs typeface="Times" panose="02020603050405020304" pitchFamily="18" charset="0"/>
                        </a:rPr>
                        <a:t>0.0250</a:t>
                      </a:r>
                      <a:endParaRPr lang="en-US" sz="1000" b="1" kern="100" dirty="0">
                        <a:solidFill>
                          <a:schemeClr val="accent1">
                            <a:lumMod val="75000"/>
                          </a:schemeClr>
                        </a:solidFill>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b="1" kern="100" dirty="0">
                          <a:solidFill>
                            <a:schemeClr val="tx1"/>
                          </a:solidFill>
                          <a:effectLst/>
                          <a:latin typeface="Times" panose="02020603050405020304" pitchFamily="18" charset="0"/>
                          <a:cs typeface="Times" panose="02020603050405020304" pitchFamily="18" charset="0"/>
                        </a:rPr>
                        <a:t>0.0253</a:t>
                      </a:r>
                      <a:endParaRPr lang="en-US" sz="1000" b="1" kern="100" dirty="0">
                        <a:solidFill>
                          <a:schemeClr val="tx1"/>
                        </a:solidFill>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b="1" kern="100" dirty="0">
                          <a:effectLst/>
                          <a:latin typeface="Times" panose="02020603050405020304" pitchFamily="18" charset="0"/>
                          <a:cs typeface="Times" panose="02020603050405020304" pitchFamily="18" charset="0"/>
                        </a:rPr>
                        <a:t>0.1281</a:t>
                      </a:r>
                      <a:endParaRPr lang="en-US" sz="1000" b="1" kern="100" dirty="0">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b="1" kern="100" dirty="0">
                          <a:solidFill>
                            <a:schemeClr val="accent1">
                              <a:lumMod val="75000"/>
                            </a:schemeClr>
                          </a:solidFill>
                          <a:effectLst/>
                          <a:latin typeface="Times" panose="02020603050405020304" pitchFamily="18" charset="0"/>
                          <a:cs typeface="Times" panose="02020603050405020304" pitchFamily="18" charset="0"/>
                        </a:rPr>
                        <a:t>0.1237</a:t>
                      </a:r>
                      <a:endParaRPr lang="en-US" sz="1000" b="1" kern="100" dirty="0">
                        <a:solidFill>
                          <a:schemeClr val="accent1">
                            <a:lumMod val="75000"/>
                          </a:schemeClr>
                        </a:solidFill>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b="1" kern="100" dirty="0">
                          <a:effectLst/>
                          <a:latin typeface="Times" panose="02020603050405020304" pitchFamily="18" charset="0"/>
                          <a:cs typeface="Times" panose="02020603050405020304" pitchFamily="18" charset="0"/>
                        </a:rPr>
                        <a:t>0.1249</a:t>
                      </a:r>
                      <a:endParaRPr lang="en-US" sz="1000" b="1" kern="100" dirty="0">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b="1" kern="100" dirty="0">
                          <a:effectLst/>
                          <a:latin typeface="Times" panose="02020603050405020304" pitchFamily="18" charset="0"/>
                          <a:cs typeface="Times" panose="02020603050405020304" pitchFamily="18" charset="0"/>
                        </a:rPr>
                        <a:t>0.1607</a:t>
                      </a:r>
                      <a:endParaRPr lang="en-US" sz="1000" b="1" kern="100" dirty="0">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b="1" kern="100" dirty="0">
                          <a:solidFill>
                            <a:schemeClr val="accent1">
                              <a:lumMod val="75000"/>
                            </a:schemeClr>
                          </a:solidFill>
                          <a:effectLst/>
                          <a:latin typeface="Times" panose="02020603050405020304" pitchFamily="18" charset="0"/>
                          <a:cs typeface="Times" panose="02020603050405020304" pitchFamily="18" charset="0"/>
                        </a:rPr>
                        <a:t>0.1580</a:t>
                      </a:r>
                      <a:endParaRPr lang="en-US" sz="1000" b="1" kern="100" dirty="0">
                        <a:solidFill>
                          <a:schemeClr val="accent1">
                            <a:lumMod val="75000"/>
                          </a:schemeClr>
                        </a:solidFill>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tc>
                  <a:txBody>
                    <a:bodyPr/>
                    <a:lstStyle/>
                    <a:p>
                      <a:pPr marL="0" marR="0" algn="ctr">
                        <a:lnSpc>
                          <a:spcPct val="115000"/>
                        </a:lnSpc>
                        <a:spcAft>
                          <a:spcPts val="800"/>
                        </a:spcAft>
                        <a:buNone/>
                      </a:pPr>
                      <a:r>
                        <a:rPr lang="en-US" sz="1000" b="1" kern="100" dirty="0">
                          <a:effectLst/>
                          <a:latin typeface="Times" panose="02020603050405020304" pitchFamily="18" charset="0"/>
                          <a:cs typeface="Times" panose="02020603050405020304" pitchFamily="18" charset="0"/>
                        </a:rPr>
                        <a:t>0.1592</a:t>
                      </a:r>
                      <a:endParaRPr lang="en-US" sz="1000" b="1" kern="100" dirty="0">
                        <a:effectLst/>
                        <a:latin typeface="Times" panose="02020603050405020304" pitchFamily="18" charset="0"/>
                        <a:ea typeface="Aptos" panose="020B0004020202020204" pitchFamily="34" charset="0"/>
                        <a:cs typeface="Times" panose="02020603050405020304" pitchFamily="18" charset="0"/>
                      </a:endParaRPr>
                    </a:p>
                  </a:txBody>
                  <a:tcPr marL="9511" marR="9511" marT="9511" marB="9511" anchor="ctr"/>
                </a:tc>
                <a:extLst>
                  <a:ext uri="{0D108BD9-81ED-4DB2-BD59-A6C34878D82A}">
                    <a16:rowId xmlns:a16="http://schemas.microsoft.com/office/drawing/2014/main" val="3617099806"/>
                  </a:ext>
                </a:extLst>
              </a:tr>
            </a:tbl>
          </a:graphicData>
        </a:graphic>
      </p:graphicFrame>
      <p:pic>
        <p:nvPicPr>
          <p:cNvPr id="3" name="Picture 7" descr="Wind Turbine Efficiency: How Has It Improved Over Time? - Lumify Energy">
            <a:extLst>
              <a:ext uri="{FF2B5EF4-FFF2-40B4-BE49-F238E27FC236}">
                <a16:creationId xmlns:a16="http://schemas.microsoft.com/office/drawing/2014/main" id="{3863B570-E81D-A1A0-015A-B960501A9C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54354" y="502992"/>
            <a:ext cx="1252254" cy="8339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81594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5D54B-40B2-90CF-A056-978D4AC20804}"/>
              </a:ext>
            </a:extLst>
          </p:cNvPr>
          <p:cNvSpPr>
            <a:spLocks noGrp="1"/>
          </p:cNvSpPr>
          <p:nvPr>
            <p:ph type="title"/>
          </p:nvPr>
        </p:nvSpPr>
        <p:spPr/>
        <p:txBody>
          <a:bodyPr/>
          <a:lstStyle/>
          <a:p>
            <a:pPr algn="ctr"/>
            <a:r>
              <a:rPr lang="en-US" sz="1400" dirty="0">
                <a:latin typeface="Times" panose="02020603050405020304" pitchFamily="18" charset="0"/>
                <a:cs typeface="Times" panose="02020603050405020304" pitchFamily="18" charset="0"/>
              </a:rPr>
              <a:t>GRAPHICAL REPRESENTATION OF ALL MODELS ON </a:t>
            </a:r>
            <a:br>
              <a:rPr lang="en-US" sz="1400" dirty="0">
                <a:latin typeface="Times" panose="02020603050405020304" pitchFamily="18" charset="0"/>
                <a:cs typeface="Times" panose="02020603050405020304" pitchFamily="18" charset="0"/>
              </a:rPr>
            </a:br>
            <a:r>
              <a:rPr lang="en-US" sz="1400" dirty="0">
                <a:latin typeface="Times" panose="02020603050405020304" pitchFamily="18" charset="0"/>
                <a:cs typeface="Times" panose="02020603050405020304" pitchFamily="18" charset="0"/>
              </a:rPr>
              <a:t>DIFFERENT DATASETS</a:t>
            </a:r>
          </a:p>
        </p:txBody>
      </p:sp>
      <p:sp>
        <p:nvSpPr>
          <p:cNvPr id="5" name="Slide Number Placeholder 4">
            <a:extLst>
              <a:ext uri="{FF2B5EF4-FFF2-40B4-BE49-F238E27FC236}">
                <a16:creationId xmlns:a16="http://schemas.microsoft.com/office/drawing/2014/main" id="{D010726B-7B72-ED7E-B757-0C0315165B3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16</a:t>
            </a:fld>
            <a:endParaRPr lang="en"/>
          </a:p>
        </p:txBody>
      </p:sp>
      <p:pic>
        <p:nvPicPr>
          <p:cNvPr id="7" name="Picture 6">
            <a:extLst>
              <a:ext uri="{FF2B5EF4-FFF2-40B4-BE49-F238E27FC236}">
                <a16:creationId xmlns:a16="http://schemas.microsoft.com/office/drawing/2014/main" id="{94683DB3-364C-9DC9-716D-B34A23C6E490}"/>
              </a:ext>
            </a:extLst>
          </p:cNvPr>
          <p:cNvPicPr>
            <a:picLocks noChangeAspect="1"/>
          </p:cNvPicPr>
          <p:nvPr/>
        </p:nvPicPr>
        <p:blipFill>
          <a:blip r:embed="rId2"/>
          <a:stretch>
            <a:fillRect/>
          </a:stretch>
        </p:blipFill>
        <p:spPr>
          <a:xfrm>
            <a:off x="284776" y="1446362"/>
            <a:ext cx="8421832" cy="3201263"/>
          </a:xfrm>
          <a:prstGeom prst="rect">
            <a:avLst/>
          </a:prstGeom>
        </p:spPr>
      </p:pic>
      <p:pic>
        <p:nvPicPr>
          <p:cNvPr id="8" name="Picture 7" descr="Wind Turbine Efficiency: How Has It Improved Over Time? - Lumify Energy">
            <a:extLst>
              <a:ext uri="{FF2B5EF4-FFF2-40B4-BE49-F238E27FC236}">
                <a16:creationId xmlns:a16="http://schemas.microsoft.com/office/drawing/2014/main" id="{D6CD9AAD-F374-DF94-5A61-EAC377D965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54354" y="502992"/>
            <a:ext cx="1252254" cy="8339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45091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F2C2B9C-2E39-6B91-B35D-618348DC9FF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17</a:t>
            </a:fld>
            <a:endParaRPr lang="en"/>
          </a:p>
        </p:txBody>
      </p:sp>
      <p:sp>
        <p:nvSpPr>
          <p:cNvPr id="4" name="Title 3">
            <a:extLst>
              <a:ext uri="{FF2B5EF4-FFF2-40B4-BE49-F238E27FC236}">
                <a16:creationId xmlns:a16="http://schemas.microsoft.com/office/drawing/2014/main" id="{5D44A66E-BC52-D1DE-33A9-31493D28C915}"/>
              </a:ext>
            </a:extLst>
          </p:cNvPr>
          <p:cNvSpPr>
            <a:spLocks noGrp="1"/>
          </p:cNvSpPr>
          <p:nvPr>
            <p:ph type="title"/>
          </p:nvPr>
        </p:nvSpPr>
        <p:spPr/>
        <p:txBody>
          <a:bodyPr/>
          <a:lstStyle/>
          <a:p>
            <a:pPr algn="ctr"/>
            <a:r>
              <a:rPr lang="en-US" sz="1400" dirty="0">
                <a:latin typeface="Times" panose="02020603050405020304" pitchFamily="18" charset="0"/>
                <a:cs typeface="Times" panose="02020603050405020304" pitchFamily="18" charset="0"/>
              </a:rPr>
              <a:t>BEST MODEL (LSTM)</a:t>
            </a:r>
          </a:p>
        </p:txBody>
      </p:sp>
      <p:pic>
        <p:nvPicPr>
          <p:cNvPr id="6" name="Picture 5">
            <a:extLst>
              <a:ext uri="{FF2B5EF4-FFF2-40B4-BE49-F238E27FC236}">
                <a16:creationId xmlns:a16="http://schemas.microsoft.com/office/drawing/2014/main" id="{8B60CB3B-1D93-5871-6CE1-085CF37336ED}"/>
              </a:ext>
            </a:extLst>
          </p:cNvPr>
          <p:cNvPicPr>
            <a:picLocks noChangeAspect="1"/>
          </p:cNvPicPr>
          <p:nvPr/>
        </p:nvPicPr>
        <p:blipFill>
          <a:blip r:embed="rId2"/>
          <a:stretch>
            <a:fillRect/>
          </a:stretch>
        </p:blipFill>
        <p:spPr>
          <a:xfrm>
            <a:off x="821365" y="1482219"/>
            <a:ext cx="2912610" cy="2025111"/>
          </a:xfrm>
          <a:prstGeom prst="rect">
            <a:avLst/>
          </a:prstGeom>
        </p:spPr>
      </p:pic>
      <p:pic>
        <p:nvPicPr>
          <p:cNvPr id="8" name="Picture 7">
            <a:extLst>
              <a:ext uri="{FF2B5EF4-FFF2-40B4-BE49-F238E27FC236}">
                <a16:creationId xmlns:a16="http://schemas.microsoft.com/office/drawing/2014/main" id="{95CA317A-7E1E-555E-B3E0-02FE0747E46D}"/>
              </a:ext>
            </a:extLst>
          </p:cNvPr>
          <p:cNvPicPr>
            <a:picLocks noChangeAspect="1"/>
          </p:cNvPicPr>
          <p:nvPr/>
        </p:nvPicPr>
        <p:blipFill>
          <a:blip r:embed="rId3"/>
          <a:stretch>
            <a:fillRect/>
          </a:stretch>
        </p:blipFill>
        <p:spPr>
          <a:xfrm>
            <a:off x="4121875" y="1482219"/>
            <a:ext cx="2819400" cy="1960303"/>
          </a:xfrm>
          <a:prstGeom prst="rect">
            <a:avLst/>
          </a:prstGeom>
        </p:spPr>
      </p:pic>
      <p:pic>
        <p:nvPicPr>
          <p:cNvPr id="9" name="Picture 7" descr="Wind Turbine Efficiency: How Has It Improved Over Time? - Lumify Energy">
            <a:extLst>
              <a:ext uri="{FF2B5EF4-FFF2-40B4-BE49-F238E27FC236}">
                <a16:creationId xmlns:a16="http://schemas.microsoft.com/office/drawing/2014/main" id="{11D0900E-A1D0-4A70-EBB7-530E2736D9C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4354" y="502992"/>
            <a:ext cx="1252254" cy="83397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8EF39DC-2508-877C-3B73-6DEF1770D860}"/>
              </a:ext>
            </a:extLst>
          </p:cNvPr>
          <p:cNvSpPr txBox="1"/>
          <p:nvPr/>
        </p:nvSpPr>
        <p:spPr>
          <a:xfrm>
            <a:off x="381000" y="3690543"/>
            <a:ext cx="7908601" cy="1384995"/>
          </a:xfrm>
          <a:prstGeom prst="rect">
            <a:avLst/>
          </a:prstGeom>
          <a:noFill/>
        </p:spPr>
        <p:txBody>
          <a:bodyPr wrap="square">
            <a:spAutoFit/>
          </a:bodyPr>
          <a:lstStyle/>
          <a:p>
            <a:r>
              <a:rPr lang="en-US" sz="1200" b="1" u="sng" dirty="0">
                <a:latin typeface="Times" panose="02020603050405020304" pitchFamily="18" charset="0"/>
                <a:cs typeface="Times" panose="02020603050405020304" pitchFamily="18" charset="0"/>
              </a:rPr>
              <a:t>Best Model: LSTM (Long Short-Term Memory)</a:t>
            </a:r>
          </a:p>
          <a:p>
            <a:endParaRPr lang="en-US" sz="1200" b="1" u="sng" dirty="0">
              <a:latin typeface="Times" panose="02020603050405020304" pitchFamily="18" charset="0"/>
              <a:cs typeface="Times" panose="02020603050405020304" pitchFamily="18" charset="0"/>
            </a:endParaRPr>
          </a:p>
          <a:p>
            <a:pPr marL="171450" indent="-171450">
              <a:buFont typeface="Arial" panose="020B0604020202020204" pitchFamily="34" charset="0"/>
              <a:buChar char="•"/>
            </a:pPr>
            <a:r>
              <a:rPr lang="en-US" sz="1200" dirty="0">
                <a:latin typeface="Times" panose="02020603050405020304" pitchFamily="18" charset="0"/>
                <a:cs typeface="Times" panose="02020603050405020304" pitchFamily="18" charset="0"/>
              </a:rPr>
              <a:t>The LSTM model </a:t>
            </a:r>
            <a:r>
              <a:rPr lang="en-US" sz="1200" b="1" dirty="0">
                <a:latin typeface="Times" panose="02020603050405020304" pitchFamily="18" charset="0"/>
                <a:cs typeface="Times" panose="02020603050405020304" pitchFamily="18" charset="0"/>
              </a:rPr>
              <a:t>outperformed all other models </a:t>
            </a:r>
            <a:r>
              <a:rPr lang="en-US" sz="1200" dirty="0">
                <a:latin typeface="Times" panose="02020603050405020304" pitchFamily="18" charset="0"/>
                <a:cs typeface="Times" panose="02020603050405020304" pitchFamily="18" charset="0"/>
              </a:rPr>
              <a:t>across all dataset versions.</a:t>
            </a:r>
          </a:p>
          <a:p>
            <a:pPr marL="171450" indent="-171450">
              <a:buFont typeface="Arial" panose="020B0604020202020204" pitchFamily="34" charset="0"/>
              <a:buChar char="•"/>
            </a:pPr>
            <a:r>
              <a:rPr lang="en-US" sz="1200" dirty="0">
                <a:latin typeface="Times" panose="02020603050405020304" pitchFamily="18" charset="0"/>
                <a:cs typeface="Times" panose="02020603050405020304" pitchFamily="18" charset="0"/>
              </a:rPr>
              <a:t>LSTM achieved the </a:t>
            </a:r>
            <a:r>
              <a:rPr lang="en-US" sz="1200" b="1" dirty="0">
                <a:latin typeface="Times" panose="02020603050405020304" pitchFamily="18" charset="0"/>
                <a:cs typeface="Times" panose="02020603050405020304" pitchFamily="18" charset="0"/>
              </a:rPr>
              <a:t>lowest values of MSE, RMSE, and MAE </a:t>
            </a:r>
            <a:r>
              <a:rPr lang="en-US" sz="1200" dirty="0">
                <a:latin typeface="Times" panose="02020603050405020304" pitchFamily="18" charset="0"/>
                <a:cs typeface="Times" panose="02020603050405020304" pitchFamily="18" charset="0"/>
              </a:rPr>
              <a:t>compared to all other models.</a:t>
            </a:r>
          </a:p>
          <a:p>
            <a:pPr marL="171450" indent="-171450">
              <a:buFont typeface="Arial" panose="020B0604020202020204" pitchFamily="34" charset="0"/>
              <a:buChar char="•"/>
            </a:pPr>
            <a:r>
              <a:rPr lang="en-US" sz="1200" dirty="0">
                <a:latin typeface="Times" panose="02020603050405020304" pitchFamily="18" charset="0"/>
                <a:cs typeface="Times" panose="02020603050405020304" pitchFamily="18" charset="0"/>
              </a:rPr>
              <a:t>Its performance was consistently </a:t>
            </a:r>
            <a:r>
              <a:rPr lang="en-US" sz="1200" b="1" dirty="0">
                <a:latin typeface="Times" panose="02020603050405020304" pitchFamily="18" charset="0"/>
                <a:cs typeface="Times" panose="02020603050405020304" pitchFamily="18" charset="0"/>
              </a:rPr>
              <a:t>better </a:t>
            </a:r>
            <a:r>
              <a:rPr lang="en-US" sz="1200" dirty="0">
                <a:latin typeface="Times" panose="02020603050405020304" pitchFamily="18" charset="0"/>
                <a:cs typeface="Times" panose="02020603050405020304" pitchFamily="18" charset="0"/>
              </a:rPr>
              <a:t>across </a:t>
            </a:r>
            <a:r>
              <a:rPr lang="en-US" sz="1200" b="1" dirty="0">
                <a:latin typeface="Times" panose="02020603050405020304" pitchFamily="18" charset="0"/>
                <a:cs typeface="Times" panose="02020603050405020304" pitchFamily="18" charset="0"/>
              </a:rPr>
              <a:t>all three </a:t>
            </a:r>
            <a:r>
              <a:rPr lang="en-US" sz="1200" dirty="0">
                <a:latin typeface="Times" panose="02020603050405020304" pitchFamily="18" charset="0"/>
                <a:cs typeface="Times" panose="02020603050405020304" pitchFamily="18" charset="0"/>
              </a:rPr>
              <a:t>preprocessed </a:t>
            </a:r>
            <a:r>
              <a:rPr lang="en-US" sz="1200" b="1" dirty="0">
                <a:latin typeface="Times" panose="02020603050405020304" pitchFamily="18" charset="0"/>
                <a:cs typeface="Times" panose="02020603050405020304" pitchFamily="18" charset="0"/>
              </a:rPr>
              <a:t>datasets</a:t>
            </a:r>
            <a:r>
              <a:rPr lang="en-US" sz="1200" dirty="0">
                <a:latin typeface="Times" panose="02020603050405020304" pitchFamily="18" charset="0"/>
                <a:cs typeface="Times" panose="02020603050405020304" pitchFamily="18" charset="0"/>
              </a:rPr>
              <a:t> (</a:t>
            </a:r>
            <a:r>
              <a:rPr lang="en-US" sz="1200" b="1" dirty="0">
                <a:latin typeface="Times" panose="02020603050405020304" pitchFamily="18" charset="0"/>
                <a:cs typeface="Times" panose="02020603050405020304" pitchFamily="18" charset="0"/>
              </a:rPr>
              <a:t>Drop Missing, Forward Fill, Mean Fill</a:t>
            </a:r>
            <a:r>
              <a:rPr lang="en-US" sz="1200" dirty="0">
                <a:latin typeface="Times" panose="02020603050405020304" pitchFamily="18" charset="0"/>
                <a:cs typeface="Times" panose="02020603050405020304" pitchFamily="18" charset="0"/>
              </a:rPr>
              <a:t>).</a:t>
            </a:r>
          </a:p>
          <a:p>
            <a:pPr marL="171450" indent="-171450">
              <a:buFont typeface="Arial" panose="020B0604020202020204" pitchFamily="34" charset="0"/>
              <a:buChar char="•"/>
            </a:pPr>
            <a:r>
              <a:rPr lang="en-US" sz="1200" dirty="0">
                <a:latin typeface="Times" panose="02020603050405020304" pitchFamily="18" charset="0"/>
                <a:cs typeface="Times" panose="02020603050405020304" pitchFamily="18" charset="0"/>
              </a:rPr>
              <a:t>Especially when using </a:t>
            </a:r>
            <a:r>
              <a:rPr lang="en-US" sz="1200" b="1" dirty="0">
                <a:latin typeface="Times" panose="02020603050405020304" pitchFamily="18" charset="0"/>
                <a:cs typeface="Times" panose="02020603050405020304" pitchFamily="18" charset="0"/>
              </a:rPr>
              <a:t>Forward Fill</a:t>
            </a:r>
            <a:r>
              <a:rPr lang="en-US" sz="1200" dirty="0">
                <a:latin typeface="Times" panose="02020603050405020304" pitchFamily="18" charset="0"/>
                <a:cs typeface="Times" panose="02020603050405020304" pitchFamily="18" charset="0"/>
              </a:rPr>
              <a:t>, LSTM handled sequences smoothly without abrupt gaps.</a:t>
            </a:r>
          </a:p>
          <a:p>
            <a:endParaRPr lang="en-US" sz="1200" dirty="0">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6017613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18</a:t>
            </a:fld>
            <a:endParaRPr lang="en"/>
          </a:p>
        </p:txBody>
      </p:sp>
      <p:sp>
        <p:nvSpPr>
          <p:cNvPr id="4" name="Title 3"/>
          <p:cNvSpPr>
            <a:spLocks noGrp="1"/>
          </p:cNvSpPr>
          <p:nvPr>
            <p:ph type="title"/>
          </p:nvPr>
        </p:nvSpPr>
        <p:spPr/>
        <p:txBody>
          <a:bodyPr/>
          <a:lstStyle/>
          <a:p>
            <a:pPr algn="ctr"/>
            <a:r>
              <a:rPr lang="en-US" sz="1400" dirty="0">
                <a:latin typeface="Times" panose="02020603050405020304" pitchFamily="18" charset="0"/>
                <a:cs typeface="Times" panose="02020603050405020304" pitchFamily="18" charset="0"/>
              </a:rPr>
              <a:t>RESULTS AND CONCLUSION</a:t>
            </a:r>
          </a:p>
        </p:txBody>
      </p:sp>
      <p:pic>
        <p:nvPicPr>
          <p:cNvPr id="5" name="Picture 7" descr="Wind Turbine Efficiency: How Has It Improved Over Time? - Lumify Energy">
            <a:extLst>
              <a:ext uri="{FF2B5EF4-FFF2-40B4-BE49-F238E27FC236}">
                <a16:creationId xmlns:a16="http://schemas.microsoft.com/office/drawing/2014/main" id="{18A49C49-2D6B-6AB5-084C-A50A3D8623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54354" y="502992"/>
            <a:ext cx="1252254" cy="833978"/>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9E342A94-F13F-6C98-805F-21905319DB1C}"/>
              </a:ext>
            </a:extLst>
          </p:cNvPr>
          <p:cNvSpPr txBox="1"/>
          <p:nvPr/>
        </p:nvSpPr>
        <p:spPr>
          <a:xfrm>
            <a:off x="381000" y="1504950"/>
            <a:ext cx="8077200" cy="2962158"/>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latin typeface="Times" panose="02020603050405020304" pitchFamily="18" charset="0"/>
                <a:cs typeface="Times" panose="02020603050405020304" pitchFamily="18" charset="0"/>
              </a:rPr>
              <a:t>Multiple models were tested for wind speed prediction</a:t>
            </a:r>
            <a:endParaRPr lang="en-US" b="1" dirty="0">
              <a:latin typeface="Times" panose="02020603050405020304" pitchFamily="18" charset="0"/>
              <a:cs typeface="Times" panose="02020603050405020304" pitchFamily="18" charset="0"/>
            </a:endParaRPr>
          </a:p>
          <a:p>
            <a:pPr marL="285750" indent="-285750">
              <a:lnSpc>
                <a:spcPct val="150000"/>
              </a:lnSpc>
              <a:buFont typeface="Arial" panose="020B0604020202020204" pitchFamily="34" charset="0"/>
              <a:buChar char="•"/>
            </a:pPr>
            <a:r>
              <a:rPr lang="en-US" b="1" dirty="0">
                <a:latin typeface="Times" panose="02020603050405020304" pitchFamily="18" charset="0"/>
                <a:cs typeface="Times" panose="02020603050405020304" pitchFamily="18" charset="0"/>
              </a:rPr>
              <a:t>LSTM (Long Short-Term Memory) </a:t>
            </a:r>
            <a:r>
              <a:rPr lang="en-US" dirty="0">
                <a:latin typeface="Times" panose="02020603050405020304" pitchFamily="18" charset="0"/>
                <a:cs typeface="Times" panose="02020603050405020304" pitchFamily="18" charset="0"/>
              </a:rPr>
              <a:t>emerged as the best model across all dataset versions.</a:t>
            </a:r>
          </a:p>
          <a:p>
            <a:pPr marL="285750" indent="-285750">
              <a:lnSpc>
                <a:spcPct val="150000"/>
              </a:lnSpc>
              <a:buFont typeface="Arial" panose="020B0604020202020204" pitchFamily="34" charset="0"/>
              <a:buChar char="•"/>
            </a:pPr>
            <a:r>
              <a:rPr lang="en-US" dirty="0">
                <a:latin typeface="Times" panose="02020603050405020304" pitchFamily="18" charset="0"/>
                <a:cs typeface="Times" panose="02020603050405020304" pitchFamily="18" charset="0"/>
              </a:rPr>
              <a:t>Achieved the </a:t>
            </a:r>
            <a:r>
              <a:rPr lang="en-US" b="1" dirty="0">
                <a:latin typeface="Times" panose="02020603050405020304" pitchFamily="18" charset="0"/>
                <a:cs typeface="Times" panose="02020603050405020304" pitchFamily="18" charset="0"/>
              </a:rPr>
              <a:t>lowest error metrics (MSE, RMSE, MAE) </a:t>
            </a:r>
            <a:r>
              <a:rPr lang="en-US" dirty="0">
                <a:latin typeface="Times" panose="02020603050405020304" pitchFamily="18" charset="0"/>
                <a:cs typeface="Times" panose="02020603050405020304" pitchFamily="18" charset="0"/>
              </a:rPr>
              <a:t>consistently across: </a:t>
            </a:r>
          </a:p>
          <a:p>
            <a:pPr>
              <a:lnSpc>
                <a:spcPct val="150000"/>
              </a:lnSpc>
            </a:pPr>
            <a:r>
              <a:rPr lang="en-US" dirty="0">
                <a:latin typeface="Times" panose="02020603050405020304" pitchFamily="18" charset="0"/>
                <a:cs typeface="Times" panose="02020603050405020304" pitchFamily="18" charset="0"/>
              </a:rPr>
              <a:t>      Drop Missing, Forward Fill, Mean Fill</a:t>
            </a:r>
          </a:p>
          <a:p>
            <a:pPr marL="285750" indent="-285750">
              <a:lnSpc>
                <a:spcPct val="150000"/>
              </a:lnSpc>
              <a:buFont typeface="Arial" panose="020B0604020202020204" pitchFamily="34" charset="0"/>
              <a:buChar char="•"/>
            </a:pPr>
            <a:r>
              <a:rPr lang="en-US" b="1" dirty="0">
                <a:latin typeface="Times" panose="02020603050405020304" pitchFamily="18" charset="0"/>
                <a:cs typeface="Times" panose="02020603050405020304" pitchFamily="18" charset="0"/>
              </a:rPr>
              <a:t>Forward Fill preprocessing + LSTM </a:t>
            </a:r>
            <a:r>
              <a:rPr lang="en-US" dirty="0">
                <a:latin typeface="Times" panose="02020603050405020304" pitchFamily="18" charset="0"/>
                <a:cs typeface="Times" panose="02020603050405020304" pitchFamily="18" charset="0"/>
              </a:rPr>
              <a:t>delivered the </a:t>
            </a:r>
            <a:r>
              <a:rPr lang="en-US" b="1" dirty="0">
                <a:latin typeface="Times" panose="02020603050405020304" pitchFamily="18" charset="0"/>
                <a:cs typeface="Times" panose="02020603050405020304" pitchFamily="18" charset="0"/>
              </a:rPr>
              <a:t>best overall performance</a:t>
            </a:r>
            <a:r>
              <a:rPr lang="en-US" dirty="0">
                <a:latin typeface="Times" panose="02020603050405020304" pitchFamily="18" charset="0"/>
                <a:cs typeface="Times" panose="02020603050405020304" pitchFamily="18" charset="0"/>
              </a:rPr>
              <a:t>, ensuring smooth sequence continuity.</a:t>
            </a:r>
          </a:p>
          <a:p>
            <a:pPr marL="285750" indent="-285750">
              <a:lnSpc>
                <a:spcPct val="150000"/>
              </a:lnSpc>
              <a:buFont typeface="Arial" panose="020B0604020202020204" pitchFamily="34" charset="0"/>
              <a:buChar char="•"/>
            </a:pPr>
            <a:r>
              <a:rPr lang="en-US" dirty="0">
                <a:latin typeface="Times" panose="02020603050405020304" pitchFamily="18" charset="0"/>
                <a:cs typeface="Times" panose="02020603050405020304" pitchFamily="18" charset="0"/>
              </a:rPr>
              <a:t>LSTM is the most reliable and precise model for wind speed forecasting in this project.</a:t>
            </a:r>
          </a:p>
          <a:p>
            <a:pPr>
              <a:lnSpc>
                <a:spcPct val="150000"/>
              </a:lnSpc>
            </a:pPr>
            <a:r>
              <a:rPr lang="en-US" b="1" dirty="0">
                <a:latin typeface="Times" panose="02020603050405020304" pitchFamily="18" charset="0"/>
                <a:cs typeface="Times" panose="02020603050405020304" pitchFamily="18" charset="0"/>
              </a:rPr>
              <a:t>Recommendation:</a:t>
            </a:r>
            <a:r>
              <a:rPr lang="en-US" dirty="0">
                <a:latin typeface="Times" panose="02020603050405020304" pitchFamily="18" charset="0"/>
                <a:cs typeface="Times" panose="02020603050405020304" pitchFamily="18" charset="0"/>
              </a:rPr>
              <a:t> Use </a:t>
            </a:r>
            <a:r>
              <a:rPr lang="en-US" b="1" dirty="0">
                <a:latin typeface="Times" panose="02020603050405020304" pitchFamily="18" charset="0"/>
                <a:cs typeface="Times" panose="02020603050405020304" pitchFamily="18" charset="0"/>
              </a:rPr>
              <a:t>LSTM combined with Forward Fill </a:t>
            </a:r>
            <a:r>
              <a:rPr lang="en-US" dirty="0">
                <a:latin typeface="Times" panose="02020603050405020304" pitchFamily="18" charset="0"/>
                <a:cs typeface="Times" panose="02020603050405020304" pitchFamily="18" charset="0"/>
              </a:rPr>
              <a:t>for future wind speed prediction tasks.</a:t>
            </a:r>
          </a:p>
          <a:p>
            <a:pPr>
              <a:lnSpc>
                <a:spcPct val="150000"/>
              </a:lnSpc>
            </a:pPr>
            <a:endParaRPr lang="en-US" dirty="0">
              <a:latin typeface="Times" panose="02020603050405020304" pitchFamily="18" charset="0"/>
              <a:cs typeface="Times"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44D0068-F227-5CEC-40DE-E2FE400BEC9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19</a:t>
            </a:fld>
            <a:endParaRPr lang="en"/>
          </a:p>
        </p:txBody>
      </p:sp>
      <p:sp>
        <p:nvSpPr>
          <p:cNvPr id="4" name="Title 3">
            <a:extLst>
              <a:ext uri="{FF2B5EF4-FFF2-40B4-BE49-F238E27FC236}">
                <a16:creationId xmlns:a16="http://schemas.microsoft.com/office/drawing/2014/main" id="{8E3A6C60-E877-1CD7-7489-D1A373F01815}"/>
              </a:ext>
            </a:extLst>
          </p:cNvPr>
          <p:cNvSpPr>
            <a:spLocks noGrp="1"/>
          </p:cNvSpPr>
          <p:nvPr>
            <p:ph type="title"/>
          </p:nvPr>
        </p:nvSpPr>
        <p:spPr/>
        <p:txBody>
          <a:bodyPr/>
          <a:lstStyle/>
          <a:p>
            <a:pPr algn="ctr"/>
            <a:r>
              <a:rPr lang="en-US" sz="1800" dirty="0">
                <a:latin typeface="Times" panose="02020603050405020304"/>
                <a:cs typeface="Times" panose="02020603050405020304"/>
              </a:rPr>
              <a:t>FUTURE WORK</a:t>
            </a:r>
          </a:p>
        </p:txBody>
      </p:sp>
      <p:sp>
        <p:nvSpPr>
          <p:cNvPr id="6" name="TextBox 5">
            <a:extLst>
              <a:ext uri="{FF2B5EF4-FFF2-40B4-BE49-F238E27FC236}">
                <a16:creationId xmlns:a16="http://schemas.microsoft.com/office/drawing/2014/main" id="{91BECAEB-323C-D838-C566-21A1CC937D05}"/>
              </a:ext>
            </a:extLst>
          </p:cNvPr>
          <p:cNvSpPr txBox="1"/>
          <p:nvPr/>
        </p:nvSpPr>
        <p:spPr>
          <a:xfrm>
            <a:off x="838200" y="1279280"/>
            <a:ext cx="7010400" cy="1934953"/>
          </a:xfrm>
          <a:prstGeom prst="rect">
            <a:avLst/>
          </a:prstGeom>
          <a:noFill/>
        </p:spPr>
        <p:txBody>
          <a:bodyPr wrap="square">
            <a:spAutoFit/>
          </a:bodyPr>
          <a:lstStyle/>
          <a:p>
            <a:pPr algn="just"/>
            <a:endParaRPr lang="en-US" sz="1200" b="0" i="0" u="none" strike="noStrike" baseline="0" dirty="0">
              <a:solidFill>
                <a:srgbClr val="000000"/>
              </a:solidFill>
              <a:latin typeface="Times New Roman" panose="02020603050405020304" pitchFamily="18" charset="0"/>
            </a:endParaRPr>
          </a:p>
          <a:p>
            <a:pPr marL="285750" indent="-285750" algn="just">
              <a:lnSpc>
                <a:spcPct val="200000"/>
              </a:lnSpc>
              <a:buFont typeface="Arial" panose="020B0604020202020204" pitchFamily="34" charset="0"/>
              <a:buChar char="•"/>
            </a:pPr>
            <a:r>
              <a:rPr lang="en-US" sz="1400" b="1" i="0" u="none" strike="noStrike" baseline="0" dirty="0">
                <a:solidFill>
                  <a:srgbClr val="000000"/>
                </a:solidFill>
                <a:latin typeface="Times New Roman" panose="02020603050405020304" pitchFamily="18" charset="0"/>
              </a:rPr>
              <a:t>Apply EEMD-LSTM</a:t>
            </a:r>
            <a:r>
              <a:rPr lang="en-US" sz="1400" b="0" i="0" u="none" strike="noStrike" baseline="0" dirty="0">
                <a:solidFill>
                  <a:srgbClr val="000000"/>
                </a:solidFill>
                <a:latin typeface="Times New Roman" panose="02020603050405020304" pitchFamily="18" charset="0"/>
              </a:rPr>
              <a:t>: Combine signal decomposition with LSTM for better forecasting.</a:t>
            </a:r>
          </a:p>
          <a:p>
            <a:pPr marL="285750" indent="-285750" algn="just">
              <a:lnSpc>
                <a:spcPct val="200000"/>
              </a:lnSpc>
              <a:buFont typeface="Arial" panose="020B0604020202020204" pitchFamily="34" charset="0"/>
              <a:buChar char="•"/>
            </a:pPr>
            <a:r>
              <a:rPr lang="en-US" sz="1400" b="0" i="0" u="none" strike="noStrike" baseline="0" dirty="0">
                <a:solidFill>
                  <a:srgbClr val="000000"/>
                </a:solidFill>
                <a:latin typeface="Times New Roman" panose="02020603050405020304" pitchFamily="18" charset="0"/>
              </a:rPr>
              <a:t>Include </a:t>
            </a:r>
            <a:r>
              <a:rPr lang="en-US" sz="1400" b="1" i="0" u="none" strike="noStrike" baseline="0" dirty="0">
                <a:solidFill>
                  <a:srgbClr val="000000"/>
                </a:solidFill>
                <a:latin typeface="Times New Roman" panose="02020603050405020304" pitchFamily="18" charset="0"/>
              </a:rPr>
              <a:t>wind direction </a:t>
            </a:r>
            <a:r>
              <a:rPr lang="en-US" sz="1400" b="0" i="0" u="none" strike="noStrike" baseline="0" dirty="0">
                <a:solidFill>
                  <a:srgbClr val="000000"/>
                </a:solidFill>
                <a:latin typeface="Times New Roman" panose="02020603050405020304" pitchFamily="18" charset="0"/>
              </a:rPr>
              <a:t>and </a:t>
            </a:r>
            <a:r>
              <a:rPr lang="en-US" sz="1400" b="1" i="0" u="none" strike="noStrike" baseline="0" dirty="0">
                <a:solidFill>
                  <a:srgbClr val="000000"/>
                </a:solidFill>
                <a:latin typeface="Times New Roman" panose="02020603050405020304" pitchFamily="18" charset="0"/>
              </a:rPr>
              <a:t>more environmental </a:t>
            </a:r>
            <a:r>
              <a:rPr lang="en-US" sz="1400" b="0" i="0" u="none" strike="noStrike" baseline="0" dirty="0">
                <a:solidFill>
                  <a:srgbClr val="000000"/>
                </a:solidFill>
                <a:latin typeface="Times New Roman" panose="02020603050405020304" pitchFamily="18" charset="0"/>
              </a:rPr>
              <a:t>signals for better accuracy.</a:t>
            </a:r>
          </a:p>
          <a:p>
            <a:pPr marL="285750" indent="-285750" algn="just">
              <a:lnSpc>
                <a:spcPct val="200000"/>
              </a:lnSpc>
              <a:buFont typeface="Arial" panose="020B0604020202020204" pitchFamily="34" charset="0"/>
              <a:buChar char="•"/>
            </a:pPr>
            <a:r>
              <a:rPr lang="en-US" sz="1400" b="0" i="0" u="none" strike="noStrike" baseline="0" dirty="0">
                <a:solidFill>
                  <a:srgbClr val="000000"/>
                </a:solidFill>
                <a:latin typeface="Times New Roman" panose="02020603050405020304" pitchFamily="18" charset="0"/>
              </a:rPr>
              <a:t>Apply hybrid models (e.g., </a:t>
            </a:r>
            <a:r>
              <a:rPr lang="en-US" sz="1400" b="1" i="0" u="none" strike="noStrike" baseline="0" dirty="0">
                <a:solidFill>
                  <a:srgbClr val="000000"/>
                </a:solidFill>
                <a:latin typeface="Times New Roman" panose="02020603050405020304" pitchFamily="18" charset="0"/>
              </a:rPr>
              <a:t>EEMD + LSTM, CNN + LSTM</a:t>
            </a:r>
            <a:r>
              <a:rPr lang="en-US" sz="1400" b="0" i="0" u="none" strike="noStrike" baseline="0" dirty="0">
                <a:solidFill>
                  <a:srgbClr val="000000"/>
                </a:solidFill>
                <a:latin typeface="Times New Roman" panose="02020603050405020304" pitchFamily="18" charset="0"/>
              </a:rPr>
              <a:t>).</a:t>
            </a:r>
          </a:p>
          <a:p>
            <a:pPr marL="285750" indent="-285750" algn="just">
              <a:lnSpc>
                <a:spcPct val="200000"/>
              </a:lnSpc>
              <a:buFont typeface="Arial" panose="020B0604020202020204" pitchFamily="34" charset="0"/>
              <a:buChar char="•"/>
            </a:pPr>
            <a:r>
              <a:rPr lang="en-US" sz="1400" b="0" i="0" u="none" strike="noStrike" baseline="0" dirty="0">
                <a:solidFill>
                  <a:srgbClr val="000000"/>
                </a:solidFill>
                <a:latin typeface="Times New Roman" panose="02020603050405020304" pitchFamily="18" charset="0"/>
              </a:rPr>
              <a:t>Deploy as a web-based wind forecasting tool for energy.</a:t>
            </a:r>
          </a:p>
        </p:txBody>
      </p:sp>
    </p:spTree>
    <p:extLst>
      <p:ext uri="{BB962C8B-B14F-4D97-AF65-F5344CB8AC3E}">
        <p14:creationId xmlns:p14="http://schemas.microsoft.com/office/powerpoint/2010/main" val="11959395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4" name="Text Placeholder 3"/>
          <p:cNvSpPr>
            <a:spLocks noGrp="1"/>
          </p:cNvSpPr>
          <p:nvPr>
            <p:ph type="body" idx="1"/>
          </p:nvPr>
        </p:nvSpPr>
        <p:spPr/>
        <p:txBody>
          <a:bodyPr/>
          <a:lstStyle/>
          <a:p>
            <a:pPr>
              <a:buNone/>
            </a:pPr>
            <a:r>
              <a:rPr lang="en-IN" sz="4000" dirty="0">
                <a:solidFill>
                  <a:srgbClr val="00B050"/>
                </a:solidFill>
              </a:rPr>
              <a:t>THANK YOU</a:t>
            </a:r>
            <a:endParaRPr lang="en-US" sz="4000" dirty="0">
              <a:solidFill>
                <a:srgbClr val="00B050"/>
              </a:solidFill>
            </a:endParaRPr>
          </a:p>
        </p:txBody>
      </p:sp>
    </p:spTree>
  </p:cSld>
  <p:clrMapOvr>
    <a:masterClrMapping/>
  </p:clrMapOvr>
</p:sld>
</file>

<file path=ppt/theme/theme1.xml><?xml version="1.0" encoding="utf-8"?>
<a:theme xmlns:a="http://schemas.openxmlformats.org/drawingml/2006/main" name="Surrey template">
  <a:themeElements>
    <a:clrScheme name="Custom 347">
      <a:dk1>
        <a:srgbClr val="061E3A"/>
      </a:dk1>
      <a:lt1>
        <a:srgbClr val="FFFFFF"/>
      </a:lt1>
      <a:dk2>
        <a:srgbClr val="757C83"/>
      </a:dk2>
      <a:lt2>
        <a:srgbClr val="EBF0F3"/>
      </a:lt2>
      <a:accent1>
        <a:srgbClr val="7FCA20"/>
      </a:accent1>
      <a:accent2>
        <a:srgbClr val="02C1D3"/>
      </a:accent2>
      <a:accent3>
        <a:srgbClr val="66BDE8"/>
      </a:accent3>
      <a:accent4>
        <a:srgbClr val="1985D2"/>
      </a:accent4>
      <a:accent5>
        <a:srgbClr val="184880"/>
      </a:accent5>
      <a:accent6>
        <a:srgbClr val="061E3A"/>
      </a:accent6>
      <a:hlink>
        <a:srgbClr val="1985D2"/>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6386</TotalTime>
  <Words>1996</Words>
  <Application>Microsoft Office PowerPoint</Application>
  <PresentationFormat>On-screen Show (16:9)</PresentationFormat>
  <Paragraphs>332</Paragraphs>
  <Slides>20</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IBM Plex Sans Light</vt:lpstr>
      <vt:lpstr>Wingdings</vt:lpstr>
      <vt:lpstr>Times</vt:lpstr>
      <vt:lpstr>Merriweather</vt:lpstr>
      <vt:lpstr>Times New Roman</vt:lpstr>
      <vt:lpstr>IBM Plex Sans</vt:lpstr>
      <vt:lpstr>Arial</vt:lpstr>
      <vt:lpstr>Surrey template</vt:lpstr>
      <vt:lpstr>FROM REGRESSION MODELS TO DEEP LEARNING: A JOURNEY THROUGH WIND SPEED PREDICTION TECHNIQUES" </vt:lpstr>
      <vt:lpstr>CONTENTS</vt:lpstr>
      <vt:lpstr>ABSTRACT</vt:lpstr>
      <vt:lpstr>OBJECTIVE OF THE PROJECT &amp; DATASET OVERVIEW</vt:lpstr>
      <vt:lpstr>EDA (EXPLORATORY DATA ANALYSIS) </vt:lpstr>
      <vt:lpstr>EDA (EXPLORATORY DATA ANALYSIS) </vt:lpstr>
      <vt:lpstr>MODELS USED</vt:lpstr>
      <vt:lpstr>LINEAR REGRESSION  (1-VARIABLE/2-VARIABLES/MULTI-VARIABLES) OBSERVATIONS</vt:lpstr>
      <vt:lpstr>LINEAR REGRESSION  (1-VARIABLE/2-VARIABLES/MULTI-VARIABLES) GRAPHICAL REPRESENTATION AND RESULTS </vt:lpstr>
      <vt:lpstr>KNN &amp; RANDOM FOREST REGRESSION OBSERVATIONS</vt:lpstr>
      <vt:lpstr>KNN &amp; RANDOM FOREST REGRESSION  GRAPHICAL REPRESENTATION AND RESULTS</vt:lpstr>
      <vt:lpstr>ACTUAL VS PREDICTED (TEST DATA PREDICTIONS) MODEL-TO-MODEL COMPARISON</vt:lpstr>
      <vt:lpstr>LSTM(BEST MODEL)</vt:lpstr>
      <vt:lpstr>LSTM MODEL EVALUATION: ACTUAL VS PREDICTED </vt:lpstr>
      <vt:lpstr>STATISTICAL ERROR VALUES OF ALL APPROACHES</vt:lpstr>
      <vt:lpstr>GRAPHICAL REPRESENTATION OF ALL MODELS ON  DIFFERENT DATASETS</vt:lpstr>
      <vt:lpstr>BEST MODEL (LSTM)</vt:lpstr>
      <vt:lpstr>RESULTS AND CONCLUSION</vt:lpstr>
      <vt:lpstr>FUTURE WORK</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SHORT-TERM  WIND SPEED FORECASTING</dc:title>
  <dc:creator>B. RAMA KRISHNA</dc:creator>
  <cp:lastModifiedBy>Bandari, Madhuri</cp:lastModifiedBy>
  <cp:revision>359</cp:revision>
  <dcterms:modified xsi:type="dcterms:W3CDTF">2025-04-28T21:43:09Z</dcterms:modified>
</cp:coreProperties>
</file>